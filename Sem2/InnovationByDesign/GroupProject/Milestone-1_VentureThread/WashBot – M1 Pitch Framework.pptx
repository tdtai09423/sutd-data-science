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179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final HMW, not the robot. At least two members present; speakers rotate in later milestones. Every member must be able to answer any question. Deck must be submitted as PPT within 48h, labelled Class_Milestone 1_Team_(name).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advance straight through. One sentence at most, for example: we start from the pains housemates mention most, then show the one HMW that tackles the top three. Criterion 1 is worth 25 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pains housemates mention most, then move to the HMW that tackles all three. The middle column lists what people already do today, not ideas the team could build: listing our own solutions here would make the problem framing solution-led, which the rubric penalises, and solution ideas belong to the Ideate stage after Define. These workarounds are also the non-consumption and indirect alternatives for the benchmark. Evidence: fill the counts from interviews and the survey. Link: point to the notes or survey results in the team repository.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HMW has no product in it. Who: keep it narrow, 5+ people per machine in shared rented flats; the hostel and worker-dorm contexts are out of scope for now because laundry rooms there have many machines and a different buyer. Why it matters: replace the placeholders with numbers from the survey and interviews, never estimates without a source. Opportunity: add one sourced figure on room rentals or co-living in Singapore. Frugal-lens answer: the current fixes (group chat, walking over, notes taped on the machine) exist but people ignore them, which is exactly the compliance problem to probe in interviews.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advance straight through. This is the heaviest criterion at 35 points, so tell the judges the evidence is coming: numbers, rounds and one pivot.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warns: never say we spoke to many users without numbers or artifacts. Dates and rounds are on the next slide. Primary users are typical tenants who have the problem; lead users feel it most or earliest and have often built their own workaround, which is why the Week 2 lecture recommends them. # is the number of people engaged in each group; the total must match the Research Log. Include adjacent stakeholders: payers, gatekeepers, operators, non-adopters.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evidence: photos, AEIOU notes. Keep it visual; do not read every note.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insight structures from Week 3: needs... BUT/YET... because, and ...actually.... Quotes must be real and verbatim. 2–3 quotes in total is enough.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merges the old round-by-round trail with the before and after table. Top row: prove repeated engagement by naming the rounds, dates and which participants were revisited (Week 3: follow-up interviews or role-play to test insights and prioritise needs). Table: each change cites the evidence and the round it came from. Pivot box: one concrete piece of feedback and what it changed in the HMW, segment or scope. Rubric: the team clearly shows how feedback and design processes changed its understanding of the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advance straight through. Criterion 3 needs direct, indirect and non-consumption alternatives, honest comparison and one gap sentence.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all three categories. Avoid a matrix of green ticks for us and red crosses for everyone else. Use measured values (metrics) rather than ticks where possible, as in Week 3 benchmarking on metrics.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Perceptual map: plot the options on two attributes that matter to users, using how users perceive them, not how the team sees them. Steps from the reference: set the objective, pick a few relevant attributes, choose options to compare (direct competitors plus the alternatives people actually consider), collect data with surveys, interviews or observation from a representative sample, plot, then validate with stakeholders. For a class project a scatter chart in Excel is enough. Axes: reuse the two highest-ranked needs from the needs ranking. Honest limits: perceptions are subjective, a 2D map simplifies reality, and a small sample needs to be stated. The empty quadrant is only a hypothesis until an unmet need from interviews sits in it. Reference: appinio.com/en/blog/market-research/perceptual-map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canvas: horizontal axis lists the factors the market competes on (start with price), vertical axis is the offering level buyers receive, 1 low to 5 high. Plot the industry leader or strongest competitor, connect the dots to get its value curve, then add other players. The reference says most of the work is in step 2, choosing the right factors, so take them from your ranked user needs and the benchmark criteria rather than guessing. This is the as-is canvas for Milestone 1. A to-be canvas, the new value curve, belongs to later milestones once concepts exist. Reference: blueoceanstrategy.com/blog/strategy-canvas-template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ERRC grid (Four Actions framework): for the factors on the strategy canvas decide what to eliminate, reduce, raise and create. The aim in the reference is an offer that is very different from the competition: cheaper because some factors are eliminated or reduced, yet unique because others are raised or created. Its worked example is an influencer marketing platform that removed searching, approving and negotiating with influencers and created a pay per click model. Caution for Milestone 1: the rubric penalises solution-led work, so write ERRC entries as market factors backed by evidence (P0x, benchmark row), for example time spent or skill needed, not as features of a device. If time is short, move this slide to the appendix and keep one sentence of it in the opportunity gap. Reference: effectivesoftwaredesign.com/2021/01/18/the-blue-ocean-eliminate-reduce-raise-create-errc-grid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in one sentence plus why nobody has solved it yet. Review scraping (Week 2 data-driven approach) makes a strong evidence source here. Link it to the empty quadrant on the perceptual map and the low-investment factors on the strategy canvas.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advance straight through. Criterion 4 rewards traceability: every requirement points back to a need and its evidence.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needs come from the team's own pain list, so the slide is labelled as a hypothesis until interviews confirm them. After the interviews, add the participant codes next to each need, re-rank with the stars, and remove any need nobody mentions. 'Works even when users skip extra steps' comes from the known behaviour problem: an extra step makes people lazy to comply. The privacy demand answers the question of whether a full name is needed: a room number or last four digits is configurable.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known limitations become explicit requirements: detection accuracy (the vibration algorithm may misread pauses in the cycle) and extra user steps (people skip workflows). Fill the baselines from interviews and a short observation, then run a small bench test on the washer at home for the accuracy row. Queue and usage records are deliberately out of scope for Milestone 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tell the story. Tenants as buyers: they feel the pain and are easy to interview, but splitting a small cost among housemates who are not close is hard and nobody owns the decision. Landlord as buyer: one decision maker who can make scanning a house rule, which helps the compliance problem, and later scales to multi-unit operators; the risk is that landlords only feel the pain through complaints. Recommended: tell the problem from the tenants' side and test the landlord as the first buyer this week. If the landlord interview shows no interest, switch to tenants as buyers and say so on the shift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wants a price point, who pays and evidence. Anchor on what the buyer already spends, not on what they say they would like. Look up a smart plug price and the tag's bill of materials (ESP32, 20x4 LCD, vibration sensor, buzzer, magnets, case) so the price is credible. Van Westendorp is an outside method; mention it by name only if asked.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technical limitations here, not in the graded sections. Keep under 15 seconds.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during Q&amp;A. Every member should be able to answer any question. Submit the deck as PPT within 48 hours, labelled Class_Milestone 1_Team_(name).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A56F"/>
                </a:solidFill>
                <a:latin typeface="Be Vietnam Pro" pitchFamily="34" charset="0"/>
                <a:ea typeface="Be Vietnam Pro" pitchFamily="34" charset="-122"/>
                <a:cs typeface="Be Vietnam Pro" pitchFamily="34" charset="-120"/>
              </a:rPr>
              <a:t>MILESTONE 1 · DISCOVER &amp; DEFINE · 7 MIN</a:t>
            </a:r>
            <a:endParaRPr lang="en-US" sz="1400" dirty="0"/>
          </a:p>
        </p:txBody>
      </p:sp>
      <p:sp>
        <p:nvSpPr>
          <p:cNvPr id="3" name="Text 1"/>
          <p:cNvSpPr/>
          <p:nvPr/>
        </p:nvSpPr>
        <p:spPr>
          <a:xfrm>
            <a:off x="812800" y="2203400"/>
            <a:ext cx="10883392" cy="863600"/>
          </a:xfrm>
          <a:prstGeom prst="rect">
            <a:avLst/>
          </a:prstGeom>
          <a:noFill/>
          <a:ln/>
        </p:spPr>
        <p:txBody>
          <a:bodyPr wrap="square" lIns="0" tIns="0" rIns="0" bIns="0" rtlCol="0" anchor="t">
            <a:normAutofit/>
          </a:bodyPr>
          <a:lstStyle/>
          <a:p>
            <a:pPr marL="0" indent="0" algn="l">
              <a:lnSpc>
                <a:spcPts val="6600"/>
              </a:lnSpc>
              <a:buNone/>
            </a:pPr>
            <a:r>
              <a:rPr lang="en-US" sz="6600" b="1" dirty="0">
                <a:solidFill>
                  <a:srgbClr val="F6F4EF"/>
                </a:solidFill>
                <a:latin typeface="Be Vietnam Pro" pitchFamily="34" charset="0"/>
                <a:ea typeface="Be Vietnam Pro" pitchFamily="34" charset="-122"/>
                <a:cs typeface="Be Vietnam Pro" pitchFamily="34" charset="-120"/>
              </a:rPr>
              <a:t>WashBot</a:t>
            </a:r>
            <a:endParaRPr lang="en-US" sz="6600" dirty="0"/>
          </a:p>
        </p:txBody>
      </p:sp>
      <p:sp>
        <p:nvSpPr>
          <p:cNvPr id="4" name="Text 2"/>
          <p:cNvSpPr/>
          <p:nvPr/>
        </p:nvSpPr>
        <p:spPr>
          <a:xfrm>
            <a:off x="812800" y="54292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D9E2"/>
                </a:solidFill>
                <a:latin typeface="Be Vietnam Pro" pitchFamily="34" charset="0"/>
                <a:ea typeface="Be Vietnam Pro" pitchFamily="34" charset="-122"/>
                <a:cs typeface="Be Vietnam Pro" pitchFamily="34" charset="-120"/>
              </a:rPr>
              <a:t>Presenting: [Member A] · [Member B]  |  Team: [M1] · [M2] · [M3] · [M4] · [M5]</a:t>
            </a:r>
            <a:endParaRPr lang="en-US" sz="1400" dirty="0"/>
          </a:p>
        </p:txBody>
      </p:sp>
      <p:sp>
        <p:nvSpPr>
          <p:cNvPr id="5" name="Text 3"/>
          <p:cNvSpPr/>
          <p:nvPr/>
        </p:nvSpPr>
        <p:spPr>
          <a:xfrm>
            <a:off x="812800" y="58293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[Mon 3pm]_Milestone 1_Team_[name] · Innovation by Design · AI-Accelerated Ventures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A56F"/>
                </a:solidFill>
                <a:latin typeface="Be Vietnam Pro" pitchFamily="34" charset="0"/>
                <a:ea typeface="Be Vietnam Pro" pitchFamily="34" charset="-122"/>
                <a:cs typeface="Be Vietnam Pro" pitchFamily="34" charset="-120"/>
              </a:rPr>
              <a:t>RUBRIC CRITERION 1 OF 4 · 25 POINTS</a:t>
            </a:r>
            <a:endParaRPr lang="en-US" sz="1200" dirty="0"/>
          </a:p>
        </p:txBody>
      </p:sp>
      <p:sp>
        <p:nvSpPr>
          <p:cNvPr id="3" name="Text 1"/>
          <p:cNvSpPr/>
          <p:nvPr/>
        </p:nvSpPr>
        <p:spPr>
          <a:xfrm>
            <a:off x="812800" y="81280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E9A56F"/>
                </a:solidFill>
                <a:latin typeface="Be Vietnam Pro" pitchFamily="34" charset="0"/>
                <a:ea typeface="Be Vietnam Pro" pitchFamily="34" charset="-122"/>
                <a:cs typeface="Be Vietnam Pro" pitchFamily="34" charset="-120"/>
              </a:rPr>
              <a:t>01</a:t>
            </a:r>
            <a:endParaRPr lang="en-US" sz="10000" dirty="0"/>
          </a:p>
        </p:txBody>
      </p:sp>
      <p:sp>
        <p:nvSpPr>
          <p:cNvPr id="4" name="Text 2"/>
          <p:cNvSpPr/>
          <p:nvPr/>
        </p:nvSpPr>
        <p:spPr>
          <a:xfrm>
            <a:off x="812800" y="2286000"/>
            <a:ext cx="9810750" cy="61213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6F4EF"/>
                </a:solidFill>
                <a:latin typeface="Be Vietnam Pro" pitchFamily="34" charset="0"/>
                <a:ea typeface="Be Vietnam Pro" pitchFamily="34" charset="-122"/>
                <a:cs typeface="Be Vietnam Pro" pitchFamily="34" charset="-120"/>
              </a:rPr>
              <a:t>Problem opportunity &amp; scope</a:t>
            </a:r>
            <a:endParaRPr lang="en-US" sz="4400" dirty="0"/>
          </a:p>
        </p:txBody>
      </p:sp>
      <p:sp>
        <p:nvSpPr>
          <p:cNvPr id="5" name="Shape 3"/>
          <p:cNvSpPr/>
          <p:nvPr/>
        </p:nvSpPr>
        <p:spPr>
          <a:xfrm>
            <a:off x="812800" y="4726980"/>
            <a:ext cx="5207000" cy="1115020"/>
          </a:xfrm>
          <a:prstGeom prst="roundRect">
            <a:avLst>
              <a:gd name="adj" fmla="val 9112"/>
            </a:avLst>
          </a:prstGeom>
          <a:solidFill>
            <a:srgbClr val="26304A"/>
          </a:solidFill>
          <a:ln/>
        </p:spPr>
        <p:txBody>
          <a:bodyPr/>
          <a:lstStyle/>
          <a:p>
            <a:endParaRPr lang="en-VN"/>
          </a:p>
        </p:txBody>
      </p:sp>
      <p:sp>
        <p:nvSpPr>
          <p:cNvPr id="6" name="Text 4"/>
          <p:cNvSpPr/>
          <p:nvPr/>
        </p:nvSpPr>
        <p:spPr>
          <a:xfrm>
            <a:off x="9906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What we show</a:t>
            </a:r>
            <a:endParaRPr lang="en-US" sz="1200" dirty="0"/>
          </a:p>
        </p:txBody>
      </p:sp>
      <p:sp>
        <p:nvSpPr>
          <p:cNvPr id="7" name="Text 5"/>
          <p:cNvSpPr/>
          <p:nvPr/>
        </p:nvSpPr>
        <p:spPr>
          <a:xfrm>
            <a:off x="9906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The most common pain points, then one HMW that addresses the top three</a:t>
            </a:r>
            <a:endParaRPr lang="en-US" sz="1500" dirty="0"/>
          </a:p>
        </p:txBody>
      </p:sp>
      <p:sp>
        <p:nvSpPr>
          <p:cNvPr id="8" name="Shape 6"/>
          <p:cNvSpPr/>
          <p:nvPr/>
        </p:nvSpPr>
        <p:spPr>
          <a:xfrm>
            <a:off x="6172200" y="4726980"/>
            <a:ext cx="5207000" cy="1115020"/>
          </a:xfrm>
          <a:prstGeom prst="roundRect">
            <a:avLst>
              <a:gd name="adj" fmla="val 9112"/>
            </a:avLst>
          </a:prstGeom>
          <a:solidFill>
            <a:srgbClr val="26304A"/>
          </a:solidFill>
          <a:ln/>
        </p:spPr>
        <p:txBody>
          <a:bodyPr/>
          <a:lstStyle/>
          <a:p>
            <a:endParaRPr lang="en-VN"/>
          </a:p>
        </p:txBody>
      </p:sp>
      <p:sp>
        <p:nvSpPr>
          <p:cNvPr id="9" name="Text 7"/>
          <p:cNvSpPr/>
          <p:nvPr/>
        </p:nvSpPr>
        <p:spPr>
          <a:xfrm>
            <a:off x="63500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Methods</a:t>
            </a:r>
            <a:endParaRPr lang="en-US" sz="1200" dirty="0"/>
          </a:p>
        </p:txBody>
      </p:sp>
      <p:sp>
        <p:nvSpPr>
          <p:cNvPr id="10" name="Text 8"/>
          <p:cNvSpPr/>
          <p:nvPr/>
        </p:nvSpPr>
        <p:spPr>
          <a:xfrm>
            <a:off x="63500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Common pain points → top three by frequency → HMW statement</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Two slides · about 1:30 · Divider: move on quickly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C1 · PROBLEM &amp; SCOPE (25) · METHOD: COMMON PAIN POINTS → TOP THREE → TEAM HMW</a:t>
            </a:r>
            <a:endParaRPr lang="en-US" sz="1200" dirty="0"/>
          </a:p>
        </p:txBody>
      </p:sp>
      <p:sp>
        <p:nvSpPr>
          <p:cNvPr id="3" name="Text 1"/>
          <p:cNvSpPr/>
          <p:nvPr/>
        </p:nvSpPr>
        <p:spPr>
          <a:xfrm>
            <a:off x="812800" y="812800"/>
            <a:ext cx="10883392" cy="353665"/>
          </a:xfrm>
          <a:prstGeom prst="rect">
            <a:avLst/>
          </a:prstGeom>
          <a:noFill/>
          <a:ln/>
        </p:spPr>
        <p:txBody>
          <a:bodyPr wrap="square" lIns="0" tIns="0" rIns="0" bIns="0" rtlCol="0" anchor="t">
            <a:normAutofit/>
          </a:bodyPr>
          <a:lstStyle/>
          <a:p>
            <a:pPr marL="0" indent="0" algn="l">
              <a:lnSpc>
                <a:spcPts val="2618"/>
              </a:lnSpc>
              <a:buNone/>
            </a:pPr>
            <a:r>
              <a:rPr lang="en-US" sz="2380" b="1" dirty="0">
                <a:solidFill>
                  <a:srgbClr val="1B2233"/>
                </a:solidFill>
                <a:latin typeface="Be Vietnam Pro" pitchFamily="34" charset="0"/>
                <a:ea typeface="Be Vietnam Pro" pitchFamily="34" charset="-122"/>
                <a:cs typeface="Be Vietnam Pro" pitchFamily="34" charset="-120"/>
              </a:rPr>
              <a:t>Three common pains, and how people cope today</a:t>
            </a:r>
            <a:endParaRPr lang="en-US" sz="238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82365"/>
          <a:ext cx="10553700" cy="4459634"/>
        </p:xfrm>
        <a:graphic>
          <a:graphicData uri="http://schemas.openxmlformats.org/drawingml/2006/table">
            <a:tbl>
              <a:tblPr/>
              <a:tblGrid>
                <a:gridCol w="2638425">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2638425">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437654">
                <a:tc>
                  <a:txBody>
                    <a:bodyPr/>
                    <a:lstStyle/>
                    <a:p>
                      <a:pPr marL="0" indent="0">
                        <a:lnSpc>
                          <a:spcPts val="1939"/>
                        </a:lnSpc>
                        <a:buNone/>
                      </a:pPr>
                      <a:r>
                        <a:rPr lang="en-US" sz="1385" b="1" dirty="0">
                          <a:solidFill>
                            <a:srgbClr val="F6F4EF"/>
                          </a:solidFill>
                          <a:latin typeface="Be Vietnam Pro" pitchFamily="34" charset="0"/>
                          <a:ea typeface="Be Vietnam Pro" pitchFamily="34" charset="-122"/>
                          <a:cs typeface="Be Vietnam Pro" pitchFamily="34" charset="-120"/>
                        </a:rPr>
                        <a:t>Pain point</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39"/>
                        </a:lnSpc>
                        <a:buNone/>
                      </a:pPr>
                      <a:r>
                        <a:rPr lang="en-US" sz="1385" b="1" dirty="0">
                          <a:solidFill>
                            <a:srgbClr val="F6F4EF"/>
                          </a:solidFill>
                          <a:latin typeface="Be Vietnam Pro" pitchFamily="34" charset="0"/>
                          <a:ea typeface="Be Vietnam Pro" pitchFamily="34" charset="-122"/>
                          <a:cs typeface="Be Vietnam Pro" pitchFamily="34" charset="-120"/>
                        </a:rPr>
                        <a:t>How people cope today</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39"/>
                        </a:lnSpc>
                        <a:buNone/>
                      </a:pPr>
                      <a:r>
                        <a:rPr lang="en-US" sz="1385" b="1" dirty="0">
                          <a:solidFill>
                            <a:srgbClr val="F6F4EF"/>
                          </a:solidFill>
                          <a:latin typeface="Be Vietnam Pro" pitchFamily="34" charset="0"/>
                          <a:ea typeface="Be Vietnam Pro" pitchFamily="34" charset="-122"/>
                          <a:cs typeface="Be Vietnam Pro" pitchFamily="34" charset="-120"/>
                        </a:rPr>
                        <a:t>Evidence so far</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39"/>
                        </a:lnSpc>
                        <a:buNone/>
                      </a:pPr>
                      <a:r>
                        <a:rPr lang="en-US" sz="1385" b="1" dirty="0">
                          <a:solidFill>
                            <a:srgbClr val="F6F4EF"/>
                          </a:solidFill>
                          <a:latin typeface="Be Vietnam Pro" pitchFamily="34" charset="0"/>
                          <a:ea typeface="Be Vietnam Pro" pitchFamily="34" charset="-122"/>
                          <a:cs typeface="Be Vietnam Pro" pitchFamily="34" charset="-120"/>
                        </a:rPr>
                        <a:t>Link</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1176486">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Walking to the washer only to find it busy</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Walk over and check</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Ask in the house chat</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Listen for the machine</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Wait next to it</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[__] of [__] interviewees · [survey %]</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[notes / survey link]</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1422747">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Finished loads left sitting in the machine</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Own phone timer</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Chat reminders</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Take clothes out and leave them on top</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Note on the machine</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[__] of [__] · [minutes idle, observed]</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[notes link]</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1422747">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Nobody knows whose load it is</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Ask everyone in the chat</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Knock on doors</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Leave it and complain later</a:t>
                      </a:r>
                      <a:endParaRPr lang="en-US" sz="1385" dirty="0">
                        <a:latin typeface="Be Vietnam Pro" charset="0"/>
                        <a:ea typeface="Be Vietnam Pro" charset="0"/>
                        <a:cs typeface="Be Vietnam Pro" charset="0"/>
                      </a:endParaRPr>
                    </a:p>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 Paper sign-up sheet</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[__] of [__] · [quote]</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39"/>
                        </a:lnSpc>
                        <a:buNone/>
                      </a:pPr>
                      <a:r>
                        <a:rPr lang="en-US" sz="1385" dirty="0">
                          <a:solidFill>
                            <a:srgbClr val="1B2233"/>
                          </a:solidFill>
                          <a:latin typeface="Be Vietnam Pro" pitchFamily="34" charset="0"/>
                          <a:ea typeface="Be Vietnam Pro" pitchFamily="34" charset="-122"/>
                          <a:cs typeface="Be Vietnam Pro" pitchFamily="34" charset="-120"/>
                        </a:rPr>
                        <a:t>[notes link]</a:t>
                      </a:r>
                      <a:endParaRPr lang="en-US" sz="1385"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~0:30 · Ranked by how many people feel it and how often · Today's workarounds feed the benchmark in section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C1 · PROBLEM &amp; SCOPE (25) · METHOD: PRIORITISED NEED → HMW</a:t>
            </a:r>
            <a:endParaRPr lang="en-US" sz="1200" dirty="0"/>
          </a:p>
        </p:txBody>
      </p:sp>
      <p:sp>
        <p:nvSpPr>
          <p:cNvPr id="3" name="Shape 1"/>
          <p:cNvSpPr/>
          <p:nvPr/>
        </p:nvSpPr>
        <p:spPr>
          <a:xfrm>
            <a:off x="812800" y="812800"/>
            <a:ext cx="10566400" cy="1940520"/>
          </a:xfrm>
          <a:prstGeom prst="roundRect">
            <a:avLst>
              <a:gd name="adj" fmla="val 5236"/>
            </a:avLst>
          </a:prstGeom>
          <a:solidFill>
            <a:srgbClr val="1B2233"/>
          </a:solidFill>
          <a:ln/>
        </p:spPr>
        <p:txBody>
          <a:bodyPr/>
          <a:lstStyle/>
          <a:p>
            <a:endParaRPr lang="en-VN"/>
          </a:p>
        </p:txBody>
      </p:sp>
      <p:sp>
        <p:nvSpPr>
          <p:cNvPr id="4" name="Text 2"/>
          <p:cNvSpPr/>
          <p:nvPr/>
        </p:nvSpPr>
        <p:spPr>
          <a:xfrm>
            <a:off x="1066800" y="1041400"/>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OUR HMW</a:t>
            </a:r>
            <a:endParaRPr lang="en-US" sz="1200" dirty="0"/>
          </a:p>
        </p:txBody>
      </p:sp>
      <p:sp>
        <p:nvSpPr>
          <p:cNvPr id="5" name="Text 3"/>
          <p:cNvSpPr/>
          <p:nvPr/>
        </p:nvSpPr>
        <p:spPr>
          <a:xfrm>
            <a:off x="1066800" y="1254720"/>
            <a:ext cx="10360152" cy="1295400"/>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6F4EF"/>
                </a:solidFill>
                <a:latin typeface="Be Vietnam Pro" pitchFamily="34" charset="0"/>
                <a:ea typeface="Be Vietnam Pro" pitchFamily="34" charset="-122"/>
                <a:cs typeface="Be Vietnam Pro" pitchFamily="34" charset="-120"/>
              </a:rPr>
              <a:t>How might we help people who share one washer or/and dryer with 5+ housemates know when the machine is free and whose load is inside, and get finished loads collected on time, without walking over to check or chasing each other?</a:t>
            </a:r>
            <a:endParaRPr lang="en-US" sz="2000" dirty="0"/>
          </a:p>
        </p:txBody>
      </p:sp>
      <p:sp>
        <p:nvSpPr>
          <p:cNvPr id="6" name="Shape 4"/>
          <p:cNvSpPr/>
          <p:nvPr/>
        </p:nvSpPr>
        <p:spPr>
          <a:xfrm>
            <a:off x="815975" y="2985095"/>
            <a:ext cx="2520950" cy="2113062"/>
          </a:xfrm>
          <a:prstGeom prst="roundRect">
            <a:avLst>
              <a:gd name="adj" fmla="val 4658"/>
            </a:avLst>
          </a:prstGeom>
          <a:solidFill>
            <a:srgbClr val="FFFFFF"/>
          </a:solidFill>
          <a:ln w="6350">
            <a:solidFill>
              <a:srgbClr val="DDD8CC"/>
            </a:solidFill>
            <a:prstDash val="solid"/>
          </a:ln>
        </p:spPr>
        <p:txBody>
          <a:bodyPr/>
          <a:lstStyle/>
          <a:p>
            <a:endParaRPr lang="en-VN"/>
          </a:p>
        </p:txBody>
      </p:sp>
      <p:sp>
        <p:nvSpPr>
          <p:cNvPr id="7" name="Text 5"/>
          <p:cNvSpPr/>
          <p:nvPr/>
        </p:nvSpPr>
        <p:spPr>
          <a:xfrm>
            <a:off x="1009650" y="31787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Who</a:t>
            </a:r>
            <a:endParaRPr lang="en-US" sz="1500" dirty="0"/>
          </a:p>
        </p:txBody>
      </p:sp>
      <p:sp>
        <p:nvSpPr>
          <p:cNvPr id="8" name="Text 6"/>
          <p:cNvSpPr/>
          <p:nvPr/>
        </p:nvSpPr>
        <p:spPr>
          <a:xfrm>
            <a:off x="1009650" y="3483570"/>
            <a:ext cx="2197608" cy="136247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Residents of shared rented flats and co-living units where </a:t>
            </a:r>
            <a:r>
              <a:rPr lang="en-US" sz="1300" b="1" dirty="0">
                <a:solidFill>
                  <a:srgbClr val="1B2233"/>
                </a:solidFill>
                <a:latin typeface="Be Vietnam Pro" pitchFamily="34" charset="0"/>
                <a:ea typeface="Be Vietnam Pro" pitchFamily="34" charset="-122"/>
                <a:cs typeface="Be Vietnam Pro" pitchFamily="34" charset="-120"/>
              </a:rPr>
              <a:t>5 or more people share one washer</a:t>
            </a:r>
            <a:r>
              <a:rPr lang="en-US" sz="1300" dirty="0">
                <a:solidFill>
                  <a:srgbClr val="1B2233"/>
                </a:solidFill>
                <a:latin typeface="Be Vietnam Pro" pitchFamily="34" charset="0"/>
                <a:ea typeface="Be Vietnam Pro" pitchFamily="34" charset="-122"/>
                <a:cs typeface="Be Vietnam Pro" pitchFamily="34" charset="-120"/>
              </a:rPr>
              <a:t>, often housemates who are not close</a:t>
            </a:r>
            <a:endParaRPr lang="en-US" sz="1300" dirty="0"/>
          </a:p>
        </p:txBody>
      </p:sp>
      <p:sp>
        <p:nvSpPr>
          <p:cNvPr id="9" name="Shape 7"/>
          <p:cNvSpPr/>
          <p:nvPr/>
        </p:nvSpPr>
        <p:spPr>
          <a:xfrm>
            <a:off x="3495675" y="2985095"/>
            <a:ext cx="2520950" cy="2113062"/>
          </a:xfrm>
          <a:prstGeom prst="roundRect">
            <a:avLst>
              <a:gd name="adj" fmla="val 4658"/>
            </a:avLst>
          </a:prstGeom>
          <a:solidFill>
            <a:srgbClr val="FFFFFF"/>
          </a:solidFill>
          <a:ln w="6350">
            <a:solidFill>
              <a:srgbClr val="DDD8CC"/>
            </a:solidFill>
            <a:prstDash val="solid"/>
          </a:ln>
        </p:spPr>
        <p:txBody>
          <a:bodyPr/>
          <a:lstStyle/>
          <a:p>
            <a:endParaRPr lang="en-VN"/>
          </a:p>
        </p:txBody>
      </p:sp>
      <p:sp>
        <p:nvSpPr>
          <p:cNvPr id="10" name="Text 8"/>
          <p:cNvSpPr/>
          <p:nvPr/>
        </p:nvSpPr>
        <p:spPr>
          <a:xfrm>
            <a:off x="3689350" y="31787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Why it matters</a:t>
            </a:r>
            <a:endParaRPr lang="en-US" sz="1500" dirty="0"/>
          </a:p>
        </p:txBody>
      </p:sp>
      <p:sp>
        <p:nvSpPr>
          <p:cNvPr id="11" name="Text 9"/>
          <p:cNvSpPr/>
          <p:nvPr/>
        </p:nvSpPr>
        <p:spPr>
          <a:xfrm>
            <a:off x="3689350" y="3483570"/>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[__] wasted trips / person / week</a:t>
            </a:r>
            <a:endParaRPr lang="en-US" sz="1300" dirty="0"/>
          </a:p>
        </p:txBody>
      </p:sp>
      <p:sp>
        <p:nvSpPr>
          <p:cNvPr id="12" name="Text 10"/>
          <p:cNvSpPr/>
          <p:nvPr/>
        </p:nvSpPr>
        <p:spPr>
          <a:xfrm>
            <a:off x="3689350" y="4005461"/>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[__] min finished loads sit idle</a:t>
            </a:r>
            <a:endParaRPr lang="en-US" sz="1300" dirty="0"/>
          </a:p>
        </p:txBody>
      </p:sp>
      <p:sp>
        <p:nvSpPr>
          <p:cNvPr id="13" name="Text 11"/>
          <p:cNvSpPr/>
          <p:nvPr/>
        </p:nvSpPr>
        <p:spPr>
          <a:xfrm>
            <a:off x="3689350" y="4527352"/>
            <a:ext cx="2197608" cy="402530"/>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5B6475"/>
                </a:solidFill>
                <a:latin typeface="Be Vietnam Pro" pitchFamily="34" charset="0"/>
                <a:ea typeface="Be Vietnam Pro" pitchFamily="34" charset="-122"/>
                <a:cs typeface="Be Vietnam Pro" pitchFamily="34" charset="-120"/>
              </a:rPr>
              <a:t>Source: interviews + survey [date]</a:t>
            </a:r>
            <a:endParaRPr lang="en-US" sz="1100" dirty="0"/>
          </a:p>
        </p:txBody>
      </p:sp>
      <p:sp>
        <p:nvSpPr>
          <p:cNvPr id="14" name="Shape 12"/>
          <p:cNvSpPr/>
          <p:nvPr/>
        </p:nvSpPr>
        <p:spPr>
          <a:xfrm>
            <a:off x="6175375" y="2985095"/>
            <a:ext cx="2520950" cy="2113062"/>
          </a:xfrm>
          <a:prstGeom prst="roundRect">
            <a:avLst>
              <a:gd name="adj" fmla="val 4658"/>
            </a:avLst>
          </a:prstGeom>
          <a:solidFill>
            <a:srgbClr val="FFFFFF"/>
          </a:solidFill>
          <a:ln w="6350">
            <a:solidFill>
              <a:srgbClr val="DDD8CC"/>
            </a:solidFill>
            <a:prstDash val="solid"/>
          </a:ln>
        </p:spPr>
        <p:txBody>
          <a:bodyPr/>
          <a:lstStyle/>
          <a:p>
            <a:endParaRPr lang="en-VN"/>
          </a:p>
        </p:txBody>
      </p:sp>
      <p:sp>
        <p:nvSpPr>
          <p:cNvPr id="15" name="Text 13"/>
          <p:cNvSpPr/>
          <p:nvPr/>
        </p:nvSpPr>
        <p:spPr>
          <a:xfrm>
            <a:off x="6369050" y="31787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In scope</a:t>
            </a:r>
            <a:endParaRPr lang="en-US" sz="1500" dirty="0"/>
          </a:p>
        </p:txBody>
      </p:sp>
      <p:sp>
        <p:nvSpPr>
          <p:cNvPr id="16" name="Text 14"/>
          <p:cNvSpPr/>
          <p:nvPr/>
        </p:nvSpPr>
        <p:spPr>
          <a:xfrm>
            <a:off x="6369050" y="3483570"/>
            <a:ext cx="2197608" cy="113962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Machine status, load owner, collection reminders; one washer + dryer per household; no rewiring of the machine</a:t>
            </a:r>
            <a:endParaRPr lang="en-US" sz="1300" dirty="0"/>
          </a:p>
        </p:txBody>
      </p:sp>
      <p:sp>
        <p:nvSpPr>
          <p:cNvPr id="17" name="Shape 15"/>
          <p:cNvSpPr/>
          <p:nvPr/>
        </p:nvSpPr>
        <p:spPr>
          <a:xfrm>
            <a:off x="8855075" y="2985095"/>
            <a:ext cx="2520950" cy="2113062"/>
          </a:xfrm>
          <a:prstGeom prst="roundRect">
            <a:avLst>
              <a:gd name="adj" fmla="val 4658"/>
            </a:avLst>
          </a:prstGeom>
          <a:solidFill>
            <a:srgbClr val="FFFFFF"/>
          </a:solidFill>
          <a:ln w="6350">
            <a:solidFill>
              <a:srgbClr val="DDD8CC"/>
            </a:solidFill>
            <a:prstDash val="solid"/>
          </a:ln>
        </p:spPr>
        <p:txBody>
          <a:bodyPr/>
          <a:lstStyle/>
          <a:p>
            <a:endParaRPr lang="en-VN"/>
          </a:p>
        </p:txBody>
      </p:sp>
      <p:sp>
        <p:nvSpPr>
          <p:cNvPr id="18" name="Text 16"/>
          <p:cNvSpPr/>
          <p:nvPr/>
        </p:nvSpPr>
        <p:spPr>
          <a:xfrm>
            <a:off x="9048750" y="31787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Out of scope</a:t>
            </a:r>
            <a:endParaRPr lang="en-US" sz="1500" dirty="0"/>
          </a:p>
        </p:txBody>
      </p:sp>
      <p:sp>
        <p:nvSpPr>
          <p:cNvPr id="19" name="Text 17"/>
          <p:cNvSpPr/>
          <p:nvPr/>
        </p:nvSpPr>
        <p:spPr>
          <a:xfrm>
            <a:off x="9048750" y="3483570"/>
            <a:ext cx="2197608" cy="113962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Payment, coin laundromats, large dorm laundry rooms, controlling the machine, booking and usage records</a:t>
            </a:r>
            <a:endParaRPr lang="en-US" sz="1300" dirty="0"/>
          </a:p>
        </p:txBody>
      </p:sp>
      <p:sp>
        <p:nvSpPr>
          <p:cNvPr id="20" name="Text 18"/>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~1:00 · Opportunity: shared room rentals and co-living in Singapore [size + source] · Frugal check: why a group chat or paper sheet is not enough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A56F"/>
                </a:solidFill>
                <a:latin typeface="Be Vietnam Pro" pitchFamily="34" charset="0"/>
                <a:ea typeface="Be Vietnam Pro" pitchFamily="34" charset="-122"/>
                <a:cs typeface="Be Vietnam Pro" pitchFamily="34" charset="-120"/>
              </a:rPr>
              <a:t>RUBRIC CRITERION 2 OF 4 · 35 POINTS · HEAVIEST WEIGHT</a:t>
            </a:r>
            <a:endParaRPr lang="en-US" sz="1200" dirty="0"/>
          </a:p>
        </p:txBody>
      </p:sp>
      <p:sp>
        <p:nvSpPr>
          <p:cNvPr id="3" name="Text 1"/>
          <p:cNvSpPr/>
          <p:nvPr/>
        </p:nvSpPr>
        <p:spPr>
          <a:xfrm>
            <a:off x="812800" y="81280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E9A56F"/>
                </a:solidFill>
                <a:latin typeface="Be Vietnam Pro" pitchFamily="34" charset="0"/>
                <a:ea typeface="Be Vietnam Pro" pitchFamily="34" charset="-122"/>
                <a:cs typeface="Be Vietnam Pro" pitchFamily="34" charset="-120"/>
              </a:rPr>
              <a:t>02</a:t>
            </a:r>
            <a:endParaRPr lang="en-US" sz="10000" dirty="0"/>
          </a:p>
        </p:txBody>
      </p:sp>
      <p:sp>
        <p:nvSpPr>
          <p:cNvPr id="4" name="Text 2"/>
          <p:cNvSpPr/>
          <p:nvPr/>
        </p:nvSpPr>
        <p:spPr>
          <a:xfrm>
            <a:off x="812800" y="2286000"/>
            <a:ext cx="9810750" cy="61213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6F4EF"/>
                </a:solidFill>
                <a:latin typeface="Be Vietnam Pro" pitchFamily="34" charset="0"/>
                <a:ea typeface="Be Vietnam Pro" pitchFamily="34" charset="-122"/>
                <a:cs typeface="Be Vietnam Pro" pitchFamily="34" charset="-120"/>
              </a:rPr>
              <a:t>User &amp; stakeholder research</a:t>
            </a:r>
            <a:endParaRPr lang="en-US" sz="4400" dirty="0"/>
          </a:p>
        </p:txBody>
      </p:sp>
      <p:sp>
        <p:nvSpPr>
          <p:cNvPr id="5" name="Shape 3"/>
          <p:cNvSpPr/>
          <p:nvPr/>
        </p:nvSpPr>
        <p:spPr>
          <a:xfrm>
            <a:off x="812800" y="4726980"/>
            <a:ext cx="5207000" cy="1115020"/>
          </a:xfrm>
          <a:prstGeom prst="roundRect">
            <a:avLst>
              <a:gd name="adj" fmla="val 9112"/>
            </a:avLst>
          </a:prstGeom>
          <a:solidFill>
            <a:srgbClr val="26304A"/>
          </a:solidFill>
          <a:ln/>
        </p:spPr>
        <p:txBody>
          <a:bodyPr/>
          <a:lstStyle/>
          <a:p>
            <a:endParaRPr lang="en-VN"/>
          </a:p>
        </p:txBody>
      </p:sp>
      <p:sp>
        <p:nvSpPr>
          <p:cNvPr id="6" name="Text 4"/>
          <p:cNvSpPr/>
          <p:nvPr/>
        </p:nvSpPr>
        <p:spPr>
          <a:xfrm>
            <a:off x="9906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What we show</a:t>
            </a:r>
            <a:endParaRPr lang="en-US" sz="1200" dirty="0"/>
          </a:p>
        </p:txBody>
      </p:sp>
      <p:sp>
        <p:nvSpPr>
          <p:cNvPr id="7" name="Text 5"/>
          <p:cNvSpPr/>
          <p:nvPr/>
        </p:nvSpPr>
        <p:spPr>
          <a:xfrm>
            <a:off x="9906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Who we engaged, repeated rounds, insights, what changed</a:t>
            </a:r>
            <a:endParaRPr lang="en-US" sz="1500" dirty="0"/>
          </a:p>
        </p:txBody>
      </p:sp>
      <p:sp>
        <p:nvSpPr>
          <p:cNvPr id="8" name="Shape 6"/>
          <p:cNvSpPr/>
          <p:nvPr/>
        </p:nvSpPr>
        <p:spPr>
          <a:xfrm>
            <a:off x="6172200" y="4726980"/>
            <a:ext cx="5207000" cy="1115020"/>
          </a:xfrm>
          <a:prstGeom prst="roundRect">
            <a:avLst>
              <a:gd name="adj" fmla="val 9112"/>
            </a:avLst>
          </a:prstGeom>
          <a:solidFill>
            <a:srgbClr val="26304A"/>
          </a:solidFill>
          <a:ln/>
        </p:spPr>
        <p:txBody>
          <a:bodyPr/>
          <a:lstStyle/>
          <a:p>
            <a:endParaRPr lang="en-VN"/>
          </a:p>
        </p:txBody>
      </p:sp>
      <p:sp>
        <p:nvSpPr>
          <p:cNvPr id="9" name="Text 7"/>
          <p:cNvSpPr/>
          <p:nvPr/>
        </p:nvSpPr>
        <p:spPr>
          <a:xfrm>
            <a:off x="63500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Methods</a:t>
            </a:r>
            <a:endParaRPr lang="en-US" sz="1200" dirty="0"/>
          </a:p>
        </p:txBody>
      </p:sp>
      <p:sp>
        <p:nvSpPr>
          <p:cNvPr id="10" name="Text 8"/>
          <p:cNvSpPr/>
          <p:nvPr/>
        </p:nvSpPr>
        <p:spPr>
          <a:xfrm>
            <a:off x="63500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Interviews · Follow-up rounds · AEIOU · Insight statements · Journey map</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Six slides · about 2:30 · Divider: move on quickly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C2 · STAKEHOLDER ENGAGEMENT (35) · METHOD: INTERVIEWS + OBSERVATION + LEAD USERS</a:t>
            </a:r>
            <a:endParaRPr lang="en-US" sz="1200" dirty="0"/>
          </a:p>
        </p:txBody>
      </p:sp>
      <p:sp>
        <p:nvSpPr>
          <p:cNvPr id="3" name="Text 1"/>
          <p:cNvSpPr/>
          <p:nvPr/>
        </p:nvSpPr>
        <p:spPr>
          <a:xfrm>
            <a:off x="812800" y="812800"/>
            <a:ext cx="10883392" cy="267345"/>
          </a:xfrm>
          <a:prstGeom prst="rect">
            <a:avLst/>
          </a:prstGeom>
          <a:noFill/>
          <a:ln/>
        </p:spPr>
        <p:txBody>
          <a:bodyPr wrap="square" lIns="0" tIns="0" rIns="0" bIns="0" rtlCol="0" anchor="t">
            <a:normAutofit/>
          </a:bodyPr>
          <a:lstStyle/>
          <a:p>
            <a:pPr marL="0" indent="0" algn="l">
              <a:lnSpc>
                <a:spcPts val="1915"/>
              </a:lnSpc>
              <a:buNone/>
            </a:pPr>
            <a:r>
              <a:rPr lang="en-US" sz="1741" b="1" dirty="0">
                <a:solidFill>
                  <a:srgbClr val="1B2233"/>
                </a:solidFill>
                <a:latin typeface="Be Vietnam Pro" pitchFamily="34" charset="0"/>
                <a:ea typeface="Be Vietnam Pro" pitchFamily="34" charset="-122"/>
                <a:cs typeface="Be Vietnam Pro" pitchFamily="34" charset="-120"/>
              </a:rPr>
              <a:t>Who we engaged, and what each group told us</a:t>
            </a:r>
            <a:endParaRPr lang="en-US" sz="174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21445"/>
          <a:ext cx="10553700" cy="4520555"/>
        </p:xfrm>
        <a:graphic>
          <a:graphicData uri="http://schemas.openxmlformats.org/drawingml/2006/table">
            <a:tbl>
              <a:tblPr/>
              <a:tblGrid>
                <a:gridCol w="2110740">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gridCol w="2110740">
                  <a:extLst>
                    <a:ext uri="{9D8B030D-6E8A-4147-A177-3AD203B41FA5}">
                      <a16:colId xmlns:a16="http://schemas.microsoft.com/office/drawing/2014/main" val="20004"/>
                    </a:ext>
                  </a:extLst>
                </a:gridCol>
              </a:tblGrid>
              <a:tr h="392063">
                <a:tc>
                  <a:txBody>
                    <a:bodyPr/>
                    <a:lstStyle/>
                    <a:p>
                      <a:pPr marL="0" indent="0">
                        <a:lnSpc>
                          <a:spcPts val="1554"/>
                        </a:lnSpc>
                        <a:buNone/>
                      </a:pPr>
                      <a:r>
                        <a:rPr lang="en-US" sz="1110" b="1" dirty="0">
                          <a:solidFill>
                            <a:srgbClr val="F6F4EF"/>
                          </a:solidFill>
                          <a:latin typeface="Be Vietnam Pro" pitchFamily="34" charset="0"/>
                          <a:ea typeface="Be Vietnam Pro" pitchFamily="34" charset="-122"/>
                          <a:cs typeface="Be Vietnam Pro" pitchFamily="34" charset="-120"/>
                        </a:rPr>
                        <a:t>Stakeholder</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554"/>
                        </a:lnSpc>
                        <a:buNone/>
                      </a:pPr>
                      <a:r>
                        <a:rPr lang="en-US" sz="1110" b="1" dirty="0">
                          <a:solidFill>
                            <a:srgbClr val="F6F4EF"/>
                          </a:solidFill>
                          <a:latin typeface="Be Vietnam Pro" pitchFamily="34" charset="0"/>
                          <a:ea typeface="Be Vietnam Pro" pitchFamily="34" charset="-122"/>
                          <a:cs typeface="Be Vietnam Pro" pitchFamily="34" charset="-120"/>
                        </a:rPr>
                        <a:t>Who exactly (role)</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554"/>
                        </a:lnSpc>
                        <a:buNone/>
                      </a:pPr>
                      <a:r>
                        <a:rPr lang="en-US" sz="1110" b="1" dirty="0">
                          <a:solidFill>
                            <a:srgbClr val="F6F4EF"/>
                          </a:solidFill>
                          <a:latin typeface="Be Vietnam Pro" pitchFamily="34" charset="0"/>
                          <a:ea typeface="Be Vietnam Pro" pitchFamily="34" charset="-122"/>
                          <a:cs typeface="Be Vietnam Pro" pitchFamily="34" charset="-120"/>
                        </a:rPr>
                        <a:t># people</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554"/>
                        </a:lnSpc>
                        <a:buNone/>
                      </a:pPr>
                      <a:r>
                        <a:rPr lang="en-US" sz="1110" b="1" dirty="0">
                          <a:solidFill>
                            <a:srgbClr val="F6F4EF"/>
                          </a:solidFill>
                          <a:latin typeface="Be Vietnam Pro" pitchFamily="34" charset="0"/>
                          <a:ea typeface="Be Vietnam Pro" pitchFamily="34" charset="-122"/>
                          <a:cs typeface="Be Vietnam Pro" pitchFamily="34" charset="-120"/>
                        </a:rPr>
                        <a:t>Method</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554"/>
                        </a:lnSpc>
                        <a:buNone/>
                      </a:pPr>
                      <a:r>
                        <a:rPr lang="en-US" sz="1110" b="1" dirty="0">
                          <a:solidFill>
                            <a:srgbClr val="F6F4EF"/>
                          </a:solidFill>
                          <a:latin typeface="Be Vietnam Pro" pitchFamily="34" charset="0"/>
                          <a:ea typeface="Be Vietnam Pro" pitchFamily="34" charset="-122"/>
                          <a:cs typeface="Be Vietnam Pro" pitchFamily="34" charset="-120"/>
                        </a:rPr>
                        <a:t>Key takeaway</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589409">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Primary users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Tenants sharing one washer with 5+ housemates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Semi-structured interview + survey</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[main pain confirmed / not]</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984101">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Lead users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The housemate who does the most laundry or already runs a schedule / chat reminders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Interview + observation</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[workaround they built]</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89409">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Buyers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Live-in landlord or master tenant</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Interview</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[would they pay? why]</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786755">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Operators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Property manager of several rental units or co-living staff</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Interview</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[complaints they handle]</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786755">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Non-adopters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Housemates who ignore sign-up sheets and chat rules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Interview / AEIOU</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[why they skip steps]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392063">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Total</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[__] methods</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554"/>
                        </a:lnSpc>
                        <a:buNone/>
                      </a:pPr>
                      <a:r>
                        <a:rPr lang="en-US" sz="1110" dirty="0">
                          <a:solidFill>
                            <a:srgbClr val="1B2233"/>
                          </a:solidFill>
                          <a:latin typeface="Be Vietnam Pro" pitchFamily="34" charset="0"/>
                          <a:ea typeface="Be Vietnam Pro" pitchFamily="34" charset="-122"/>
                          <a:cs typeface="Be Vietnam Pro" pitchFamily="34" charset="-120"/>
                        </a:rPr>
                        <a:t>[one-line summary]</a:t>
                      </a:r>
                      <a:endParaRPr lang="en-US" sz="111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~0:30 · Ethics: consent before recording, participants anonymised P01–P[__]</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C2 · STAKEHOLDER ENGAGEMENT (35) · METHOD: AEIOU OBSERVATION</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What we saw on site at [location]</a:t>
            </a:r>
            <a:endParaRPr lang="en-US" sz="2800" dirty="0"/>
          </a:p>
        </p:txBody>
      </p:sp>
      <p:sp>
        <p:nvSpPr>
          <p:cNvPr id="4" name="Shape 2"/>
          <p:cNvSpPr/>
          <p:nvPr/>
        </p:nvSpPr>
        <p:spPr>
          <a:xfrm>
            <a:off x="815975" y="1461095"/>
            <a:ext cx="2005310" cy="1220391"/>
          </a:xfrm>
          <a:prstGeom prst="roundRect">
            <a:avLst>
              <a:gd name="adj" fmla="val 8065"/>
            </a:avLst>
          </a:prstGeom>
          <a:solidFill>
            <a:srgbClr val="FFFFFF"/>
          </a:solidFill>
          <a:ln w="6350">
            <a:solidFill>
              <a:srgbClr val="DDD8CC"/>
            </a:solidFill>
            <a:prstDash val="solid"/>
          </a:ln>
        </p:spPr>
        <p:txBody>
          <a:bodyPr/>
          <a:lstStyle/>
          <a:p>
            <a:endParaRPr lang="en-VN"/>
          </a:p>
        </p:txBody>
      </p:sp>
      <p:sp>
        <p:nvSpPr>
          <p:cNvPr id="5" name="Text 3"/>
          <p:cNvSpPr/>
          <p:nvPr/>
        </p:nvSpPr>
        <p:spPr>
          <a:xfrm>
            <a:off x="971550" y="1616670"/>
            <a:ext cx="17449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F5597"/>
                </a:solidFill>
                <a:latin typeface="Be Vietnam Pro" pitchFamily="34" charset="0"/>
                <a:ea typeface="Be Vietnam Pro" pitchFamily="34" charset="-122"/>
                <a:cs typeface="Be Vietnam Pro" pitchFamily="34" charset="-120"/>
              </a:rPr>
              <a:t>A</a:t>
            </a:r>
            <a:endParaRPr lang="en-US" sz="2800" dirty="0"/>
          </a:p>
        </p:txBody>
      </p:sp>
      <p:sp>
        <p:nvSpPr>
          <p:cNvPr id="6" name="Text 4"/>
          <p:cNvSpPr/>
          <p:nvPr/>
        </p:nvSpPr>
        <p:spPr>
          <a:xfrm>
            <a:off x="971550" y="2035770"/>
            <a:ext cx="17449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233"/>
                </a:solidFill>
                <a:latin typeface="Be Vietnam Pro" pitchFamily="34" charset="0"/>
                <a:ea typeface="Be Vietnam Pro" pitchFamily="34" charset="-122"/>
                <a:cs typeface="Be Vietnam Pro" pitchFamily="34" charset="-120"/>
              </a:rPr>
              <a:t>Activities</a:t>
            </a:r>
            <a:endParaRPr lang="en-US" sz="1200" dirty="0"/>
          </a:p>
        </p:txBody>
      </p:sp>
      <p:sp>
        <p:nvSpPr>
          <p:cNvPr id="7" name="Text 5"/>
          <p:cNvSpPr/>
          <p:nvPr/>
        </p:nvSpPr>
        <p:spPr>
          <a:xfrm>
            <a:off x="971550" y="2312591"/>
            <a:ext cx="1744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[observed detail]</a:t>
            </a:r>
            <a:endParaRPr lang="en-US" sz="1200" dirty="0"/>
          </a:p>
        </p:txBody>
      </p:sp>
      <p:sp>
        <p:nvSpPr>
          <p:cNvPr id="8" name="Shape 6"/>
          <p:cNvSpPr/>
          <p:nvPr/>
        </p:nvSpPr>
        <p:spPr>
          <a:xfrm>
            <a:off x="2954635" y="1461095"/>
            <a:ext cx="2005310" cy="1220391"/>
          </a:xfrm>
          <a:prstGeom prst="roundRect">
            <a:avLst>
              <a:gd name="adj" fmla="val 8065"/>
            </a:avLst>
          </a:prstGeom>
          <a:solidFill>
            <a:srgbClr val="FFFFFF"/>
          </a:solidFill>
          <a:ln w="6350">
            <a:solidFill>
              <a:srgbClr val="DDD8CC"/>
            </a:solidFill>
            <a:prstDash val="solid"/>
          </a:ln>
        </p:spPr>
        <p:txBody>
          <a:bodyPr/>
          <a:lstStyle/>
          <a:p>
            <a:endParaRPr lang="en-VN"/>
          </a:p>
        </p:txBody>
      </p:sp>
      <p:sp>
        <p:nvSpPr>
          <p:cNvPr id="9" name="Text 7"/>
          <p:cNvSpPr/>
          <p:nvPr/>
        </p:nvSpPr>
        <p:spPr>
          <a:xfrm>
            <a:off x="3110210" y="1616670"/>
            <a:ext cx="17449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F5597"/>
                </a:solidFill>
                <a:latin typeface="Be Vietnam Pro" pitchFamily="34" charset="0"/>
                <a:ea typeface="Be Vietnam Pro" pitchFamily="34" charset="-122"/>
                <a:cs typeface="Be Vietnam Pro" pitchFamily="34" charset="-120"/>
              </a:rPr>
              <a:t>E</a:t>
            </a:r>
            <a:endParaRPr lang="en-US" sz="2800" dirty="0"/>
          </a:p>
        </p:txBody>
      </p:sp>
      <p:sp>
        <p:nvSpPr>
          <p:cNvPr id="10" name="Text 8"/>
          <p:cNvSpPr/>
          <p:nvPr/>
        </p:nvSpPr>
        <p:spPr>
          <a:xfrm>
            <a:off x="3110210" y="2035770"/>
            <a:ext cx="17449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233"/>
                </a:solidFill>
                <a:latin typeface="Be Vietnam Pro" pitchFamily="34" charset="0"/>
                <a:ea typeface="Be Vietnam Pro" pitchFamily="34" charset="-122"/>
                <a:cs typeface="Be Vietnam Pro" pitchFamily="34" charset="-120"/>
              </a:rPr>
              <a:t>Environment</a:t>
            </a:r>
            <a:endParaRPr lang="en-US" sz="1200" dirty="0"/>
          </a:p>
        </p:txBody>
      </p:sp>
      <p:sp>
        <p:nvSpPr>
          <p:cNvPr id="11" name="Text 9"/>
          <p:cNvSpPr/>
          <p:nvPr/>
        </p:nvSpPr>
        <p:spPr>
          <a:xfrm>
            <a:off x="3110210" y="2312591"/>
            <a:ext cx="1744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[observed detail]</a:t>
            </a:r>
            <a:endParaRPr lang="en-US" sz="1200" dirty="0"/>
          </a:p>
        </p:txBody>
      </p:sp>
      <p:sp>
        <p:nvSpPr>
          <p:cNvPr id="12" name="Shape 10"/>
          <p:cNvSpPr/>
          <p:nvPr/>
        </p:nvSpPr>
        <p:spPr>
          <a:xfrm>
            <a:off x="5093295" y="1461095"/>
            <a:ext cx="2005360" cy="1220391"/>
          </a:xfrm>
          <a:prstGeom prst="roundRect">
            <a:avLst>
              <a:gd name="adj" fmla="val 8065"/>
            </a:avLst>
          </a:prstGeom>
          <a:solidFill>
            <a:srgbClr val="FFFFFF"/>
          </a:solidFill>
          <a:ln w="6350">
            <a:solidFill>
              <a:srgbClr val="DDD8CC"/>
            </a:solidFill>
            <a:prstDash val="solid"/>
          </a:ln>
        </p:spPr>
        <p:txBody>
          <a:bodyPr/>
          <a:lstStyle/>
          <a:p>
            <a:endParaRPr lang="en-VN"/>
          </a:p>
        </p:txBody>
      </p:sp>
      <p:sp>
        <p:nvSpPr>
          <p:cNvPr id="13" name="Text 11"/>
          <p:cNvSpPr/>
          <p:nvPr/>
        </p:nvSpPr>
        <p:spPr>
          <a:xfrm>
            <a:off x="5248870" y="1616670"/>
            <a:ext cx="1745036"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F5597"/>
                </a:solidFill>
                <a:latin typeface="Be Vietnam Pro" pitchFamily="34" charset="0"/>
                <a:ea typeface="Be Vietnam Pro" pitchFamily="34" charset="-122"/>
                <a:cs typeface="Be Vietnam Pro" pitchFamily="34" charset="-120"/>
              </a:rPr>
              <a:t>I</a:t>
            </a:r>
            <a:endParaRPr lang="en-US" sz="2800" dirty="0"/>
          </a:p>
        </p:txBody>
      </p:sp>
      <p:sp>
        <p:nvSpPr>
          <p:cNvPr id="14" name="Text 12"/>
          <p:cNvSpPr/>
          <p:nvPr/>
        </p:nvSpPr>
        <p:spPr>
          <a:xfrm>
            <a:off x="5248870" y="2035770"/>
            <a:ext cx="174503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233"/>
                </a:solidFill>
                <a:latin typeface="Be Vietnam Pro" pitchFamily="34" charset="0"/>
                <a:ea typeface="Be Vietnam Pro" pitchFamily="34" charset="-122"/>
                <a:cs typeface="Be Vietnam Pro" pitchFamily="34" charset="-120"/>
              </a:rPr>
              <a:t>Interactions</a:t>
            </a:r>
            <a:endParaRPr lang="en-US" sz="1200" dirty="0"/>
          </a:p>
        </p:txBody>
      </p:sp>
      <p:sp>
        <p:nvSpPr>
          <p:cNvPr id="15" name="Text 13"/>
          <p:cNvSpPr/>
          <p:nvPr/>
        </p:nvSpPr>
        <p:spPr>
          <a:xfrm>
            <a:off x="5248870" y="2312591"/>
            <a:ext cx="17450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[observed detail]</a:t>
            </a:r>
            <a:endParaRPr lang="en-US" sz="1200" dirty="0"/>
          </a:p>
        </p:txBody>
      </p:sp>
      <p:sp>
        <p:nvSpPr>
          <p:cNvPr id="16" name="Shape 14"/>
          <p:cNvSpPr/>
          <p:nvPr/>
        </p:nvSpPr>
        <p:spPr>
          <a:xfrm>
            <a:off x="7232005" y="1461095"/>
            <a:ext cx="2005310" cy="1220391"/>
          </a:xfrm>
          <a:prstGeom prst="roundRect">
            <a:avLst>
              <a:gd name="adj" fmla="val 8065"/>
            </a:avLst>
          </a:prstGeom>
          <a:solidFill>
            <a:srgbClr val="FFFFFF"/>
          </a:solidFill>
          <a:ln w="6350">
            <a:solidFill>
              <a:srgbClr val="DDD8CC"/>
            </a:solidFill>
            <a:prstDash val="solid"/>
          </a:ln>
        </p:spPr>
        <p:txBody>
          <a:bodyPr/>
          <a:lstStyle/>
          <a:p>
            <a:endParaRPr lang="en-VN"/>
          </a:p>
        </p:txBody>
      </p:sp>
      <p:sp>
        <p:nvSpPr>
          <p:cNvPr id="17" name="Text 15"/>
          <p:cNvSpPr/>
          <p:nvPr/>
        </p:nvSpPr>
        <p:spPr>
          <a:xfrm>
            <a:off x="7387580" y="1616670"/>
            <a:ext cx="17449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F5597"/>
                </a:solidFill>
                <a:latin typeface="Be Vietnam Pro" pitchFamily="34" charset="0"/>
                <a:ea typeface="Be Vietnam Pro" pitchFamily="34" charset="-122"/>
                <a:cs typeface="Be Vietnam Pro" pitchFamily="34" charset="-120"/>
              </a:rPr>
              <a:t>O</a:t>
            </a:r>
            <a:endParaRPr lang="en-US" sz="2800" dirty="0"/>
          </a:p>
        </p:txBody>
      </p:sp>
      <p:sp>
        <p:nvSpPr>
          <p:cNvPr id="18" name="Text 16"/>
          <p:cNvSpPr/>
          <p:nvPr/>
        </p:nvSpPr>
        <p:spPr>
          <a:xfrm>
            <a:off x="7387580" y="2035770"/>
            <a:ext cx="17449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233"/>
                </a:solidFill>
                <a:latin typeface="Be Vietnam Pro" pitchFamily="34" charset="0"/>
                <a:ea typeface="Be Vietnam Pro" pitchFamily="34" charset="-122"/>
                <a:cs typeface="Be Vietnam Pro" pitchFamily="34" charset="-120"/>
              </a:rPr>
              <a:t>Objects</a:t>
            </a:r>
            <a:endParaRPr lang="en-US" sz="1200" dirty="0"/>
          </a:p>
        </p:txBody>
      </p:sp>
      <p:sp>
        <p:nvSpPr>
          <p:cNvPr id="19" name="Text 17"/>
          <p:cNvSpPr/>
          <p:nvPr/>
        </p:nvSpPr>
        <p:spPr>
          <a:xfrm>
            <a:off x="7387580" y="2312591"/>
            <a:ext cx="1744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[observed detail]</a:t>
            </a:r>
            <a:endParaRPr lang="en-US" sz="1200" dirty="0"/>
          </a:p>
        </p:txBody>
      </p:sp>
      <p:sp>
        <p:nvSpPr>
          <p:cNvPr id="20" name="Shape 18"/>
          <p:cNvSpPr/>
          <p:nvPr/>
        </p:nvSpPr>
        <p:spPr>
          <a:xfrm>
            <a:off x="9370665" y="1461095"/>
            <a:ext cx="2005310" cy="1220391"/>
          </a:xfrm>
          <a:prstGeom prst="roundRect">
            <a:avLst>
              <a:gd name="adj" fmla="val 8065"/>
            </a:avLst>
          </a:prstGeom>
          <a:solidFill>
            <a:srgbClr val="FFFFFF"/>
          </a:solidFill>
          <a:ln w="6350">
            <a:solidFill>
              <a:srgbClr val="DDD8CC"/>
            </a:solidFill>
            <a:prstDash val="solid"/>
          </a:ln>
        </p:spPr>
        <p:txBody>
          <a:bodyPr/>
          <a:lstStyle/>
          <a:p>
            <a:endParaRPr lang="en-VN"/>
          </a:p>
        </p:txBody>
      </p:sp>
      <p:sp>
        <p:nvSpPr>
          <p:cNvPr id="21" name="Text 19"/>
          <p:cNvSpPr/>
          <p:nvPr/>
        </p:nvSpPr>
        <p:spPr>
          <a:xfrm>
            <a:off x="9526240" y="1616670"/>
            <a:ext cx="17449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F5597"/>
                </a:solidFill>
                <a:latin typeface="Be Vietnam Pro" pitchFamily="34" charset="0"/>
                <a:ea typeface="Be Vietnam Pro" pitchFamily="34" charset="-122"/>
                <a:cs typeface="Be Vietnam Pro" pitchFamily="34" charset="-120"/>
              </a:rPr>
              <a:t>U</a:t>
            </a:r>
            <a:endParaRPr lang="en-US" sz="2800" dirty="0"/>
          </a:p>
        </p:txBody>
      </p:sp>
      <p:sp>
        <p:nvSpPr>
          <p:cNvPr id="22" name="Text 20"/>
          <p:cNvSpPr/>
          <p:nvPr/>
        </p:nvSpPr>
        <p:spPr>
          <a:xfrm>
            <a:off x="9526240" y="2035770"/>
            <a:ext cx="17449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233"/>
                </a:solidFill>
                <a:latin typeface="Be Vietnam Pro" pitchFamily="34" charset="0"/>
                <a:ea typeface="Be Vietnam Pro" pitchFamily="34" charset="-122"/>
                <a:cs typeface="Be Vietnam Pro" pitchFamily="34" charset="-120"/>
              </a:rPr>
              <a:t>Users</a:t>
            </a:r>
            <a:endParaRPr lang="en-US" sz="1200" dirty="0"/>
          </a:p>
        </p:txBody>
      </p:sp>
      <p:sp>
        <p:nvSpPr>
          <p:cNvPr id="23" name="Text 21"/>
          <p:cNvSpPr/>
          <p:nvPr/>
        </p:nvSpPr>
        <p:spPr>
          <a:xfrm>
            <a:off x="9526240" y="2312591"/>
            <a:ext cx="1744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[observed detail]</a:t>
            </a:r>
            <a:endParaRPr lang="en-US" sz="1200" dirty="0"/>
          </a:p>
        </p:txBody>
      </p:sp>
      <p:sp>
        <p:nvSpPr>
          <p:cNvPr id="24" name="Text 22"/>
          <p:cNvSpPr/>
          <p:nvPr/>
        </p:nvSpPr>
        <p:spPr>
          <a:xfrm>
            <a:off x="819150" y="2945011"/>
            <a:ext cx="5181600" cy="1384300"/>
          </a:xfrm>
          <a:prstGeom prst="roundRect">
            <a:avLst>
              <a:gd name="adj" fmla="val 6881"/>
            </a:avLst>
          </a:prstGeom>
          <a:solidFill>
            <a:srgbClr val="EFE8DC"/>
          </a:solidFill>
          <a:ln w="12700">
            <a:solidFill>
              <a:srgbClr val="DDD8CC"/>
            </a:solidFill>
            <a:prstDash val="dash"/>
          </a:ln>
        </p:spPr>
        <p:txBody>
          <a:bodyPr wrap="square" lIns="0" tIns="0" rIns="0" bIns="0" rtlCol="0" anchor="ctr">
            <a:normAutofit/>
          </a:bodyPr>
          <a:lstStyle/>
          <a:p>
            <a:pPr marL="0" indent="0" algn="ctr">
              <a:lnSpc>
                <a:spcPts val="1960"/>
              </a:lnSpc>
              <a:buNone/>
            </a:pPr>
            <a:r>
              <a:rPr lang="en-US" sz="1400" dirty="0">
                <a:solidFill>
                  <a:srgbClr val="5B6475"/>
                </a:solidFill>
                <a:latin typeface="Be Vietnam Pro" pitchFamily="34" charset="0"/>
                <a:ea typeface="Be Vietnam Pro" pitchFamily="34" charset="-122"/>
                <a:cs typeface="Be Vietnam Pro" pitchFamily="34" charset="-120"/>
              </a:rPr>
              <a:t>[Photo of the real context]</a:t>
            </a:r>
            <a:endParaRPr lang="en-US" sz="1400" dirty="0"/>
          </a:p>
        </p:txBody>
      </p:sp>
      <p:sp>
        <p:nvSpPr>
          <p:cNvPr id="25" name="Text 23"/>
          <p:cNvSpPr/>
          <p:nvPr/>
        </p:nvSpPr>
        <p:spPr>
          <a:xfrm>
            <a:off x="6191250" y="2945011"/>
            <a:ext cx="5181600" cy="1384300"/>
          </a:xfrm>
          <a:prstGeom prst="roundRect">
            <a:avLst>
              <a:gd name="adj" fmla="val 6881"/>
            </a:avLst>
          </a:prstGeom>
          <a:solidFill>
            <a:srgbClr val="EFE8DC"/>
          </a:solidFill>
          <a:ln w="12700">
            <a:solidFill>
              <a:srgbClr val="DDD8CC"/>
            </a:solidFill>
            <a:prstDash val="dash"/>
          </a:ln>
        </p:spPr>
        <p:txBody>
          <a:bodyPr wrap="square" lIns="0" tIns="0" rIns="0" bIns="0" rtlCol="0" anchor="ctr">
            <a:normAutofit/>
          </a:bodyPr>
          <a:lstStyle/>
          <a:p>
            <a:pPr marL="0" indent="0" algn="ctr">
              <a:lnSpc>
                <a:spcPts val="1960"/>
              </a:lnSpc>
              <a:buNone/>
            </a:pPr>
            <a:r>
              <a:rPr lang="en-US" sz="1400" dirty="0">
                <a:solidFill>
                  <a:srgbClr val="5B6475"/>
                </a:solidFill>
                <a:latin typeface="Be Vietnam Pro" pitchFamily="34" charset="0"/>
                <a:ea typeface="Be Vietnam Pro" pitchFamily="34" charset="-122"/>
                <a:cs typeface="Be Vietnam Pro" pitchFamily="34" charset="-120"/>
              </a:rPr>
              <a:t>[Photo of a workaround]</a:t>
            </a:r>
            <a:endParaRPr lang="en-US" sz="14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~0:20 · Record what users actually do, not what we assume they do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C2 · STAKEHOLDER ENGAGEMENT (35) · METHOD: INSIGHT STATEMENTS</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Three insights with creative tension</a:t>
            </a:r>
            <a:endParaRPr lang="en-US" sz="2800" dirty="0"/>
          </a:p>
        </p:txBody>
      </p:sp>
      <p:sp>
        <p:nvSpPr>
          <p:cNvPr id="4" name="Shape 2"/>
          <p:cNvSpPr/>
          <p:nvPr/>
        </p:nvSpPr>
        <p:spPr>
          <a:xfrm>
            <a:off x="815975" y="1461095"/>
            <a:ext cx="3397250" cy="1857921"/>
          </a:xfrm>
          <a:prstGeom prst="roundRect">
            <a:avLst>
              <a:gd name="adj" fmla="val 5298"/>
            </a:avLst>
          </a:prstGeom>
          <a:solidFill>
            <a:srgbClr val="FFFFFF"/>
          </a:solidFill>
          <a:ln w="6350">
            <a:solidFill>
              <a:srgbClr val="DDD8CC"/>
            </a:solidFill>
            <a:prstDash val="solid"/>
          </a:ln>
        </p:spPr>
        <p:txBody>
          <a:bodyPr/>
          <a:lstStyle/>
          <a:p>
            <a:endParaRPr lang="en-VN"/>
          </a:p>
        </p:txBody>
      </p:sp>
      <p:sp>
        <p:nvSpPr>
          <p:cNvPr id="5" name="Text 3"/>
          <p:cNvSpPr/>
          <p:nvPr/>
        </p:nvSpPr>
        <p:spPr>
          <a:xfrm>
            <a:off x="1022350" y="1667470"/>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Insight 1</a:t>
            </a:r>
            <a:endParaRPr lang="en-US" sz="1600" dirty="0"/>
          </a:p>
        </p:txBody>
      </p:sp>
      <p:sp>
        <p:nvSpPr>
          <p:cNvPr id="6" name="Text 4"/>
          <p:cNvSpPr/>
          <p:nvPr/>
        </p:nvSpPr>
        <p:spPr>
          <a:xfrm>
            <a:off x="1022350" y="2000200"/>
            <a:ext cx="307403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233"/>
                </a:solidFill>
                <a:latin typeface="Be Vietnam Pro" pitchFamily="34" charset="0"/>
                <a:ea typeface="Be Vietnam Pro" pitchFamily="34" charset="-122"/>
                <a:cs typeface="Be Vietnam Pro" pitchFamily="34" charset="-120"/>
              </a:rPr>
              <a:t>[User] needs [..] </a:t>
            </a:r>
            <a:r>
              <a:rPr lang="en-US" sz="1400" b="1" dirty="0">
                <a:solidFill>
                  <a:srgbClr val="1B2233"/>
                </a:solidFill>
                <a:latin typeface="Be Vietnam Pro" pitchFamily="34" charset="0"/>
                <a:ea typeface="Be Vietnam Pro" pitchFamily="34" charset="-122"/>
                <a:cs typeface="Be Vietnam Pro" pitchFamily="34" charset="-120"/>
              </a:rPr>
              <a:t>BUT</a:t>
            </a:r>
            <a:r>
              <a:rPr lang="en-US" sz="1400" dirty="0">
                <a:solidFill>
                  <a:srgbClr val="1B2233"/>
                </a:solidFill>
                <a:latin typeface="Be Vietnam Pro" pitchFamily="34" charset="0"/>
                <a:ea typeface="Be Vietnam Pro" pitchFamily="34" charset="-122"/>
                <a:cs typeface="Be Vietnam Pro" pitchFamily="34" charset="-120"/>
              </a:rPr>
              <a:t> [..] </a:t>
            </a:r>
            <a:r>
              <a:rPr lang="en-US" sz="1400" b="1" dirty="0">
                <a:solidFill>
                  <a:srgbClr val="1B2233"/>
                </a:solidFill>
                <a:latin typeface="Be Vietnam Pro" pitchFamily="34" charset="0"/>
                <a:ea typeface="Be Vietnam Pro" pitchFamily="34" charset="-122"/>
                <a:cs typeface="Be Vietnam Pro" pitchFamily="34" charset="-120"/>
              </a:rPr>
              <a:t>because</a:t>
            </a:r>
            <a:r>
              <a:rPr lang="en-US" sz="1400" dirty="0">
                <a:solidFill>
                  <a:srgbClr val="1B2233"/>
                </a:solidFill>
                <a:latin typeface="Be Vietnam Pro" pitchFamily="34" charset="0"/>
                <a:ea typeface="Be Vietnam Pro" pitchFamily="34" charset="-122"/>
                <a:cs typeface="Be Vietnam Pro" pitchFamily="34" charset="-120"/>
              </a:rPr>
              <a:t> [..].</a:t>
            </a:r>
            <a:endParaRPr lang="en-US" sz="1400" dirty="0"/>
          </a:p>
        </p:txBody>
      </p:sp>
      <p:sp>
        <p:nvSpPr>
          <p:cNvPr id="7" name="Text 5"/>
          <p:cNvSpPr/>
          <p:nvPr/>
        </p:nvSpPr>
        <p:spPr>
          <a:xfrm>
            <a:off x="1022350" y="2569121"/>
            <a:ext cx="3074035"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B4531A"/>
                </a:solidFill>
                <a:latin typeface="Be Vietnam Pro" pitchFamily="34" charset="0"/>
                <a:ea typeface="Be Vietnam Pro" pitchFamily="34" charset="-122"/>
                <a:cs typeface="Be Vietnam Pro" pitchFamily="34" charset="-120"/>
              </a:rPr>
              <a:t>"[verbatim quote]" · P0[_]</a:t>
            </a:r>
            <a:endParaRPr lang="en-US" sz="1400" dirty="0"/>
          </a:p>
        </p:txBody>
      </p:sp>
      <p:sp>
        <p:nvSpPr>
          <p:cNvPr id="8" name="Text 6"/>
          <p:cNvSpPr/>
          <p:nvPr/>
        </p:nvSpPr>
        <p:spPr>
          <a:xfrm>
            <a:off x="1022350" y="2906911"/>
            <a:ext cx="307403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475"/>
                </a:solidFill>
                <a:latin typeface="Be Vietnam Pro" pitchFamily="34" charset="0"/>
                <a:ea typeface="Be Vietnam Pro" pitchFamily="34" charset="-122"/>
                <a:cs typeface="Be Vietnam Pro" pitchFamily="34" charset="-120"/>
              </a:rPr>
              <a:t>Seen in [__] of [__] participants</a:t>
            </a:r>
            <a:endParaRPr lang="en-US" sz="1200" dirty="0"/>
          </a:p>
        </p:txBody>
      </p:sp>
      <p:sp>
        <p:nvSpPr>
          <p:cNvPr id="9" name="Shape 7"/>
          <p:cNvSpPr/>
          <p:nvPr/>
        </p:nvSpPr>
        <p:spPr>
          <a:xfrm>
            <a:off x="4397375" y="1461095"/>
            <a:ext cx="3397250" cy="1857921"/>
          </a:xfrm>
          <a:prstGeom prst="roundRect">
            <a:avLst>
              <a:gd name="adj" fmla="val 5298"/>
            </a:avLst>
          </a:prstGeom>
          <a:solidFill>
            <a:srgbClr val="FFFFFF"/>
          </a:solidFill>
          <a:ln w="6350">
            <a:solidFill>
              <a:srgbClr val="DDD8CC"/>
            </a:solidFill>
            <a:prstDash val="solid"/>
          </a:ln>
        </p:spPr>
        <p:txBody>
          <a:bodyPr/>
          <a:lstStyle/>
          <a:p>
            <a:endParaRPr lang="en-VN"/>
          </a:p>
        </p:txBody>
      </p:sp>
      <p:sp>
        <p:nvSpPr>
          <p:cNvPr id="10" name="Text 8"/>
          <p:cNvSpPr/>
          <p:nvPr/>
        </p:nvSpPr>
        <p:spPr>
          <a:xfrm>
            <a:off x="4603750" y="1667470"/>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Insight 2</a:t>
            </a:r>
            <a:endParaRPr lang="en-US" sz="1600" dirty="0"/>
          </a:p>
        </p:txBody>
      </p:sp>
      <p:sp>
        <p:nvSpPr>
          <p:cNvPr id="11" name="Text 9"/>
          <p:cNvSpPr/>
          <p:nvPr/>
        </p:nvSpPr>
        <p:spPr>
          <a:xfrm>
            <a:off x="4603750" y="2000200"/>
            <a:ext cx="307403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233"/>
                </a:solidFill>
                <a:latin typeface="Be Vietnam Pro" pitchFamily="34" charset="0"/>
                <a:ea typeface="Be Vietnam Pro" pitchFamily="34" charset="-122"/>
                <a:cs typeface="Be Vietnam Pro" pitchFamily="34" charset="-120"/>
              </a:rPr>
              <a:t>[User] </a:t>
            </a:r>
            <a:r>
              <a:rPr lang="en-US" sz="1400" b="1" dirty="0">
                <a:solidFill>
                  <a:srgbClr val="1B2233"/>
                </a:solidFill>
                <a:latin typeface="Be Vietnam Pro" pitchFamily="34" charset="0"/>
                <a:ea typeface="Be Vietnam Pro" pitchFamily="34" charset="-122"/>
                <a:cs typeface="Be Vietnam Pro" pitchFamily="34" charset="-120"/>
              </a:rPr>
              <a:t>actually</a:t>
            </a:r>
            <a:r>
              <a:rPr lang="en-US" sz="1400" dirty="0">
                <a:solidFill>
                  <a:srgbClr val="1B2233"/>
                </a:solidFill>
                <a:latin typeface="Be Vietnam Pro" pitchFamily="34" charset="0"/>
                <a:ea typeface="Be Vietnam Pro" pitchFamily="34" charset="-122"/>
                <a:cs typeface="Be Vietnam Pro" pitchFamily="34" charset="-120"/>
              </a:rPr>
              <a:t> [..].</a:t>
            </a:r>
            <a:endParaRPr lang="en-US" sz="1400" dirty="0"/>
          </a:p>
        </p:txBody>
      </p:sp>
      <p:sp>
        <p:nvSpPr>
          <p:cNvPr id="12" name="Text 10"/>
          <p:cNvSpPr/>
          <p:nvPr/>
        </p:nvSpPr>
        <p:spPr>
          <a:xfrm>
            <a:off x="4603750" y="2329111"/>
            <a:ext cx="3074035"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B4531A"/>
                </a:solidFill>
                <a:latin typeface="Be Vietnam Pro" pitchFamily="34" charset="0"/>
                <a:ea typeface="Be Vietnam Pro" pitchFamily="34" charset="-122"/>
                <a:cs typeface="Be Vietnam Pro" pitchFamily="34" charset="-120"/>
              </a:rPr>
              <a:t>"[verbatim quote]" · P0[_]</a:t>
            </a:r>
            <a:endParaRPr lang="en-US" sz="1400" dirty="0"/>
          </a:p>
        </p:txBody>
      </p:sp>
      <p:sp>
        <p:nvSpPr>
          <p:cNvPr id="13" name="Text 11"/>
          <p:cNvSpPr/>
          <p:nvPr/>
        </p:nvSpPr>
        <p:spPr>
          <a:xfrm>
            <a:off x="4603750" y="2666901"/>
            <a:ext cx="307403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475"/>
                </a:solidFill>
                <a:latin typeface="Be Vietnam Pro" pitchFamily="34" charset="0"/>
                <a:ea typeface="Be Vietnam Pro" pitchFamily="34" charset="-122"/>
                <a:cs typeface="Be Vietnam Pro" pitchFamily="34" charset="-120"/>
              </a:rPr>
              <a:t>Seen in [__] of [__] participants</a:t>
            </a:r>
            <a:endParaRPr lang="en-US" sz="1200" dirty="0"/>
          </a:p>
        </p:txBody>
      </p:sp>
      <p:sp>
        <p:nvSpPr>
          <p:cNvPr id="14" name="Shape 12"/>
          <p:cNvSpPr/>
          <p:nvPr/>
        </p:nvSpPr>
        <p:spPr>
          <a:xfrm>
            <a:off x="7978775" y="1461095"/>
            <a:ext cx="3397250" cy="1857921"/>
          </a:xfrm>
          <a:prstGeom prst="roundRect">
            <a:avLst>
              <a:gd name="adj" fmla="val 5298"/>
            </a:avLst>
          </a:prstGeom>
          <a:solidFill>
            <a:srgbClr val="FFFFFF"/>
          </a:solidFill>
          <a:ln w="6350">
            <a:solidFill>
              <a:srgbClr val="DDD8CC"/>
            </a:solidFill>
            <a:prstDash val="solid"/>
          </a:ln>
        </p:spPr>
        <p:txBody>
          <a:bodyPr/>
          <a:lstStyle/>
          <a:p>
            <a:endParaRPr lang="en-VN"/>
          </a:p>
        </p:txBody>
      </p:sp>
      <p:sp>
        <p:nvSpPr>
          <p:cNvPr id="15" name="Text 13"/>
          <p:cNvSpPr/>
          <p:nvPr/>
        </p:nvSpPr>
        <p:spPr>
          <a:xfrm>
            <a:off x="8185150" y="1667470"/>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Insight 3</a:t>
            </a:r>
            <a:endParaRPr lang="en-US" sz="1600" dirty="0"/>
          </a:p>
        </p:txBody>
      </p:sp>
      <p:sp>
        <p:nvSpPr>
          <p:cNvPr id="16" name="Text 14"/>
          <p:cNvSpPr/>
          <p:nvPr/>
        </p:nvSpPr>
        <p:spPr>
          <a:xfrm>
            <a:off x="8185150" y="2000200"/>
            <a:ext cx="307403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233"/>
                </a:solidFill>
                <a:latin typeface="Be Vietnam Pro" pitchFamily="34" charset="0"/>
                <a:ea typeface="Be Vietnam Pro" pitchFamily="34" charset="-122"/>
                <a:cs typeface="Be Vietnam Pro" pitchFamily="34" charset="-120"/>
              </a:rPr>
              <a:t>[User] needs [..] </a:t>
            </a:r>
            <a:r>
              <a:rPr lang="en-US" sz="1400" b="1" dirty="0">
                <a:solidFill>
                  <a:srgbClr val="1B2233"/>
                </a:solidFill>
                <a:latin typeface="Be Vietnam Pro" pitchFamily="34" charset="0"/>
                <a:ea typeface="Be Vietnam Pro" pitchFamily="34" charset="-122"/>
                <a:cs typeface="Be Vietnam Pro" pitchFamily="34" charset="-120"/>
              </a:rPr>
              <a:t>YET</a:t>
            </a:r>
            <a:r>
              <a:rPr lang="en-US" sz="1400" dirty="0">
                <a:solidFill>
                  <a:srgbClr val="1B2233"/>
                </a:solidFill>
                <a:latin typeface="Be Vietnam Pro" pitchFamily="34" charset="0"/>
                <a:ea typeface="Be Vietnam Pro" pitchFamily="34" charset="-122"/>
                <a:cs typeface="Be Vietnam Pro" pitchFamily="34" charset="-120"/>
              </a:rPr>
              <a:t> [..] </a:t>
            </a:r>
            <a:r>
              <a:rPr lang="en-US" sz="1400" b="1" dirty="0">
                <a:solidFill>
                  <a:srgbClr val="1B2233"/>
                </a:solidFill>
                <a:latin typeface="Be Vietnam Pro" pitchFamily="34" charset="0"/>
                <a:ea typeface="Be Vietnam Pro" pitchFamily="34" charset="-122"/>
                <a:cs typeface="Be Vietnam Pro" pitchFamily="34" charset="-120"/>
              </a:rPr>
              <a:t>because</a:t>
            </a:r>
            <a:r>
              <a:rPr lang="en-US" sz="1400" dirty="0">
                <a:solidFill>
                  <a:srgbClr val="1B2233"/>
                </a:solidFill>
                <a:latin typeface="Be Vietnam Pro" pitchFamily="34" charset="0"/>
                <a:ea typeface="Be Vietnam Pro" pitchFamily="34" charset="-122"/>
                <a:cs typeface="Be Vietnam Pro" pitchFamily="34" charset="-120"/>
              </a:rPr>
              <a:t> [..].</a:t>
            </a:r>
            <a:endParaRPr lang="en-US" sz="1400" dirty="0"/>
          </a:p>
        </p:txBody>
      </p:sp>
      <p:sp>
        <p:nvSpPr>
          <p:cNvPr id="17" name="Text 15"/>
          <p:cNvSpPr/>
          <p:nvPr/>
        </p:nvSpPr>
        <p:spPr>
          <a:xfrm>
            <a:off x="8185150" y="2569121"/>
            <a:ext cx="3074035"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B4531A"/>
                </a:solidFill>
                <a:latin typeface="Be Vietnam Pro" pitchFamily="34" charset="0"/>
                <a:ea typeface="Be Vietnam Pro" pitchFamily="34" charset="-122"/>
                <a:cs typeface="Be Vietnam Pro" pitchFamily="34" charset="-120"/>
              </a:rPr>
              <a:t>"[verbatim quote]" · P0[_]</a:t>
            </a:r>
            <a:endParaRPr lang="en-US" sz="1400" dirty="0"/>
          </a:p>
        </p:txBody>
      </p:sp>
      <p:sp>
        <p:nvSpPr>
          <p:cNvPr id="18" name="Text 16"/>
          <p:cNvSpPr/>
          <p:nvPr/>
        </p:nvSpPr>
        <p:spPr>
          <a:xfrm>
            <a:off x="8185150" y="2906911"/>
            <a:ext cx="307403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475"/>
                </a:solidFill>
                <a:latin typeface="Be Vietnam Pro" pitchFamily="34" charset="0"/>
                <a:ea typeface="Be Vietnam Pro" pitchFamily="34" charset="-122"/>
                <a:cs typeface="Be Vietnam Pro" pitchFamily="34" charset="-120"/>
              </a:rPr>
              <a:t>Seen in [__] of [__] participants</a:t>
            </a:r>
            <a:endParaRPr lang="en-US" sz="12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~0:45 · Insight = observation + tension + reason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E9A56F"/>
                </a:solidFill>
                <a:latin typeface="Be Vietnam Pro" pitchFamily="34" charset="0"/>
                <a:ea typeface="Be Vietnam Pro" pitchFamily="34" charset="-122"/>
                <a:cs typeface="Be Vietnam Pro" pitchFamily="34" charset="-120"/>
              </a:rPr>
              <a:t>C2 · STAKEHOLDER ENGAGEMENT (35) · METHOD: FOLLOW-UP INTERVIEWS + RAW → REFRAMED INSIGHT</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4EF"/>
                </a:solidFill>
                <a:latin typeface="Be Vietnam Pro" pitchFamily="34" charset="0"/>
                <a:ea typeface="Be Vietnam Pro" pitchFamily="34" charset="-122"/>
                <a:cs typeface="Be Vietnam Pro" pitchFamily="34" charset="-120"/>
              </a:rPr>
              <a:t>We went back to the same people, and it changed our view</a:t>
            </a:r>
            <a:endParaRPr lang="en-US" sz="2800" dirty="0"/>
          </a:p>
        </p:txBody>
      </p:sp>
      <p:sp>
        <p:nvSpPr>
          <p:cNvPr id="4" name="Shape 2"/>
          <p:cNvSpPr/>
          <p:nvPr/>
        </p:nvSpPr>
        <p:spPr>
          <a:xfrm>
            <a:off x="812800" y="1407120"/>
            <a:ext cx="3234234" cy="980380"/>
          </a:xfrm>
          <a:prstGeom prst="roundRect">
            <a:avLst>
              <a:gd name="adj" fmla="val 10363"/>
            </a:avLst>
          </a:prstGeom>
          <a:solidFill>
            <a:srgbClr val="26304A"/>
          </a:solidFill>
          <a:ln/>
        </p:spPr>
        <p:txBody>
          <a:bodyPr/>
          <a:lstStyle/>
          <a:p>
            <a:endParaRPr lang="en-VN"/>
          </a:p>
        </p:txBody>
      </p:sp>
      <p:sp>
        <p:nvSpPr>
          <p:cNvPr id="5" name="Text 3"/>
          <p:cNvSpPr/>
          <p:nvPr/>
        </p:nvSpPr>
        <p:spPr>
          <a:xfrm>
            <a:off x="990600" y="1559520"/>
            <a:ext cx="2964993"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E9A56F"/>
                </a:solidFill>
                <a:latin typeface="Be Vietnam Pro" pitchFamily="34" charset="0"/>
                <a:ea typeface="Be Vietnam Pro" pitchFamily="34" charset="-122"/>
                <a:cs typeface="Be Vietnam Pro" pitchFamily="34" charset="-120"/>
              </a:rPr>
              <a:t>ROUND 1 · [date]</a:t>
            </a:r>
            <a:endParaRPr lang="en-US" sz="1100" dirty="0"/>
          </a:p>
        </p:txBody>
      </p:sp>
      <p:sp>
        <p:nvSpPr>
          <p:cNvPr id="6" name="Text 4"/>
          <p:cNvSpPr/>
          <p:nvPr/>
        </p:nvSpPr>
        <p:spPr>
          <a:xfrm>
            <a:off x="990600" y="1805880"/>
            <a:ext cx="2964993"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6F4EF"/>
                </a:solidFill>
                <a:latin typeface="Be Vietnam Pro" pitchFamily="34" charset="0"/>
                <a:ea typeface="Be Vietnam Pro" pitchFamily="34" charset="-122"/>
                <a:cs typeface="Be Vietnam Pro" pitchFamily="34" charset="-120"/>
              </a:rPr>
              <a:t>[__] interviews + observation: [who]</a:t>
            </a:r>
            <a:endParaRPr lang="en-US" sz="1300" dirty="0"/>
          </a:p>
        </p:txBody>
      </p:sp>
      <p:sp>
        <p:nvSpPr>
          <p:cNvPr id="7" name="Text 5"/>
          <p:cNvSpPr/>
          <p:nvPr/>
        </p:nvSpPr>
        <p:spPr>
          <a:xfrm>
            <a:off x="4148634" y="1737271"/>
            <a:ext cx="279400"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9A56F"/>
                </a:solidFill>
                <a:latin typeface="Be Vietnam Pro" pitchFamily="34" charset="0"/>
                <a:ea typeface="Be Vietnam Pro" pitchFamily="34" charset="-122"/>
                <a:cs typeface="Be Vietnam Pro" pitchFamily="34" charset="-120"/>
              </a:rPr>
              <a:t>→</a:t>
            </a:r>
            <a:endParaRPr lang="en-US" sz="1800" dirty="0"/>
          </a:p>
        </p:txBody>
      </p:sp>
      <p:sp>
        <p:nvSpPr>
          <p:cNvPr id="8" name="Shape 6"/>
          <p:cNvSpPr/>
          <p:nvPr/>
        </p:nvSpPr>
        <p:spPr>
          <a:xfrm>
            <a:off x="4478834" y="1407120"/>
            <a:ext cx="3234283" cy="980380"/>
          </a:xfrm>
          <a:prstGeom prst="roundRect">
            <a:avLst>
              <a:gd name="adj" fmla="val 10363"/>
            </a:avLst>
          </a:prstGeom>
          <a:solidFill>
            <a:srgbClr val="26304A"/>
          </a:solidFill>
          <a:ln/>
        </p:spPr>
        <p:txBody>
          <a:bodyPr/>
          <a:lstStyle/>
          <a:p>
            <a:endParaRPr lang="en-VN"/>
          </a:p>
        </p:txBody>
      </p:sp>
      <p:sp>
        <p:nvSpPr>
          <p:cNvPr id="9" name="Text 7"/>
          <p:cNvSpPr/>
          <p:nvPr/>
        </p:nvSpPr>
        <p:spPr>
          <a:xfrm>
            <a:off x="4656634" y="1559520"/>
            <a:ext cx="2965044"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E9A56F"/>
                </a:solidFill>
                <a:latin typeface="Be Vietnam Pro" pitchFamily="34" charset="0"/>
                <a:ea typeface="Be Vietnam Pro" pitchFamily="34" charset="-122"/>
                <a:cs typeface="Be Vietnam Pro" pitchFamily="34" charset="-120"/>
              </a:rPr>
              <a:t>ROUND 2 · [date]</a:t>
            </a:r>
            <a:endParaRPr lang="en-US" sz="1100" dirty="0"/>
          </a:p>
        </p:txBody>
      </p:sp>
      <p:sp>
        <p:nvSpPr>
          <p:cNvPr id="10" name="Text 8"/>
          <p:cNvSpPr/>
          <p:nvPr/>
        </p:nvSpPr>
        <p:spPr>
          <a:xfrm>
            <a:off x="4656634" y="1805880"/>
            <a:ext cx="2965044"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6F4EF"/>
                </a:solidFill>
                <a:latin typeface="Be Vietnam Pro" pitchFamily="34" charset="0"/>
                <a:ea typeface="Be Vietnam Pro" pitchFamily="34" charset="-122"/>
                <a:cs typeface="Be Vietnam Pro" pitchFamily="34" charset="-120"/>
              </a:rPr>
              <a:t>Back to [__] of the same people + [new group] · follow-up / role-play</a:t>
            </a:r>
            <a:endParaRPr lang="en-US" sz="1300" dirty="0"/>
          </a:p>
        </p:txBody>
      </p:sp>
      <p:sp>
        <p:nvSpPr>
          <p:cNvPr id="11" name="Text 9"/>
          <p:cNvSpPr/>
          <p:nvPr/>
        </p:nvSpPr>
        <p:spPr>
          <a:xfrm>
            <a:off x="7814717" y="1737271"/>
            <a:ext cx="279400"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9A56F"/>
                </a:solidFill>
                <a:latin typeface="Be Vietnam Pro" pitchFamily="34" charset="0"/>
                <a:ea typeface="Be Vietnam Pro" pitchFamily="34" charset="-122"/>
                <a:cs typeface="Be Vietnam Pro" pitchFamily="34" charset="-120"/>
              </a:rPr>
              <a:t>→</a:t>
            </a:r>
            <a:endParaRPr lang="en-US" sz="1800" dirty="0"/>
          </a:p>
        </p:txBody>
      </p:sp>
      <p:sp>
        <p:nvSpPr>
          <p:cNvPr id="12" name="Shape 10"/>
          <p:cNvSpPr/>
          <p:nvPr/>
        </p:nvSpPr>
        <p:spPr>
          <a:xfrm>
            <a:off x="8144917" y="1407120"/>
            <a:ext cx="3234283" cy="980380"/>
          </a:xfrm>
          <a:prstGeom prst="roundRect">
            <a:avLst>
              <a:gd name="adj" fmla="val 10363"/>
            </a:avLst>
          </a:prstGeom>
          <a:solidFill>
            <a:srgbClr val="E9A56F"/>
          </a:solidFill>
          <a:ln/>
        </p:spPr>
        <p:txBody>
          <a:bodyPr/>
          <a:lstStyle/>
          <a:p>
            <a:endParaRPr lang="en-VN"/>
          </a:p>
        </p:txBody>
      </p:sp>
      <p:sp>
        <p:nvSpPr>
          <p:cNvPr id="13" name="Text 11"/>
          <p:cNvSpPr/>
          <p:nvPr/>
        </p:nvSpPr>
        <p:spPr>
          <a:xfrm>
            <a:off x="8322717" y="1559520"/>
            <a:ext cx="2965044"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1B2233"/>
                </a:solidFill>
                <a:latin typeface="Be Vietnam Pro" pitchFamily="34" charset="0"/>
                <a:ea typeface="Be Vietnam Pro" pitchFamily="34" charset="-122"/>
                <a:cs typeface="Be Vietnam Pro" pitchFamily="34" charset="-120"/>
              </a:rPr>
              <a:t>NOW</a:t>
            </a:r>
            <a:endParaRPr lang="en-US" sz="1100" dirty="0"/>
          </a:p>
        </p:txBody>
      </p:sp>
      <p:sp>
        <p:nvSpPr>
          <p:cNvPr id="14" name="Text 12"/>
          <p:cNvSpPr/>
          <p:nvPr/>
        </p:nvSpPr>
        <p:spPr>
          <a:xfrm>
            <a:off x="8322717" y="1805880"/>
            <a:ext cx="2965044"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233"/>
                </a:solidFill>
                <a:latin typeface="Be Vietnam Pro" pitchFamily="34" charset="0"/>
                <a:ea typeface="Be Vietnam Pro" pitchFamily="34" charset="-122"/>
                <a:cs typeface="Be Vietnam Pro" pitchFamily="34" charset="-120"/>
              </a:rPr>
              <a:t>HMW v[__] · focus on [..]</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3900261478"/>
              </p:ext>
            </p:extLst>
          </p:nvPr>
        </p:nvGraphicFramePr>
        <p:xfrm>
          <a:off x="825500" y="2603401"/>
          <a:ext cx="10553700" cy="199380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759420">
                <a:tc>
                  <a:txBody>
                    <a:bodyPr/>
                    <a:lstStyle/>
                    <a:p>
                      <a:pPr marL="0" indent="0">
                        <a:lnSpc>
                          <a:spcPts val="2240"/>
                        </a:lnSpc>
                        <a:buNone/>
                      </a:pPr>
                      <a:r>
                        <a:rPr lang="en-US" sz="1600" b="1" dirty="0">
                          <a:solidFill>
                            <a:srgbClr val="1B2233"/>
                          </a:solidFill>
                          <a:latin typeface="Be Vietnam Pro" pitchFamily="34" charset="0"/>
                          <a:ea typeface="Be Vietnam Pro" pitchFamily="34" charset="-122"/>
                          <a:cs typeface="Be Vietnam Pro" pitchFamily="34" charset="-120"/>
                        </a:rPr>
                        <a:t>We assumed (before)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5A5F6A"/>
                      </a:solidFill>
                      <a:prstDash val="solid"/>
                      <a:round/>
                      <a:headEnd type="none" w="med" len="med"/>
                      <a:tailEnd type="none" w="med" len="med"/>
                    </a:lnR>
                    <a:lnT w="12700" cap="flat" cmpd="sng" algn="ctr">
                      <a:solidFill>
                        <a:srgbClr val="4C515E"/>
                      </a:solidFill>
                      <a:prstDash val="solid"/>
                      <a:round/>
                      <a:headEnd type="none" w="med" len="med"/>
                      <a:tailEnd type="none" w="med" len="med"/>
                    </a:lnT>
                    <a:lnB w="12700" cap="flat" cmpd="sng" algn="ctr">
                      <a:solidFill>
                        <a:srgbClr val="5A5F6A"/>
                      </a:solidFill>
                      <a:prstDash val="solid"/>
                      <a:round/>
                      <a:headEnd type="none" w="med" len="med"/>
                      <a:tailEnd type="none" w="med" len="med"/>
                    </a:lnB>
                    <a:solidFill>
                      <a:schemeClr val="bg1"/>
                    </a:solidFill>
                  </a:tcPr>
                </a:tc>
                <a:tc>
                  <a:txBody>
                    <a:bodyPr/>
                    <a:lstStyle/>
                    <a:p>
                      <a:pPr marL="0" indent="0">
                        <a:lnSpc>
                          <a:spcPts val="2240"/>
                        </a:lnSpc>
                        <a:buNone/>
                      </a:pPr>
                      <a:r>
                        <a:rPr lang="en-US" sz="1600" b="1" dirty="0">
                          <a:solidFill>
                            <a:srgbClr val="1B2233"/>
                          </a:solidFill>
                          <a:latin typeface="Be Vietnam Pro" pitchFamily="34" charset="0"/>
                          <a:ea typeface="Be Vietnam Pro" pitchFamily="34" charset="-122"/>
                          <a:cs typeface="Be Vietnam Pro" pitchFamily="34" charset="-120"/>
                        </a:rPr>
                        <a:t>Users showed us (evidence · round)</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5A5F6A"/>
                      </a:solidFill>
                      <a:prstDash val="solid"/>
                      <a:round/>
                      <a:headEnd type="none" w="med" len="med"/>
                      <a:tailEnd type="none" w="med" len="med"/>
                    </a:lnL>
                    <a:lnR w="12700" cap="flat" cmpd="sng" algn="ctr">
                      <a:solidFill>
                        <a:srgbClr val="5A5F6A"/>
                      </a:solidFill>
                      <a:prstDash val="solid"/>
                      <a:round/>
                      <a:headEnd type="none" w="med" len="med"/>
                      <a:tailEnd type="none" w="med" len="med"/>
                    </a:lnR>
                    <a:lnT w="12700" cap="flat" cmpd="sng" algn="ctr">
                      <a:solidFill>
                        <a:srgbClr val="4C515E"/>
                      </a:solidFill>
                      <a:prstDash val="solid"/>
                      <a:round/>
                      <a:headEnd type="none" w="med" len="med"/>
                      <a:tailEnd type="none" w="med" len="med"/>
                    </a:lnT>
                    <a:lnB w="12700" cap="flat" cmpd="sng" algn="ctr">
                      <a:solidFill>
                        <a:srgbClr val="5A5F6A"/>
                      </a:solidFill>
                      <a:prstDash val="solid"/>
                      <a:round/>
                      <a:headEnd type="none" w="med" len="med"/>
                      <a:tailEnd type="none" w="med" len="med"/>
                    </a:lnB>
                    <a:solidFill>
                      <a:schemeClr val="bg1"/>
                    </a:solidFill>
                  </a:tcPr>
                </a:tc>
                <a:tc>
                  <a:txBody>
                    <a:bodyPr/>
                    <a:lstStyle/>
                    <a:p>
                      <a:pPr marL="0" indent="0">
                        <a:lnSpc>
                          <a:spcPts val="2240"/>
                        </a:lnSpc>
                        <a:buNone/>
                      </a:pPr>
                      <a:r>
                        <a:rPr lang="en-US" sz="1600" b="1" dirty="0">
                          <a:solidFill>
                            <a:srgbClr val="1B2233"/>
                          </a:solidFill>
                          <a:latin typeface="Be Vietnam Pro" pitchFamily="34" charset="0"/>
                          <a:ea typeface="Be Vietnam Pro" pitchFamily="34" charset="-122"/>
                          <a:cs typeface="Be Vietnam Pro" pitchFamily="34" charset="-120"/>
                        </a:rPr>
                        <a:t>So we changed (after)</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5A5F6A"/>
                      </a:solidFill>
                      <a:prstDash val="solid"/>
                      <a:round/>
                      <a:headEnd type="none" w="med" len="med"/>
                      <a:tailEnd type="none" w="med" len="med"/>
                    </a:lnL>
                    <a:lnR w="12700" cap="flat" cmpd="sng" algn="ctr">
                      <a:solidFill>
                        <a:srgbClr val="5A5F6A"/>
                      </a:solidFill>
                      <a:prstDash val="solid"/>
                      <a:round/>
                      <a:headEnd type="none" w="med" len="med"/>
                      <a:tailEnd type="none" w="med" len="med"/>
                    </a:lnR>
                    <a:lnT w="12700" cap="flat" cmpd="sng" algn="ctr">
                      <a:solidFill>
                        <a:srgbClr val="4C515E"/>
                      </a:solidFill>
                      <a:prstDash val="solid"/>
                      <a:round/>
                      <a:headEnd type="none" w="med" len="med"/>
                      <a:tailEnd type="none" w="med" len="med"/>
                    </a:lnT>
                    <a:lnB w="12700" cap="flat" cmpd="sng" algn="ctr">
                      <a:solidFill>
                        <a:srgbClr val="5A5F6A"/>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59420">
                <a:tc>
                  <a:txBody>
                    <a:bodyPr/>
                    <a:lstStyle/>
                    <a:p>
                      <a:pPr marL="0" indent="0">
                        <a:lnSpc>
                          <a:spcPts val="2240"/>
                        </a:lnSpc>
                        <a:buNone/>
                      </a:pPr>
                      <a:r>
                        <a:rPr lang="en-US" sz="1600" dirty="0">
                          <a:solidFill>
                            <a:srgbClr val="F6F4EF"/>
                          </a:solidFill>
                          <a:latin typeface="Be Vietnam Pro" pitchFamily="34" charset="0"/>
                          <a:ea typeface="Be Vietnam Pro" pitchFamily="34" charset="-122"/>
                          <a:cs typeface="Be Vietnam Pro" pitchFamily="34" charset="-120"/>
                        </a:rPr>
                        <a:t>[initial assumption]</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4C515E"/>
                      </a:solidFill>
                      <a:prstDash val="solid"/>
                      <a:round/>
                      <a:headEnd type="none" w="med" len="med"/>
                      <a:tailEnd type="none" w="med" len="med"/>
                    </a:lnR>
                    <a:lnT w="12700" cap="flat" cmpd="sng" algn="ctr">
                      <a:solidFill>
                        <a:srgbClr val="5A5F6A"/>
                      </a:solidFill>
                      <a:prstDash val="solid"/>
                      <a:round/>
                      <a:headEnd type="none" w="med" len="med"/>
                      <a:tailEnd type="none" w="med" len="med"/>
                    </a:lnT>
                    <a:lnB w="12700" cap="flat" cmpd="sng" algn="ctr">
                      <a:solidFill>
                        <a:srgbClr val="4C515E"/>
                      </a:solidFill>
                      <a:prstDash val="solid"/>
                      <a:round/>
                      <a:headEnd type="none" w="med" len="med"/>
                      <a:tailEnd type="none" w="med" len="med"/>
                    </a:lnB>
                  </a:tcPr>
                </a:tc>
                <a:tc>
                  <a:txBody>
                    <a:bodyPr/>
                    <a:lstStyle/>
                    <a:p>
                      <a:pPr marL="0" indent="0">
                        <a:lnSpc>
                          <a:spcPts val="2240"/>
                        </a:lnSpc>
                        <a:buNone/>
                      </a:pPr>
                      <a:r>
                        <a:rPr lang="en-US" sz="1600" dirty="0">
                          <a:solidFill>
                            <a:srgbClr val="F6F4EF"/>
                          </a:solidFill>
                          <a:latin typeface="Be Vietnam Pro" pitchFamily="34" charset="0"/>
                          <a:ea typeface="Be Vietnam Pro" pitchFamily="34" charset="-122"/>
                          <a:cs typeface="Be Vietnam Pro" pitchFamily="34" charset="-120"/>
                        </a:rPr>
                        <a:t>[quote / observation, P0x] · R1</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4C515E"/>
                      </a:solidFill>
                      <a:prstDash val="solid"/>
                      <a:round/>
                      <a:headEnd type="none" w="med" len="med"/>
                      <a:tailEnd type="none" w="med" len="med"/>
                    </a:lnR>
                    <a:lnT w="12700" cap="flat" cmpd="sng" algn="ctr">
                      <a:solidFill>
                        <a:srgbClr val="5A5F6A"/>
                      </a:solidFill>
                      <a:prstDash val="solid"/>
                      <a:round/>
                      <a:headEnd type="none" w="med" len="med"/>
                      <a:tailEnd type="none" w="med" len="med"/>
                    </a:lnT>
                    <a:lnB w="12700" cap="flat" cmpd="sng" algn="ctr">
                      <a:solidFill>
                        <a:srgbClr val="4C515E"/>
                      </a:solidFill>
                      <a:prstDash val="solid"/>
                      <a:round/>
                      <a:headEnd type="none" w="med" len="med"/>
                      <a:tailEnd type="none" w="med" len="med"/>
                    </a:lnB>
                  </a:tcPr>
                </a:tc>
                <a:tc>
                  <a:txBody>
                    <a:bodyPr/>
                    <a:lstStyle/>
                    <a:p>
                      <a:pPr marL="0" indent="0">
                        <a:lnSpc>
                          <a:spcPts val="2240"/>
                        </a:lnSpc>
                        <a:buNone/>
                      </a:pPr>
                      <a:r>
                        <a:rPr lang="en-US" sz="1600" dirty="0">
                          <a:solidFill>
                            <a:srgbClr val="F6F4EF"/>
                          </a:solidFill>
                          <a:latin typeface="Be Vietnam Pro" pitchFamily="34" charset="0"/>
                          <a:ea typeface="Be Vietnam Pro" pitchFamily="34" charset="-122"/>
                          <a:cs typeface="Be Vietnam Pro" pitchFamily="34" charset="-120"/>
                        </a:rPr>
                        <a:t>[HMW / segment / scope change]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4C515E"/>
                      </a:solidFill>
                      <a:prstDash val="solid"/>
                      <a:round/>
                      <a:headEnd type="none" w="med" len="med"/>
                      <a:tailEnd type="none" w="med" len="med"/>
                    </a:lnR>
                    <a:lnT w="12700" cap="flat" cmpd="sng" algn="ctr">
                      <a:solidFill>
                        <a:srgbClr val="5A5F6A"/>
                      </a:solidFill>
                      <a:prstDash val="solid"/>
                      <a:round/>
                      <a:headEnd type="none" w="med" len="med"/>
                      <a:tailEnd type="none" w="med" len="med"/>
                    </a:lnT>
                    <a:lnB w="12700" cap="flat" cmpd="sng" algn="ctr">
                      <a:solidFill>
                        <a:srgbClr val="4C515E"/>
                      </a:solidFill>
                      <a:prstDash val="solid"/>
                      <a:round/>
                      <a:headEnd type="none" w="med" len="med"/>
                      <a:tailEnd type="none" w="med" len="med"/>
                    </a:lnB>
                  </a:tcPr>
                </a:tc>
                <a:extLst>
                  <a:ext uri="{0D108BD9-81ED-4DB2-BD59-A6C34878D82A}">
                    <a16:rowId xmlns:a16="http://schemas.microsoft.com/office/drawing/2014/main" val="10001"/>
                  </a:ext>
                </a:extLst>
              </a:tr>
              <a:tr h="474960">
                <a:tc>
                  <a:txBody>
                    <a:bodyPr/>
                    <a:lstStyle/>
                    <a:p>
                      <a:pPr marL="0" indent="0">
                        <a:lnSpc>
                          <a:spcPts val="2240"/>
                        </a:lnSpc>
                        <a:buNone/>
                      </a:pPr>
                      <a:r>
                        <a:rPr lang="en-US" sz="1600" dirty="0">
                          <a:solidFill>
                            <a:srgbClr val="F6F4EF"/>
                          </a:solidFill>
                          <a:latin typeface="Be Vietnam Pro" pitchFamily="34" charset="0"/>
                          <a:ea typeface="Be Vietnam Pro" pitchFamily="34" charset="-122"/>
                          <a:cs typeface="Be Vietnam Pro" pitchFamily="34" charset="-120"/>
                        </a:rPr>
                        <a:t>[initial assumption]</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4C515E"/>
                      </a:solidFill>
                      <a:prstDash val="solid"/>
                      <a:round/>
                      <a:headEnd type="none" w="med" len="med"/>
                      <a:tailEnd type="none" w="med" len="med"/>
                    </a:lnR>
                    <a:lnT w="12700" cap="flat" cmpd="sng" algn="ctr">
                      <a:solidFill>
                        <a:srgbClr val="4C515E"/>
                      </a:solidFill>
                      <a:prstDash val="solid"/>
                      <a:round/>
                      <a:headEnd type="none" w="med" len="med"/>
                      <a:tailEnd type="none" w="med" len="med"/>
                    </a:lnT>
                    <a:lnB w="12700" cap="flat" cmpd="sng" algn="ctr">
                      <a:solidFill>
                        <a:srgbClr val="4C515E"/>
                      </a:solidFill>
                      <a:prstDash val="solid"/>
                      <a:round/>
                      <a:headEnd type="none" w="med" len="med"/>
                      <a:tailEnd type="none" w="med" len="med"/>
                    </a:lnB>
                  </a:tcPr>
                </a:tc>
                <a:tc>
                  <a:txBody>
                    <a:bodyPr/>
                    <a:lstStyle/>
                    <a:p>
                      <a:pPr marL="0" indent="0">
                        <a:lnSpc>
                          <a:spcPts val="2240"/>
                        </a:lnSpc>
                        <a:buNone/>
                      </a:pPr>
                      <a:r>
                        <a:rPr lang="en-US" sz="1600" dirty="0">
                          <a:solidFill>
                            <a:srgbClr val="F6F4EF"/>
                          </a:solidFill>
                          <a:latin typeface="Be Vietnam Pro" pitchFamily="34" charset="0"/>
                          <a:ea typeface="Be Vietnam Pro" pitchFamily="34" charset="-122"/>
                          <a:cs typeface="Be Vietnam Pro" pitchFamily="34" charset="-120"/>
                        </a:rPr>
                        <a:t>[quote / observation, P0x] · R2</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4C515E"/>
                      </a:solidFill>
                      <a:prstDash val="solid"/>
                      <a:round/>
                      <a:headEnd type="none" w="med" len="med"/>
                      <a:tailEnd type="none" w="med" len="med"/>
                    </a:lnR>
                    <a:lnT w="12700" cap="flat" cmpd="sng" algn="ctr">
                      <a:solidFill>
                        <a:srgbClr val="4C515E"/>
                      </a:solidFill>
                      <a:prstDash val="solid"/>
                      <a:round/>
                      <a:headEnd type="none" w="med" len="med"/>
                      <a:tailEnd type="none" w="med" len="med"/>
                    </a:lnT>
                    <a:lnB w="12700" cap="flat" cmpd="sng" algn="ctr">
                      <a:solidFill>
                        <a:srgbClr val="4C515E"/>
                      </a:solidFill>
                      <a:prstDash val="solid"/>
                      <a:round/>
                      <a:headEnd type="none" w="med" len="med"/>
                      <a:tailEnd type="none" w="med" len="med"/>
                    </a:lnB>
                  </a:tcPr>
                </a:tc>
                <a:tc>
                  <a:txBody>
                    <a:bodyPr/>
                    <a:lstStyle/>
                    <a:p>
                      <a:pPr marL="0" indent="0">
                        <a:lnSpc>
                          <a:spcPts val="2240"/>
                        </a:lnSpc>
                        <a:buNone/>
                      </a:pPr>
                      <a:r>
                        <a:rPr lang="en-US" sz="1600" dirty="0">
                          <a:solidFill>
                            <a:srgbClr val="F6F4EF"/>
                          </a:solidFill>
                          <a:latin typeface="Be Vietnam Pro" pitchFamily="34" charset="0"/>
                          <a:ea typeface="Be Vietnam Pro" pitchFamily="34" charset="-122"/>
                          <a:cs typeface="Be Vietnam Pro" pitchFamily="34" charset="-120"/>
                        </a:rPr>
                        <a:t>[change]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4C515E"/>
                      </a:solidFill>
                      <a:prstDash val="solid"/>
                      <a:round/>
                      <a:headEnd type="none" w="med" len="med"/>
                      <a:tailEnd type="none" w="med" len="med"/>
                    </a:lnL>
                    <a:lnR w="12700" cap="flat" cmpd="sng" algn="ctr">
                      <a:solidFill>
                        <a:srgbClr val="4C515E"/>
                      </a:solidFill>
                      <a:prstDash val="solid"/>
                      <a:round/>
                      <a:headEnd type="none" w="med" len="med"/>
                      <a:tailEnd type="none" w="med" len="med"/>
                    </a:lnR>
                    <a:lnT w="12700" cap="flat" cmpd="sng" algn="ctr">
                      <a:solidFill>
                        <a:srgbClr val="4C515E"/>
                      </a:solidFill>
                      <a:prstDash val="solid"/>
                      <a:round/>
                      <a:headEnd type="none" w="med" len="med"/>
                      <a:tailEnd type="none" w="med" len="med"/>
                    </a:lnT>
                    <a:lnB w="12700" cap="flat" cmpd="sng" algn="ctr">
                      <a:solidFill>
                        <a:srgbClr val="4C515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6" name="Shape 13"/>
          <p:cNvSpPr/>
          <p:nvPr/>
        </p:nvSpPr>
        <p:spPr>
          <a:xfrm>
            <a:off x="812800" y="4800402"/>
            <a:ext cx="10566400" cy="798810"/>
          </a:xfrm>
          <a:prstGeom prst="roundRect">
            <a:avLst>
              <a:gd name="adj" fmla="val 12719"/>
            </a:avLst>
          </a:prstGeom>
          <a:solidFill>
            <a:srgbClr val="E9A56F"/>
          </a:solidFill>
          <a:ln/>
        </p:spPr>
        <p:txBody>
          <a:bodyPr/>
          <a:lstStyle/>
          <a:p>
            <a:endParaRPr lang="en-VN"/>
          </a:p>
        </p:txBody>
      </p:sp>
      <p:sp>
        <p:nvSpPr>
          <p:cNvPr id="17" name="Text 14"/>
          <p:cNvSpPr/>
          <p:nvPr/>
        </p:nvSpPr>
        <p:spPr>
          <a:xfrm>
            <a:off x="1016000" y="4978202"/>
            <a:ext cx="104648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1B2233"/>
                </a:solidFill>
                <a:latin typeface="Be Vietnam Pro" pitchFamily="34" charset="0"/>
                <a:ea typeface="Be Vietnam Pro" pitchFamily="34" charset="-122"/>
                <a:cs typeface="Be Vietnam Pro" pitchFamily="34" charset="-120"/>
              </a:rPr>
              <a:t>OUR PIVOT</a:t>
            </a:r>
            <a:endParaRPr lang="en-US" sz="1100" dirty="0"/>
          </a:p>
        </p:txBody>
      </p:sp>
      <p:sp>
        <p:nvSpPr>
          <p:cNvPr id="18" name="Text 15"/>
          <p:cNvSpPr/>
          <p:nvPr/>
        </p:nvSpPr>
        <p:spPr>
          <a:xfrm>
            <a:off x="1016000" y="5173762"/>
            <a:ext cx="10464800"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B2233"/>
                </a:solidFill>
                <a:latin typeface="Be Vietnam Pro" pitchFamily="34" charset="0"/>
                <a:ea typeface="Be Vietnam Pro" pitchFamily="34" charset="-122"/>
                <a:cs typeface="Be Vietnam Pro" pitchFamily="34" charset="-120"/>
              </a:rPr>
              <a:t>When [P0x] told us "[..]", we moved from [old focus] to [new focus].</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~1:00 · Repeated engagement (≥2 rounds with the same stakeholders) and what it changed: the key slide for the 27–35 band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A56F"/>
                </a:solidFill>
                <a:latin typeface="Be Vietnam Pro" pitchFamily="34" charset="0"/>
                <a:ea typeface="Be Vietnam Pro" pitchFamily="34" charset="-122"/>
                <a:cs typeface="Be Vietnam Pro" pitchFamily="34" charset="-120"/>
              </a:rPr>
              <a:t>RUBRIC CRITERION 3 OF 4 · 20 POINTS</a:t>
            </a:r>
            <a:endParaRPr lang="en-US" sz="1200" dirty="0"/>
          </a:p>
        </p:txBody>
      </p:sp>
      <p:sp>
        <p:nvSpPr>
          <p:cNvPr id="3" name="Text 1"/>
          <p:cNvSpPr/>
          <p:nvPr/>
        </p:nvSpPr>
        <p:spPr>
          <a:xfrm>
            <a:off x="812800" y="81280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E9A56F"/>
                </a:solidFill>
                <a:latin typeface="Be Vietnam Pro" pitchFamily="34" charset="0"/>
                <a:ea typeface="Be Vietnam Pro" pitchFamily="34" charset="-122"/>
                <a:cs typeface="Be Vietnam Pro" pitchFamily="34" charset="-120"/>
              </a:rPr>
              <a:t>03</a:t>
            </a:r>
            <a:endParaRPr lang="en-US" sz="10000" dirty="0"/>
          </a:p>
        </p:txBody>
      </p:sp>
      <p:sp>
        <p:nvSpPr>
          <p:cNvPr id="4" name="Text 2"/>
          <p:cNvSpPr/>
          <p:nvPr/>
        </p:nvSpPr>
        <p:spPr>
          <a:xfrm>
            <a:off x="812800" y="2286000"/>
            <a:ext cx="9810750" cy="119886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6F4EF"/>
                </a:solidFill>
                <a:latin typeface="Be Vietnam Pro" pitchFamily="34" charset="0"/>
                <a:ea typeface="Be Vietnam Pro" pitchFamily="34" charset="-122"/>
                <a:cs typeface="Be Vietnam Pro" pitchFamily="34" charset="-120"/>
              </a:rPr>
              <a:t>Existing solutions &amp; market landscape</a:t>
            </a:r>
            <a:endParaRPr lang="en-US" sz="4400" dirty="0"/>
          </a:p>
        </p:txBody>
      </p:sp>
      <p:sp>
        <p:nvSpPr>
          <p:cNvPr id="5" name="Shape 3"/>
          <p:cNvSpPr/>
          <p:nvPr/>
        </p:nvSpPr>
        <p:spPr>
          <a:xfrm>
            <a:off x="812800" y="4726980"/>
            <a:ext cx="5207000" cy="1115020"/>
          </a:xfrm>
          <a:prstGeom prst="roundRect">
            <a:avLst>
              <a:gd name="adj" fmla="val 9112"/>
            </a:avLst>
          </a:prstGeom>
          <a:solidFill>
            <a:srgbClr val="26304A"/>
          </a:solidFill>
          <a:ln/>
        </p:spPr>
        <p:txBody>
          <a:bodyPr/>
          <a:lstStyle/>
          <a:p>
            <a:endParaRPr lang="en-VN"/>
          </a:p>
        </p:txBody>
      </p:sp>
      <p:sp>
        <p:nvSpPr>
          <p:cNvPr id="6" name="Text 4"/>
          <p:cNvSpPr/>
          <p:nvPr/>
        </p:nvSpPr>
        <p:spPr>
          <a:xfrm>
            <a:off x="9906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What we show</a:t>
            </a:r>
            <a:endParaRPr lang="en-US" sz="1200" dirty="0"/>
          </a:p>
        </p:txBody>
      </p:sp>
      <p:sp>
        <p:nvSpPr>
          <p:cNvPr id="7" name="Text 5"/>
          <p:cNvSpPr/>
          <p:nvPr/>
        </p:nvSpPr>
        <p:spPr>
          <a:xfrm>
            <a:off x="990600" y="5168900"/>
            <a:ext cx="499694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What people use today and the gap nobody fills</a:t>
            </a:r>
            <a:endParaRPr lang="en-US" sz="1500" dirty="0"/>
          </a:p>
        </p:txBody>
      </p:sp>
      <p:sp>
        <p:nvSpPr>
          <p:cNvPr id="8" name="Shape 6"/>
          <p:cNvSpPr/>
          <p:nvPr/>
        </p:nvSpPr>
        <p:spPr>
          <a:xfrm>
            <a:off x="6172200" y="4726980"/>
            <a:ext cx="5207000" cy="1115020"/>
          </a:xfrm>
          <a:prstGeom prst="roundRect">
            <a:avLst>
              <a:gd name="adj" fmla="val 9112"/>
            </a:avLst>
          </a:prstGeom>
          <a:solidFill>
            <a:srgbClr val="26304A"/>
          </a:solidFill>
          <a:ln/>
        </p:spPr>
        <p:txBody>
          <a:bodyPr/>
          <a:lstStyle/>
          <a:p>
            <a:endParaRPr lang="en-VN"/>
          </a:p>
        </p:txBody>
      </p:sp>
      <p:sp>
        <p:nvSpPr>
          <p:cNvPr id="9" name="Text 7"/>
          <p:cNvSpPr/>
          <p:nvPr/>
        </p:nvSpPr>
        <p:spPr>
          <a:xfrm>
            <a:off x="63500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Methods</a:t>
            </a:r>
            <a:endParaRPr lang="en-US" sz="1200" dirty="0"/>
          </a:p>
        </p:txBody>
      </p:sp>
      <p:sp>
        <p:nvSpPr>
          <p:cNvPr id="10" name="Text 8"/>
          <p:cNvSpPr/>
          <p:nvPr/>
        </p:nvSpPr>
        <p:spPr>
          <a:xfrm>
            <a:off x="63500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Comparison matrix · Perceptual map · Strategy canvas · ERRC grid · Opportunity gap</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Five slides · about 1:35 · Divider: move on quickly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C3 · BENCHMARKING (20) · METHOD: COMPARISON MATRIX</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How current options meet the needs users ranked highest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255337673"/>
              </p:ext>
            </p:extLst>
          </p:nvPr>
        </p:nvGraphicFramePr>
        <p:xfrm>
          <a:off x="825500" y="1470620"/>
          <a:ext cx="10553697" cy="3987600"/>
        </p:xfrm>
        <a:graphic>
          <a:graphicData uri="http://schemas.openxmlformats.org/drawingml/2006/table">
            <a:tbl>
              <a:tblPr/>
              <a:tblGrid>
                <a:gridCol w="1507671">
                  <a:extLst>
                    <a:ext uri="{9D8B030D-6E8A-4147-A177-3AD203B41FA5}">
                      <a16:colId xmlns:a16="http://schemas.microsoft.com/office/drawing/2014/main" val="20000"/>
                    </a:ext>
                  </a:extLst>
                </a:gridCol>
                <a:gridCol w="1507671">
                  <a:extLst>
                    <a:ext uri="{9D8B030D-6E8A-4147-A177-3AD203B41FA5}">
                      <a16:colId xmlns:a16="http://schemas.microsoft.com/office/drawing/2014/main" val="20001"/>
                    </a:ext>
                  </a:extLst>
                </a:gridCol>
                <a:gridCol w="1507671">
                  <a:extLst>
                    <a:ext uri="{9D8B030D-6E8A-4147-A177-3AD203B41FA5}">
                      <a16:colId xmlns:a16="http://schemas.microsoft.com/office/drawing/2014/main" val="20002"/>
                    </a:ext>
                  </a:extLst>
                </a:gridCol>
                <a:gridCol w="1507671">
                  <a:extLst>
                    <a:ext uri="{9D8B030D-6E8A-4147-A177-3AD203B41FA5}">
                      <a16:colId xmlns:a16="http://schemas.microsoft.com/office/drawing/2014/main" val="20003"/>
                    </a:ext>
                  </a:extLst>
                </a:gridCol>
                <a:gridCol w="1507671">
                  <a:extLst>
                    <a:ext uri="{9D8B030D-6E8A-4147-A177-3AD203B41FA5}">
                      <a16:colId xmlns:a16="http://schemas.microsoft.com/office/drawing/2014/main" val="20004"/>
                    </a:ext>
                  </a:extLst>
                </a:gridCol>
                <a:gridCol w="1507671">
                  <a:extLst>
                    <a:ext uri="{9D8B030D-6E8A-4147-A177-3AD203B41FA5}">
                      <a16:colId xmlns:a16="http://schemas.microsoft.com/office/drawing/2014/main" val="20005"/>
                    </a:ext>
                  </a:extLst>
                </a:gridCol>
                <a:gridCol w="1507671">
                  <a:extLst>
                    <a:ext uri="{9D8B030D-6E8A-4147-A177-3AD203B41FA5}">
                      <a16:colId xmlns:a16="http://schemas.microsoft.com/office/drawing/2014/main" val="20006"/>
                    </a:ext>
                  </a:extLst>
                </a:gridCol>
              </a:tblGrid>
              <a:tr h="1043880">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Alternative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Type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[Need-based criterion 1]</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[Criterion 2]</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[Criterion 3]</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Price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2240"/>
                        </a:lnSpc>
                        <a:buNone/>
                      </a:pPr>
                      <a:r>
                        <a:rPr lang="en-US" sz="1600" b="1" dirty="0">
                          <a:solidFill>
                            <a:srgbClr val="F6F4EF"/>
                          </a:solidFill>
                          <a:latin typeface="Be Vietnam Pro" pitchFamily="34" charset="0"/>
                          <a:ea typeface="Be Vietnam Pro" pitchFamily="34" charset="-122"/>
                          <a:cs typeface="Be Vietnam Pro" pitchFamily="34" charset="-120"/>
                        </a:rPr>
                        <a:t>Source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0"/>
                  </a:ext>
                </a:extLst>
              </a:tr>
              <a:tr h="759420">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Direct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S$[__]</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[pricing page]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474960">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Direct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S$[__]</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[reviews]</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474960">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Indirect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S$[__]</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[docs]</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474960">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Indirect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S$[__]</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759420">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[manual workaround]</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Non-consumption</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[value]</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[time cost]</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240"/>
                        </a:lnSpc>
                        <a:buNone/>
                      </a:pPr>
                      <a:r>
                        <a:rPr lang="en-US" sz="1600" dirty="0">
                          <a:solidFill>
                            <a:srgbClr val="1B2233"/>
                          </a:solidFill>
                          <a:latin typeface="Be Vietnam Pro" pitchFamily="34" charset="0"/>
                          <a:ea typeface="Be Vietnam Pro" pitchFamily="34" charset="-122"/>
                          <a:cs typeface="Be Vietnam Pro" pitchFamily="34" charset="-120"/>
                        </a:rPr>
                        <a:t>P0x</a:t>
                      </a:r>
                      <a:endParaRPr lang="en-US" sz="1600" dirty="0">
                        <a:latin typeface="Be Vietnam Pro" charset="0"/>
                        <a:ea typeface="Be Vietnam Pro" charset="0"/>
                        <a:cs typeface="Be Vietnam Pro" charset="0"/>
                      </a:endParaRPr>
                    </a:p>
                  </a:txBody>
                  <a:tcPr marL="88900" marR="889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~0:25 · Criteria come from ranked needs · Evidence per cell · Say where an alternative beats us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C3 · BENCHMARKING (20) · METHOD: PERCEPTUAL MAP</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Where users place today's options on what matters most</a:t>
            </a:r>
            <a:endParaRPr lang="en-US" sz="2800" dirty="0"/>
          </a:p>
        </p:txBody>
      </p:sp>
      <p:pic>
        <p:nvPicPr>
          <p:cNvPr id="4" name="Image 0" descr="Perceptual map template: two attribute axes with direct, indirect and manual alternatives plotted and an empty top-right quadrant marked as a possible gap"/>
          <p:cNvPicPr>
            <a:picLocks noChangeAspect="1"/>
          </p:cNvPicPr>
          <p:nvPr/>
        </p:nvPicPr>
        <p:blipFill>
          <a:blip r:embed="rId3"/>
          <a:srcRect/>
          <a:stretch/>
        </p:blipFill>
        <p:spPr>
          <a:xfrm>
            <a:off x="812800" y="1457920"/>
            <a:ext cx="6350000" cy="3810000"/>
          </a:xfrm>
          <a:prstGeom prst="rect">
            <a:avLst/>
          </a:prstGeom>
        </p:spPr>
      </p:pic>
      <p:sp>
        <p:nvSpPr>
          <p:cNvPr id="5" name="Shape 2"/>
          <p:cNvSpPr/>
          <p:nvPr/>
        </p:nvSpPr>
        <p:spPr>
          <a:xfrm>
            <a:off x="7343775" y="1461095"/>
            <a:ext cx="4032250" cy="1822450"/>
          </a:xfrm>
          <a:prstGeom prst="roundRect">
            <a:avLst>
              <a:gd name="adj" fmla="val 5401"/>
            </a:avLst>
          </a:prstGeom>
          <a:solidFill>
            <a:srgbClr val="FFFFFF"/>
          </a:solidFill>
          <a:ln w="6350">
            <a:solidFill>
              <a:srgbClr val="DDD8CC"/>
            </a:solidFill>
            <a:prstDash val="solid"/>
          </a:ln>
        </p:spPr>
        <p:txBody>
          <a:bodyPr/>
          <a:lstStyle/>
          <a:p>
            <a:endParaRPr lang="en-VN"/>
          </a:p>
        </p:txBody>
      </p:sp>
      <p:sp>
        <p:nvSpPr>
          <p:cNvPr id="6" name="Text 3"/>
          <p:cNvSpPr/>
          <p:nvPr/>
        </p:nvSpPr>
        <p:spPr>
          <a:xfrm>
            <a:off x="7550150" y="1667470"/>
            <a:ext cx="3728085" cy="262682"/>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2F5597"/>
                </a:solidFill>
                <a:latin typeface="Be Vietnam Pro" pitchFamily="34" charset="0"/>
                <a:ea typeface="Be Vietnam Pro" pitchFamily="34" charset="-122"/>
                <a:cs typeface="Be Vietnam Pro" pitchFamily="34" charset="-120"/>
              </a:rPr>
              <a:t>How we built it</a:t>
            </a:r>
            <a:endParaRPr lang="en-US" sz="1560" dirty="0"/>
          </a:p>
        </p:txBody>
      </p:sp>
      <p:sp>
        <p:nvSpPr>
          <p:cNvPr id="7" name="Text 4"/>
          <p:cNvSpPr/>
          <p:nvPr/>
        </p:nvSpPr>
        <p:spPr>
          <a:xfrm>
            <a:off x="7550150" y="1980952"/>
            <a:ext cx="3728085" cy="242342"/>
          </a:xfrm>
          <a:prstGeom prst="rect">
            <a:avLst/>
          </a:prstGeom>
          <a:noFill/>
          <a:ln/>
        </p:spPr>
        <p:txBody>
          <a:bodyPr wrap="square" lIns="0" tIns="0" rIns="0" bIns="0" rtlCol="0" anchor="t">
            <a:normAutofit/>
          </a:bodyPr>
          <a:lstStyle/>
          <a:p>
            <a:pPr marL="0" indent="0" algn="l">
              <a:lnSpc>
                <a:spcPts val="1722"/>
              </a:lnSpc>
              <a:buNone/>
            </a:pPr>
            <a:r>
              <a:rPr lang="en-US" sz="1276" dirty="0">
                <a:solidFill>
                  <a:srgbClr val="1B2233"/>
                </a:solidFill>
                <a:latin typeface="Be Vietnam Pro" pitchFamily="34" charset="0"/>
                <a:ea typeface="Be Vietnam Pro" pitchFamily="34" charset="-122"/>
                <a:cs typeface="Be Vietnam Pro" pitchFamily="34" charset="-120"/>
              </a:rPr>
              <a:t>1. Axes = our two top-ranked user needs</a:t>
            </a:r>
            <a:endParaRPr lang="en-US" sz="1276" dirty="0"/>
          </a:p>
        </p:txBody>
      </p:sp>
      <p:sp>
        <p:nvSpPr>
          <p:cNvPr id="8" name="Text 5"/>
          <p:cNvSpPr/>
          <p:nvPr/>
        </p:nvSpPr>
        <p:spPr>
          <a:xfrm>
            <a:off x="7550150" y="2274094"/>
            <a:ext cx="3728085" cy="242292"/>
          </a:xfrm>
          <a:prstGeom prst="rect">
            <a:avLst/>
          </a:prstGeom>
          <a:noFill/>
          <a:ln/>
        </p:spPr>
        <p:txBody>
          <a:bodyPr wrap="square" lIns="0" tIns="0" rIns="0" bIns="0" rtlCol="0" anchor="t">
            <a:normAutofit/>
          </a:bodyPr>
          <a:lstStyle/>
          <a:p>
            <a:pPr marL="0" indent="0" algn="l">
              <a:lnSpc>
                <a:spcPts val="1722"/>
              </a:lnSpc>
              <a:buNone/>
            </a:pPr>
            <a:r>
              <a:rPr lang="en-US" sz="1276" dirty="0">
                <a:solidFill>
                  <a:srgbClr val="1B2233"/>
                </a:solidFill>
                <a:latin typeface="Be Vietnam Pro" pitchFamily="34" charset="0"/>
                <a:ea typeface="Be Vietnam Pro" pitchFamily="34" charset="-122"/>
                <a:cs typeface="Be Vietnam Pro" pitchFamily="34" charset="-120"/>
              </a:rPr>
              <a:t>2. Options = direct, indirect and manual</a:t>
            </a:r>
            <a:endParaRPr lang="en-US" sz="1276" dirty="0"/>
          </a:p>
        </p:txBody>
      </p:sp>
      <p:sp>
        <p:nvSpPr>
          <p:cNvPr id="9" name="Text 6"/>
          <p:cNvSpPr/>
          <p:nvPr/>
        </p:nvSpPr>
        <p:spPr>
          <a:xfrm>
            <a:off x="7550150" y="2567186"/>
            <a:ext cx="3728085" cy="242292"/>
          </a:xfrm>
          <a:prstGeom prst="rect">
            <a:avLst/>
          </a:prstGeom>
          <a:noFill/>
          <a:ln/>
        </p:spPr>
        <p:txBody>
          <a:bodyPr wrap="square" lIns="0" tIns="0" rIns="0" bIns="0" rtlCol="0" anchor="t">
            <a:normAutofit/>
          </a:bodyPr>
          <a:lstStyle/>
          <a:p>
            <a:pPr marL="0" indent="0" algn="l">
              <a:lnSpc>
                <a:spcPts val="1722"/>
              </a:lnSpc>
              <a:buNone/>
            </a:pPr>
            <a:r>
              <a:rPr lang="en-US" sz="1276" dirty="0">
                <a:solidFill>
                  <a:srgbClr val="1B2233"/>
                </a:solidFill>
                <a:latin typeface="Be Vietnam Pro" pitchFamily="34" charset="0"/>
                <a:ea typeface="Be Vietnam Pro" pitchFamily="34" charset="-122"/>
                <a:cs typeface="Be Vietnam Pro" pitchFamily="34" charset="-120"/>
              </a:rPr>
              <a:t>3. [__] users placed each option 1–5</a:t>
            </a:r>
            <a:endParaRPr lang="en-US" sz="1276" dirty="0"/>
          </a:p>
        </p:txBody>
      </p:sp>
      <p:sp>
        <p:nvSpPr>
          <p:cNvPr id="10" name="Text 7"/>
          <p:cNvSpPr/>
          <p:nvPr/>
        </p:nvSpPr>
        <p:spPr>
          <a:xfrm>
            <a:off x="7550150" y="2860278"/>
            <a:ext cx="3728085" cy="242292"/>
          </a:xfrm>
          <a:prstGeom prst="rect">
            <a:avLst/>
          </a:prstGeom>
          <a:noFill/>
          <a:ln/>
        </p:spPr>
        <p:txBody>
          <a:bodyPr wrap="square" lIns="0" tIns="0" rIns="0" bIns="0" rtlCol="0" anchor="t">
            <a:normAutofit/>
          </a:bodyPr>
          <a:lstStyle/>
          <a:p>
            <a:pPr marL="0" indent="0" algn="l">
              <a:lnSpc>
                <a:spcPts val="1722"/>
              </a:lnSpc>
              <a:buNone/>
            </a:pPr>
            <a:r>
              <a:rPr lang="en-US" sz="1276" dirty="0">
                <a:solidFill>
                  <a:srgbClr val="1B2233"/>
                </a:solidFill>
                <a:latin typeface="Be Vietnam Pro" pitchFamily="34" charset="0"/>
                <a:ea typeface="Be Vietnam Pro" pitchFamily="34" charset="-122"/>
                <a:cs typeface="Be Vietnam Pro" pitchFamily="34" charset="-120"/>
              </a:rPr>
              <a:t>4. Checked with [__] participants</a:t>
            </a:r>
            <a:endParaRPr lang="en-US" sz="1276" dirty="0"/>
          </a:p>
        </p:txBody>
      </p:sp>
      <p:sp>
        <p:nvSpPr>
          <p:cNvPr id="11" name="Shape 8"/>
          <p:cNvSpPr/>
          <p:nvPr/>
        </p:nvSpPr>
        <p:spPr>
          <a:xfrm>
            <a:off x="7343775" y="3442295"/>
            <a:ext cx="4032250" cy="1822450"/>
          </a:xfrm>
          <a:prstGeom prst="roundRect">
            <a:avLst>
              <a:gd name="adj" fmla="val 5401"/>
            </a:avLst>
          </a:prstGeom>
          <a:solidFill>
            <a:srgbClr val="FFFFFF"/>
          </a:solidFill>
          <a:ln w="6350">
            <a:solidFill>
              <a:srgbClr val="DDD8CC"/>
            </a:solidFill>
            <a:prstDash val="solid"/>
          </a:ln>
        </p:spPr>
        <p:txBody>
          <a:bodyPr/>
          <a:lstStyle/>
          <a:p>
            <a:endParaRPr lang="en-VN"/>
          </a:p>
        </p:txBody>
      </p:sp>
      <p:sp>
        <p:nvSpPr>
          <p:cNvPr id="12" name="Text 9"/>
          <p:cNvSpPr/>
          <p:nvPr/>
        </p:nvSpPr>
        <p:spPr>
          <a:xfrm>
            <a:off x="7550150" y="3648670"/>
            <a:ext cx="372808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Read it</a:t>
            </a:r>
            <a:endParaRPr lang="en-US" sz="1600" dirty="0"/>
          </a:p>
        </p:txBody>
      </p:sp>
      <p:sp>
        <p:nvSpPr>
          <p:cNvPr id="13" name="Text 10"/>
          <p:cNvSpPr/>
          <p:nvPr/>
        </p:nvSpPr>
        <p:spPr>
          <a:xfrm>
            <a:off x="7550150" y="3968700"/>
            <a:ext cx="372808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F5597"/>
                </a:solidFill>
                <a:latin typeface="Be Vietnam Pro" pitchFamily="34" charset="0"/>
                <a:ea typeface="Be Vietnam Pro" pitchFamily="34" charset="-122"/>
                <a:cs typeface="Be Vietnam Pro" pitchFamily="34" charset="-120"/>
              </a:rPr>
              <a:t>●</a:t>
            </a:r>
            <a:r>
              <a:rPr lang="en-US" sz="1300" dirty="0">
                <a:solidFill>
                  <a:srgbClr val="1B2233"/>
                </a:solidFill>
                <a:latin typeface="Be Vietnam Pro" pitchFamily="34" charset="0"/>
                <a:ea typeface="Be Vietnam Pro" pitchFamily="34" charset="-122"/>
                <a:cs typeface="Be Vietnam Pro" pitchFamily="34" charset="-120"/>
              </a:rPr>
              <a:t> Direct   ● Indirect   </a:t>
            </a:r>
            <a:r>
              <a:rPr lang="en-US" sz="1300" dirty="0">
                <a:solidFill>
                  <a:srgbClr val="5B6475"/>
                </a:solidFill>
                <a:latin typeface="Be Vietnam Pro" pitchFamily="34" charset="0"/>
                <a:ea typeface="Be Vietnam Pro" pitchFamily="34" charset="-122"/>
                <a:cs typeface="Be Vietnam Pro" pitchFamily="34" charset="-120"/>
              </a:rPr>
              <a:t>●</a:t>
            </a:r>
            <a:r>
              <a:rPr lang="en-US" sz="1300" dirty="0">
                <a:solidFill>
                  <a:srgbClr val="1B2233"/>
                </a:solidFill>
                <a:latin typeface="Be Vietnam Pro" pitchFamily="34" charset="0"/>
                <a:ea typeface="Be Vietnam Pro" pitchFamily="34" charset="-122"/>
                <a:cs typeface="Be Vietnam Pro" pitchFamily="34" charset="-120"/>
              </a:rPr>
              <a:t> Manual workaround</a:t>
            </a:r>
            <a:endParaRPr lang="en-US" sz="1300" dirty="0"/>
          </a:p>
        </p:txBody>
      </p:sp>
      <p:sp>
        <p:nvSpPr>
          <p:cNvPr id="14" name="Text 11"/>
          <p:cNvSpPr/>
          <p:nvPr/>
        </p:nvSpPr>
        <p:spPr>
          <a:xfrm>
            <a:off x="7550150" y="4267746"/>
            <a:ext cx="3728085"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Empty space + unmet need = candidate gap. Perceptions are subjective, so name the sample.</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~0:20 · Axes come from ranked needs, not from what is easy to draw · Source: perceptual map method (Appinio)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C3 · BENCHMARKING (20) · METHOD: STRATEGY CANVAS (AS-IS)</a:t>
            </a:r>
            <a:endParaRPr lang="en-US" sz="1200" dirty="0"/>
          </a:p>
        </p:txBody>
      </p:sp>
      <p:sp>
        <p:nvSpPr>
          <p:cNvPr id="3" name="Text 1"/>
          <p:cNvSpPr/>
          <p:nvPr/>
        </p:nvSpPr>
        <p:spPr>
          <a:xfrm>
            <a:off x="812800" y="812800"/>
            <a:ext cx="10883392" cy="377825"/>
          </a:xfrm>
          <a:prstGeom prst="rect">
            <a:avLst/>
          </a:prstGeom>
          <a:noFill/>
          <a:ln/>
        </p:spPr>
        <p:txBody>
          <a:bodyPr wrap="square" lIns="0" tIns="0" rIns="0" bIns="0" rtlCol="0" anchor="t">
            <a:normAutofit/>
          </a:bodyPr>
          <a:lstStyle/>
          <a:p>
            <a:pPr marL="0" indent="0" algn="l">
              <a:lnSpc>
                <a:spcPts val="2820"/>
              </a:lnSpc>
              <a:buNone/>
            </a:pPr>
            <a:r>
              <a:rPr lang="en-US" sz="2564" b="1" dirty="0">
                <a:solidFill>
                  <a:srgbClr val="1B2233"/>
                </a:solidFill>
                <a:latin typeface="Be Vietnam Pro" pitchFamily="34" charset="0"/>
                <a:ea typeface="Be Vietnam Pro" pitchFamily="34" charset="-122"/>
                <a:cs typeface="Be Vietnam Pro" pitchFamily="34" charset="-120"/>
              </a:rPr>
              <a:t>What the market competes on today</a:t>
            </a:r>
            <a:endParaRPr lang="en-US" sz="2564" dirty="0"/>
          </a:p>
        </p:txBody>
      </p:sp>
      <p:pic>
        <p:nvPicPr>
          <p:cNvPr id="4" name="Image 0" descr="Strategy canvas template: six competing factors on the horizontal axis, offering level from low to high on the vertical axis, with three value curves"/>
          <p:cNvPicPr>
            <a:picLocks noChangeAspect="1"/>
          </p:cNvPicPr>
          <p:nvPr/>
        </p:nvPicPr>
        <p:blipFill>
          <a:blip r:embed="rId3"/>
          <a:srcRect l="-10" r="-10"/>
          <a:stretch/>
        </p:blipFill>
        <p:spPr>
          <a:xfrm>
            <a:off x="812800" y="1419225"/>
            <a:ext cx="6858000" cy="3810000"/>
          </a:xfrm>
          <a:prstGeom prst="rect">
            <a:avLst/>
          </a:prstGeom>
        </p:spPr>
      </p:pic>
      <p:sp>
        <p:nvSpPr>
          <p:cNvPr id="5" name="Shape 2"/>
          <p:cNvSpPr/>
          <p:nvPr/>
        </p:nvSpPr>
        <p:spPr>
          <a:xfrm>
            <a:off x="7851775" y="1422400"/>
            <a:ext cx="3524250" cy="2128838"/>
          </a:xfrm>
          <a:prstGeom prst="roundRect">
            <a:avLst>
              <a:gd name="adj" fmla="val 4623"/>
            </a:avLst>
          </a:prstGeom>
          <a:solidFill>
            <a:srgbClr val="FFFFFF"/>
          </a:solidFill>
          <a:ln w="6350">
            <a:solidFill>
              <a:srgbClr val="DDD8CC"/>
            </a:solidFill>
            <a:prstDash val="solid"/>
          </a:ln>
        </p:spPr>
        <p:txBody>
          <a:bodyPr/>
          <a:lstStyle/>
          <a:p>
            <a:endParaRPr lang="en-VN"/>
          </a:p>
        </p:txBody>
      </p:sp>
      <p:sp>
        <p:nvSpPr>
          <p:cNvPr id="6" name="Text 3"/>
          <p:cNvSpPr/>
          <p:nvPr/>
        </p:nvSpPr>
        <p:spPr>
          <a:xfrm>
            <a:off x="8058150" y="1628775"/>
            <a:ext cx="3204845" cy="205829"/>
          </a:xfrm>
          <a:prstGeom prst="rect">
            <a:avLst/>
          </a:prstGeom>
          <a:noFill/>
          <a:ln/>
        </p:spPr>
        <p:txBody>
          <a:bodyPr wrap="square" lIns="0" tIns="0" rIns="0" bIns="0" rtlCol="0" anchor="t">
            <a:normAutofit/>
          </a:bodyPr>
          <a:lstStyle/>
          <a:p>
            <a:pPr marL="0" indent="0" algn="l">
              <a:lnSpc>
                <a:spcPts val="1422"/>
              </a:lnSpc>
              <a:buNone/>
            </a:pPr>
            <a:r>
              <a:rPr lang="en-US" sz="1185" b="1" dirty="0">
                <a:solidFill>
                  <a:srgbClr val="2F5597"/>
                </a:solidFill>
                <a:latin typeface="Be Vietnam Pro" pitchFamily="34" charset="0"/>
                <a:ea typeface="Be Vietnam Pro" pitchFamily="34" charset="-122"/>
                <a:cs typeface="Be Vietnam Pro" pitchFamily="34" charset="-120"/>
              </a:rPr>
              <a:t>How to draw it</a:t>
            </a:r>
            <a:endParaRPr lang="en-US" sz="1185" dirty="0"/>
          </a:p>
        </p:txBody>
      </p:sp>
      <p:sp>
        <p:nvSpPr>
          <p:cNvPr id="7" name="Text 4"/>
          <p:cNvSpPr/>
          <p:nvPr/>
        </p:nvSpPr>
        <p:spPr>
          <a:xfrm>
            <a:off x="8058150" y="1885404"/>
            <a:ext cx="3204845" cy="190351"/>
          </a:xfrm>
          <a:prstGeom prst="rect">
            <a:avLst/>
          </a:prstGeom>
          <a:noFill/>
          <a:ln/>
        </p:spPr>
        <p:txBody>
          <a:bodyPr wrap="square" lIns="0" tIns="0" rIns="0" bIns="0" rtlCol="0" anchor="t">
            <a:normAutofit/>
          </a:bodyPr>
          <a:lstStyle/>
          <a:p>
            <a:pPr marL="0" indent="0" algn="l">
              <a:lnSpc>
                <a:spcPts val="1322"/>
              </a:lnSpc>
              <a:buNone/>
            </a:pPr>
            <a:r>
              <a:rPr lang="en-US" sz="979" dirty="0">
                <a:solidFill>
                  <a:srgbClr val="1B2233"/>
                </a:solidFill>
                <a:latin typeface="Be Vietnam Pro" pitchFamily="34" charset="0"/>
                <a:ea typeface="Be Vietnam Pro" pitchFamily="34" charset="-122"/>
                <a:cs typeface="Be Vietnam Pro" pitchFamily="34" charset="-120"/>
              </a:rPr>
              <a:t>1. Name the industry</a:t>
            </a:r>
            <a:endParaRPr lang="en-US" sz="979" dirty="0"/>
          </a:p>
        </p:txBody>
      </p:sp>
      <p:sp>
        <p:nvSpPr>
          <p:cNvPr id="8" name="Text 5"/>
          <p:cNvSpPr/>
          <p:nvPr/>
        </p:nvSpPr>
        <p:spPr>
          <a:xfrm>
            <a:off x="8058150" y="2126555"/>
            <a:ext cx="3204845" cy="355302"/>
          </a:xfrm>
          <a:prstGeom prst="rect">
            <a:avLst/>
          </a:prstGeom>
          <a:noFill/>
          <a:ln/>
        </p:spPr>
        <p:txBody>
          <a:bodyPr wrap="square" lIns="0" tIns="0" rIns="0" bIns="0" rtlCol="0" anchor="t">
            <a:normAutofit/>
          </a:bodyPr>
          <a:lstStyle/>
          <a:p>
            <a:pPr marL="0" indent="0" algn="l">
              <a:lnSpc>
                <a:spcPts val="1311"/>
              </a:lnSpc>
              <a:buNone/>
            </a:pPr>
            <a:r>
              <a:rPr lang="en-US" sz="971" dirty="0">
                <a:solidFill>
                  <a:srgbClr val="1B2233"/>
                </a:solidFill>
                <a:latin typeface="Be Vietnam Pro" pitchFamily="34" charset="0"/>
                <a:ea typeface="Be Vietnam Pro" pitchFamily="34" charset="-122"/>
                <a:cs typeface="Be Vietnam Pro" pitchFamily="34" charset="-120"/>
              </a:rPr>
              <a:t>2. List the factors it competes on, starting with price</a:t>
            </a:r>
            <a:endParaRPr lang="en-US" sz="971" dirty="0"/>
          </a:p>
        </p:txBody>
      </p:sp>
      <p:sp>
        <p:nvSpPr>
          <p:cNvPr id="9" name="Text 6"/>
          <p:cNvSpPr/>
          <p:nvPr/>
        </p:nvSpPr>
        <p:spPr>
          <a:xfrm>
            <a:off x="8058150" y="2532658"/>
            <a:ext cx="3204845" cy="190351"/>
          </a:xfrm>
          <a:prstGeom prst="rect">
            <a:avLst/>
          </a:prstGeom>
          <a:noFill/>
          <a:ln/>
        </p:spPr>
        <p:txBody>
          <a:bodyPr wrap="square" lIns="0" tIns="0" rIns="0" bIns="0" rtlCol="0" anchor="t">
            <a:normAutofit/>
          </a:bodyPr>
          <a:lstStyle/>
          <a:p>
            <a:pPr marL="0" indent="0" algn="l">
              <a:lnSpc>
                <a:spcPts val="1322"/>
              </a:lnSpc>
              <a:buNone/>
            </a:pPr>
            <a:r>
              <a:rPr lang="en-US" sz="979" dirty="0">
                <a:solidFill>
                  <a:srgbClr val="1B2233"/>
                </a:solidFill>
                <a:latin typeface="Be Vietnam Pro" pitchFamily="34" charset="0"/>
                <a:ea typeface="Be Vietnam Pro" pitchFamily="34" charset="-122"/>
                <a:cs typeface="Be Vietnam Pro" pitchFamily="34" charset="-120"/>
              </a:rPr>
              <a:t>3. Rate each player 1–5 per factor</a:t>
            </a:r>
            <a:endParaRPr lang="en-US" sz="979" dirty="0"/>
          </a:p>
        </p:txBody>
      </p:sp>
      <p:sp>
        <p:nvSpPr>
          <p:cNvPr id="10" name="Text 7"/>
          <p:cNvSpPr/>
          <p:nvPr/>
        </p:nvSpPr>
        <p:spPr>
          <a:xfrm>
            <a:off x="8058150" y="2773809"/>
            <a:ext cx="3204845" cy="190351"/>
          </a:xfrm>
          <a:prstGeom prst="rect">
            <a:avLst/>
          </a:prstGeom>
          <a:noFill/>
          <a:ln/>
        </p:spPr>
        <p:txBody>
          <a:bodyPr wrap="square" lIns="0" tIns="0" rIns="0" bIns="0" rtlCol="0" anchor="t">
            <a:normAutofit/>
          </a:bodyPr>
          <a:lstStyle/>
          <a:p>
            <a:pPr marL="0" indent="0" algn="l">
              <a:lnSpc>
                <a:spcPts val="1322"/>
              </a:lnSpc>
              <a:buNone/>
            </a:pPr>
            <a:r>
              <a:rPr lang="en-US" sz="979" dirty="0">
                <a:solidFill>
                  <a:srgbClr val="1B2233"/>
                </a:solidFill>
                <a:latin typeface="Be Vietnam Pro" pitchFamily="34" charset="0"/>
                <a:ea typeface="Be Vietnam Pro" pitchFamily="34" charset="-122"/>
                <a:cs typeface="Be Vietnam Pro" pitchFamily="34" charset="-120"/>
              </a:rPr>
              <a:t>4. Connect the dots into a value curve</a:t>
            </a:r>
            <a:endParaRPr lang="en-US" sz="979" dirty="0"/>
          </a:p>
        </p:txBody>
      </p:sp>
      <p:sp>
        <p:nvSpPr>
          <p:cNvPr id="11" name="Text 8"/>
          <p:cNvSpPr/>
          <p:nvPr/>
        </p:nvSpPr>
        <p:spPr>
          <a:xfrm>
            <a:off x="8058150" y="3014960"/>
            <a:ext cx="3204845" cy="355302"/>
          </a:xfrm>
          <a:prstGeom prst="rect">
            <a:avLst/>
          </a:prstGeom>
          <a:noFill/>
          <a:ln/>
        </p:spPr>
        <p:txBody>
          <a:bodyPr wrap="square" lIns="0" tIns="0" rIns="0" bIns="0" rtlCol="0" anchor="t">
            <a:normAutofit/>
          </a:bodyPr>
          <a:lstStyle/>
          <a:p>
            <a:pPr marL="0" indent="0" algn="l">
              <a:lnSpc>
                <a:spcPts val="1607"/>
              </a:lnSpc>
              <a:buNone/>
            </a:pPr>
            <a:r>
              <a:rPr lang="en-US" sz="1190" dirty="0">
                <a:solidFill>
                  <a:srgbClr val="1B2233"/>
                </a:solidFill>
                <a:latin typeface="Be Vietnam Pro" pitchFamily="34" charset="0"/>
                <a:ea typeface="Be Vietnam Pro" pitchFamily="34" charset="-122"/>
                <a:cs typeface="Be Vietnam Pro" pitchFamily="34" charset="-120"/>
              </a:rPr>
              <a:t>5. Compare with the strongest competitor</a:t>
            </a:r>
            <a:endParaRPr lang="en-US" sz="1190" dirty="0"/>
          </a:p>
        </p:txBody>
      </p:sp>
      <p:sp>
        <p:nvSpPr>
          <p:cNvPr id="12" name="Shape 9"/>
          <p:cNvSpPr/>
          <p:nvPr/>
        </p:nvSpPr>
        <p:spPr>
          <a:xfrm>
            <a:off x="7851775" y="3709988"/>
            <a:ext cx="3524250" cy="2128838"/>
          </a:xfrm>
          <a:prstGeom prst="roundRect">
            <a:avLst>
              <a:gd name="adj" fmla="val 4623"/>
            </a:avLst>
          </a:prstGeom>
          <a:solidFill>
            <a:srgbClr val="FFFFFF"/>
          </a:solidFill>
          <a:ln w="6350">
            <a:solidFill>
              <a:srgbClr val="DDD8CC"/>
            </a:solidFill>
            <a:prstDash val="solid"/>
          </a:ln>
        </p:spPr>
        <p:txBody>
          <a:bodyPr/>
          <a:lstStyle/>
          <a:p>
            <a:endParaRPr lang="en-VN"/>
          </a:p>
        </p:txBody>
      </p:sp>
      <p:sp>
        <p:nvSpPr>
          <p:cNvPr id="13" name="Text 10"/>
          <p:cNvSpPr/>
          <p:nvPr/>
        </p:nvSpPr>
        <p:spPr>
          <a:xfrm>
            <a:off x="8058150" y="3916362"/>
            <a:ext cx="3204845" cy="26660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Read it</a:t>
            </a:r>
            <a:endParaRPr lang="en-US" sz="1600" dirty="0"/>
          </a:p>
        </p:txBody>
      </p:sp>
      <p:sp>
        <p:nvSpPr>
          <p:cNvPr id="14" name="Text 11"/>
          <p:cNvSpPr/>
          <p:nvPr/>
        </p:nvSpPr>
        <p:spPr>
          <a:xfrm>
            <a:off x="8058150" y="4195663"/>
            <a:ext cx="3204845" cy="2458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Industry leader</a:t>
            </a:r>
            <a:endParaRPr lang="en-US" sz="1300" dirty="0"/>
          </a:p>
        </p:txBody>
      </p:sp>
      <p:sp>
        <p:nvSpPr>
          <p:cNvPr id="15" name="Text 12"/>
          <p:cNvSpPr/>
          <p:nvPr/>
        </p:nvSpPr>
        <p:spPr>
          <a:xfrm>
            <a:off x="8058150" y="4454178"/>
            <a:ext cx="3204845" cy="2458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F5597"/>
                </a:solidFill>
                <a:latin typeface="Be Vietnam Pro" pitchFamily="34" charset="0"/>
                <a:ea typeface="Be Vietnam Pro" pitchFamily="34" charset="-122"/>
                <a:cs typeface="Be Vietnam Pro" pitchFamily="34" charset="-120"/>
              </a:rPr>
              <a:t>━</a:t>
            </a:r>
            <a:r>
              <a:rPr lang="en-US" sz="1300" dirty="0">
                <a:solidFill>
                  <a:srgbClr val="1B2233"/>
                </a:solidFill>
                <a:latin typeface="Be Vietnam Pro" pitchFamily="34" charset="0"/>
                <a:ea typeface="Be Vietnam Pro" pitchFamily="34" charset="-122"/>
                <a:cs typeface="Be Vietnam Pro" pitchFamily="34" charset="-120"/>
              </a:rPr>
              <a:t> [Alternative B]</a:t>
            </a:r>
            <a:endParaRPr lang="en-US" sz="1300" dirty="0"/>
          </a:p>
        </p:txBody>
      </p:sp>
      <p:sp>
        <p:nvSpPr>
          <p:cNvPr id="16" name="Text 13"/>
          <p:cNvSpPr/>
          <p:nvPr/>
        </p:nvSpPr>
        <p:spPr>
          <a:xfrm>
            <a:off x="8058150" y="4712692"/>
            <a:ext cx="3204845" cy="2458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4531A"/>
                </a:solidFill>
                <a:latin typeface="Be Vietnam Pro" pitchFamily="34" charset="0"/>
                <a:ea typeface="Be Vietnam Pro" pitchFamily="34" charset="-122"/>
                <a:cs typeface="Be Vietnam Pro" pitchFamily="34" charset="-120"/>
              </a:rPr>
              <a:t>╍</a:t>
            </a:r>
            <a:r>
              <a:rPr lang="en-US" sz="1300" dirty="0">
                <a:solidFill>
                  <a:srgbClr val="1B2233"/>
                </a:solidFill>
                <a:latin typeface="Be Vietnam Pro" pitchFamily="34" charset="0"/>
                <a:ea typeface="Be Vietnam Pro" pitchFamily="34" charset="-122"/>
                <a:cs typeface="Be Vietnam Pro" pitchFamily="34" charset="-120"/>
              </a:rPr>
              <a:t> Manual workaround</a:t>
            </a:r>
            <a:endParaRPr lang="en-US" sz="1300" dirty="0"/>
          </a:p>
        </p:txBody>
      </p:sp>
      <p:sp>
        <p:nvSpPr>
          <p:cNvPr id="17" name="Text 14"/>
          <p:cNvSpPr/>
          <p:nvPr/>
        </p:nvSpPr>
        <p:spPr>
          <a:xfrm>
            <a:off x="8058150" y="4971207"/>
            <a:ext cx="3204845" cy="686643"/>
          </a:xfrm>
          <a:prstGeom prst="rect">
            <a:avLst/>
          </a:prstGeom>
          <a:noFill/>
          <a:ln/>
        </p:spPr>
        <p:txBody>
          <a:bodyPr wrap="square" lIns="0" tIns="0" rIns="0" bIns="0" rtlCol="0" anchor="t">
            <a:normAutofit/>
          </a:bodyPr>
          <a:lstStyle/>
          <a:p>
            <a:pPr marL="0" indent="0" algn="l">
              <a:lnSpc>
                <a:spcPts val="1739"/>
              </a:lnSpc>
              <a:buNone/>
            </a:pPr>
            <a:r>
              <a:rPr lang="en-US" sz="1288" dirty="0">
                <a:solidFill>
                  <a:srgbClr val="5B6475"/>
                </a:solidFill>
                <a:latin typeface="Be Vietnam Pro" pitchFamily="34" charset="0"/>
                <a:ea typeface="Be Vietnam Pro" pitchFamily="34" charset="-122"/>
                <a:cs typeface="Be Vietnam Pro" pitchFamily="34" charset="-120"/>
              </a:rPr>
              <a:t>Curves that move together = where everyone competes. Low everywhere = where nobody invests.</a:t>
            </a:r>
            <a:endParaRPr lang="en-US" sz="1288"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~0:20 · Factors = what users said matters (need ranking) · Source: Blue Ocean strategy canvas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C3 · BENCHMARKING (20) · METHOD: ERRC GRID</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Which factors to drop, cut, lift or invent</a:t>
            </a:r>
            <a:endParaRPr lang="en-US" sz="2800" dirty="0"/>
          </a:p>
        </p:txBody>
      </p:sp>
      <p:sp>
        <p:nvSpPr>
          <p:cNvPr id="4" name="Shape 2"/>
          <p:cNvSpPr/>
          <p:nvPr/>
        </p:nvSpPr>
        <p:spPr>
          <a:xfrm>
            <a:off x="815975" y="1461095"/>
            <a:ext cx="5200650" cy="1470521"/>
          </a:xfrm>
          <a:prstGeom prst="roundRect">
            <a:avLst>
              <a:gd name="adj" fmla="val 6693"/>
            </a:avLst>
          </a:prstGeom>
          <a:solidFill>
            <a:srgbClr val="FFFFFF"/>
          </a:solidFill>
          <a:ln w="6350">
            <a:solidFill>
              <a:srgbClr val="DDD8CC"/>
            </a:solidFill>
            <a:prstDash val="solid"/>
          </a:ln>
        </p:spPr>
        <p:txBody>
          <a:bodyPr/>
          <a:lstStyle/>
          <a:p>
            <a:endParaRPr lang="en-VN"/>
          </a:p>
        </p:txBody>
      </p:sp>
      <p:sp>
        <p:nvSpPr>
          <p:cNvPr id="5" name="Text 3"/>
          <p:cNvSpPr/>
          <p:nvPr/>
        </p:nvSpPr>
        <p:spPr>
          <a:xfrm>
            <a:off x="996950" y="1642070"/>
            <a:ext cx="498386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597"/>
                </a:solidFill>
                <a:latin typeface="Be Vietnam Pro" pitchFamily="34" charset="0"/>
                <a:ea typeface="Be Vietnam Pro" pitchFamily="34" charset="-122"/>
                <a:cs typeface="Be Vietnam Pro" pitchFamily="34" charset="-120"/>
              </a:rPr>
              <a:t>Eliminate</a:t>
            </a:r>
            <a:endParaRPr lang="en-US" sz="1800" dirty="0"/>
          </a:p>
        </p:txBody>
      </p:sp>
      <p:sp>
        <p:nvSpPr>
          <p:cNvPr id="6" name="Text 4"/>
          <p:cNvSpPr/>
          <p:nvPr/>
        </p:nvSpPr>
        <p:spPr>
          <a:xfrm>
            <a:off x="996950" y="1979861"/>
            <a:ext cx="498386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B6475"/>
                </a:solidFill>
                <a:latin typeface="Be Vietnam Pro" pitchFamily="34" charset="0"/>
                <a:ea typeface="Be Vietnam Pro" pitchFamily="34" charset="-122"/>
                <a:cs typeface="Be Vietnam Pro" pitchFamily="34" charset="-120"/>
              </a:rPr>
              <a:t>Taken for granted, but users don't value it</a:t>
            </a:r>
            <a:endParaRPr lang="en-US" sz="1200" dirty="0"/>
          </a:p>
        </p:txBody>
      </p:sp>
      <p:sp>
        <p:nvSpPr>
          <p:cNvPr id="7" name="Text 5"/>
          <p:cNvSpPr/>
          <p:nvPr/>
        </p:nvSpPr>
        <p:spPr>
          <a:xfrm>
            <a:off x="996950" y="2241451"/>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8" name="Text 6"/>
          <p:cNvSpPr/>
          <p:nvPr/>
        </p:nvSpPr>
        <p:spPr>
          <a:xfrm>
            <a:off x="996950" y="2527796"/>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9" name="Shape 7"/>
          <p:cNvSpPr/>
          <p:nvPr/>
        </p:nvSpPr>
        <p:spPr>
          <a:xfrm>
            <a:off x="6175375" y="1461095"/>
            <a:ext cx="5200650" cy="1470521"/>
          </a:xfrm>
          <a:prstGeom prst="roundRect">
            <a:avLst>
              <a:gd name="adj" fmla="val 6693"/>
            </a:avLst>
          </a:prstGeom>
          <a:solidFill>
            <a:srgbClr val="FFFFFF"/>
          </a:solidFill>
          <a:ln w="6350">
            <a:solidFill>
              <a:srgbClr val="DDD8CC"/>
            </a:solidFill>
            <a:prstDash val="solid"/>
          </a:ln>
        </p:spPr>
        <p:txBody>
          <a:bodyPr/>
          <a:lstStyle/>
          <a:p>
            <a:endParaRPr lang="en-VN"/>
          </a:p>
        </p:txBody>
      </p:sp>
      <p:sp>
        <p:nvSpPr>
          <p:cNvPr id="10" name="Text 8"/>
          <p:cNvSpPr/>
          <p:nvPr/>
        </p:nvSpPr>
        <p:spPr>
          <a:xfrm>
            <a:off x="6356350" y="1642070"/>
            <a:ext cx="498386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597"/>
                </a:solidFill>
                <a:latin typeface="Be Vietnam Pro" pitchFamily="34" charset="0"/>
                <a:ea typeface="Be Vietnam Pro" pitchFamily="34" charset="-122"/>
                <a:cs typeface="Be Vietnam Pro" pitchFamily="34" charset="-120"/>
              </a:rPr>
              <a:t>Reduce</a:t>
            </a:r>
            <a:endParaRPr lang="en-US" sz="1800" dirty="0"/>
          </a:p>
        </p:txBody>
      </p:sp>
      <p:sp>
        <p:nvSpPr>
          <p:cNvPr id="11" name="Text 9"/>
          <p:cNvSpPr/>
          <p:nvPr/>
        </p:nvSpPr>
        <p:spPr>
          <a:xfrm>
            <a:off x="6356350" y="1979861"/>
            <a:ext cx="498386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B6475"/>
                </a:solidFill>
                <a:latin typeface="Be Vietnam Pro" pitchFamily="34" charset="0"/>
                <a:ea typeface="Be Vietnam Pro" pitchFamily="34" charset="-122"/>
                <a:cs typeface="Be Vietnam Pro" pitchFamily="34" charset="-120"/>
              </a:rPr>
              <a:t>Over-served versus what users actually need</a:t>
            </a:r>
            <a:endParaRPr lang="en-US" sz="1200" dirty="0"/>
          </a:p>
        </p:txBody>
      </p:sp>
      <p:sp>
        <p:nvSpPr>
          <p:cNvPr id="12" name="Text 10"/>
          <p:cNvSpPr/>
          <p:nvPr/>
        </p:nvSpPr>
        <p:spPr>
          <a:xfrm>
            <a:off x="6356350" y="2241451"/>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13" name="Text 11"/>
          <p:cNvSpPr/>
          <p:nvPr/>
        </p:nvSpPr>
        <p:spPr>
          <a:xfrm>
            <a:off x="6356350" y="2527796"/>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14" name="Shape 12"/>
          <p:cNvSpPr/>
          <p:nvPr/>
        </p:nvSpPr>
        <p:spPr>
          <a:xfrm>
            <a:off x="815975" y="3090366"/>
            <a:ext cx="5200650" cy="1470521"/>
          </a:xfrm>
          <a:prstGeom prst="roundRect">
            <a:avLst>
              <a:gd name="adj" fmla="val 6693"/>
            </a:avLst>
          </a:prstGeom>
          <a:solidFill>
            <a:srgbClr val="EFE8DC"/>
          </a:solidFill>
          <a:ln w="6350">
            <a:solidFill>
              <a:srgbClr val="DDD8CC"/>
            </a:solidFill>
            <a:prstDash val="solid"/>
          </a:ln>
        </p:spPr>
        <p:txBody>
          <a:bodyPr/>
          <a:lstStyle/>
          <a:p>
            <a:endParaRPr lang="en-VN"/>
          </a:p>
        </p:txBody>
      </p:sp>
      <p:sp>
        <p:nvSpPr>
          <p:cNvPr id="15" name="Text 13"/>
          <p:cNvSpPr/>
          <p:nvPr/>
        </p:nvSpPr>
        <p:spPr>
          <a:xfrm>
            <a:off x="996950" y="3271341"/>
            <a:ext cx="498386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597"/>
                </a:solidFill>
                <a:latin typeface="Be Vietnam Pro" pitchFamily="34" charset="0"/>
                <a:ea typeface="Be Vietnam Pro" pitchFamily="34" charset="-122"/>
                <a:cs typeface="Be Vietnam Pro" pitchFamily="34" charset="-120"/>
              </a:rPr>
              <a:t>Raise</a:t>
            </a:r>
            <a:endParaRPr lang="en-US" sz="1800" dirty="0"/>
          </a:p>
        </p:txBody>
      </p:sp>
      <p:sp>
        <p:nvSpPr>
          <p:cNvPr id="16" name="Text 14"/>
          <p:cNvSpPr/>
          <p:nvPr/>
        </p:nvSpPr>
        <p:spPr>
          <a:xfrm>
            <a:off x="996950" y="3609132"/>
            <a:ext cx="498386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B6475"/>
                </a:solidFill>
                <a:latin typeface="Be Vietnam Pro" pitchFamily="34" charset="0"/>
                <a:ea typeface="Be Vietnam Pro" pitchFamily="34" charset="-122"/>
                <a:cs typeface="Be Vietnam Pro" pitchFamily="34" charset="-120"/>
              </a:rPr>
              <a:t>Under-served: users want more than they get</a:t>
            </a:r>
            <a:endParaRPr lang="en-US" sz="1200" dirty="0"/>
          </a:p>
        </p:txBody>
      </p:sp>
      <p:sp>
        <p:nvSpPr>
          <p:cNvPr id="17" name="Text 15"/>
          <p:cNvSpPr/>
          <p:nvPr/>
        </p:nvSpPr>
        <p:spPr>
          <a:xfrm>
            <a:off x="996950" y="3870722"/>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18" name="Text 16"/>
          <p:cNvSpPr/>
          <p:nvPr/>
        </p:nvSpPr>
        <p:spPr>
          <a:xfrm>
            <a:off x="996950" y="4157067"/>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19" name="Shape 17"/>
          <p:cNvSpPr/>
          <p:nvPr/>
        </p:nvSpPr>
        <p:spPr>
          <a:xfrm>
            <a:off x="6175375" y="3090366"/>
            <a:ext cx="5200650" cy="1470521"/>
          </a:xfrm>
          <a:prstGeom prst="roundRect">
            <a:avLst>
              <a:gd name="adj" fmla="val 6693"/>
            </a:avLst>
          </a:prstGeom>
          <a:solidFill>
            <a:srgbClr val="EFE8DC"/>
          </a:solidFill>
          <a:ln w="6350">
            <a:solidFill>
              <a:srgbClr val="DDD8CC"/>
            </a:solidFill>
            <a:prstDash val="solid"/>
          </a:ln>
        </p:spPr>
        <p:txBody>
          <a:bodyPr/>
          <a:lstStyle/>
          <a:p>
            <a:endParaRPr lang="en-VN"/>
          </a:p>
        </p:txBody>
      </p:sp>
      <p:sp>
        <p:nvSpPr>
          <p:cNvPr id="20" name="Text 18"/>
          <p:cNvSpPr/>
          <p:nvPr/>
        </p:nvSpPr>
        <p:spPr>
          <a:xfrm>
            <a:off x="6356350" y="3271341"/>
            <a:ext cx="498386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597"/>
                </a:solidFill>
                <a:latin typeface="Be Vietnam Pro" pitchFamily="34" charset="0"/>
                <a:ea typeface="Be Vietnam Pro" pitchFamily="34" charset="-122"/>
                <a:cs typeface="Be Vietnam Pro" pitchFamily="34" charset="-120"/>
              </a:rPr>
              <a:t>Create</a:t>
            </a:r>
            <a:endParaRPr lang="en-US" sz="1800" dirty="0"/>
          </a:p>
        </p:txBody>
      </p:sp>
      <p:sp>
        <p:nvSpPr>
          <p:cNvPr id="21" name="Text 19"/>
          <p:cNvSpPr/>
          <p:nvPr/>
        </p:nvSpPr>
        <p:spPr>
          <a:xfrm>
            <a:off x="6356350" y="3609132"/>
            <a:ext cx="498386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B6475"/>
                </a:solidFill>
                <a:latin typeface="Be Vietnam Pro" pitchFamily="34" charset="0"/>
                <a:ea typeface="Be Vietnam Pro" pitchFamily="34" charset="-122"/>
                <a:cs typeface="Be Vietnam Pro" pitchFamily="34" charset="-120"/>
              </a:rPr>
              <a:t>Something no alternative offers yet</a:t>
            </a:r>
            <a:endParaRPr lang="en-US" sz="1200" dirty="0"/>
          </a:p>
        </p:txBody>
      </p:sp>
      <p:sp>
        <p:nvSpPr>
          <p:cNvPr id="22" name="Text 20"/>
          <p:cNvSpPr/>
          <p:nvPr/>
        </p:nvSpPr>
        <p:spPr>
          <a:xfrm>
            <a:off x="6356350" y="3870722"/>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23" name="Text 21"/>
          <p:cNvSpPr/>
          <p:nvPr/>
        </p:nvSpPr>
        <p:spPr>
          <a:xfrm>
            <a:off x="6356350" y="4157067"/>
            <a:ext cx="498386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[factor] · evidence P0x</a:t>
            </a:r>
            <a:endParaRPr lang="en-US" sz="1300" dirty="0"/>
          </a:p>
        </p:txBody>
      </p:sp>
      <p:sp>
        <p:nvSpPr>
          <p:cNvPr id="24" name="Text 22"/>
          <p:cNvSpPr/>
          <p:nvPr/>
        </p:nvSpPr>
        <p:spPr>
          <a:xfrm>
            <a:off x="812800" y="4818063"/>
            <a:ext cx="10566400" cy="603250"/>
          </a:xfrm>
          <a:prstGeom prst="roundRect">
            <a:avLst>
              <a:gd name="adj" fmla="val 16842"/>
            </a:avLst>
          </a:prstGeom>
          <a:solidFill>
            <a:srgbClr val="1B2233"/>
          </a:solidFill>
          <a:ln/>
        </p:spPr>
        <p:txBody>
          <a:bodyPr wrap="square" lIns="224242" tIns="148042" rIns="0" bIns="122642"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Eliminate + Reduce cut cost · Raise + Create lift value → the shape of a new value curve</a:t>
            </a:r>
            <a:endParaRPr lang="en-US" sz="15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~0:15 · Work at factor level, from ranked needs and the canvas, not product features · Source: Blue Ocean ERRC grid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C3 · BENCHMARKING (20) · METHOD: OPPORTUNITY GAP</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The opportunity gap</a:t>
            </a:r>
            <a:endParaRPr lang="en-US" sz="2800" dirty="0"/>
          </a:p>
        </p:txBody>
      </p:sp>
      <p:sp>
        <p:nvSpPr>
          <p:cNvPr id="4" name="Text 2"/>
          <p:cNvSpPr/>
          <p:nvPr/>
        </p:nvSpPr>
        <p:spPr>
          <a:xfrm>
            <a:off x="812800" y="1457920"/>
            <a:ext cx="10566400" cy="1335980"/>
          </a:xfrm>
          <a:prstGeom prst="roundRect">
            <a:avLst>
              <a:gd name="adj" fmla="val 7605"/>
            </a:avLst>
          </a:prstGeom>
          <a:solidFill>
            <a:srgbClr val="1B2233"/>
          </a:solidFill>
          <a:ln/>
        </p:spPr>
        <p:txBody>
          <a:bodyPr wrap="square" lIns="275042" tIns="275042" rIns="0" bIns="249642" rtlCol="0" anchor="t">
            <a:normAutofit/>
          </a:bodyPr>
          <a:lstStyle/>
          <a:p>
            <a:pPr marL="0" indent="0" algn="l">
              <a:lnSpc>
                <a:spcPts val="2860"/>
              </a:lnSpc>
              <a:buNone/>
            </a:pPr>
            <a:r>
              <a:rPr lang="en-US" sz="2200" b="1" dirty="0">
                <a:solidFill>
                  <a:srgbClr val="F6F4EF"/>
                </a:solidFill>
                <a:latin typeface="Be Vietnam Pro" pitchFamily="34" charset="0"/>
                <a:ea typeface="Be Vietnam Pro" pitchFamily="34" charset="-122"/>
                <a:cs typeface="Be Vietnam Pro" pitchFamily="34" charset="-120"/>
              </a:rPr>
              <a:t>No existing option [does X] for [segment], because [why the gap persists].</a:t>
            </a:r>
            <a:endParaRPr lang="en-US" sz="2200" dirty="0"/>
          </a:p>
        </p:txBody>
      </p:sp>
      <p:sp>
        <p:nvSpPr>
          <p:cNvPr id="5" name="Shape 3"/>
          <p:cNvSpPr/>
          <p:nvPr/>
        </p:nvSpPr>
        <p:spPr>
          <a:xfrm>
            <a:off x="815975" y="3051076"/>
            <a:ext cx="3397250" cy="1554411"/>
          </a:xfrm>
          <a:prstGeom prst="roundRect">
            <a:avLst>
              <a:gd name="adj" fmla="val 6332"/>
            </a:avLst>
          </a:prstGeom>
          <a:solidFill>
            <a:srgbClr val="FFFFFF"/>
          </a:solidFill>
          <a:ln w="6350">
            <a:solidFill>
              <a:srgbClr val="DDD8CC"/>
            </a:solidFill>
            <a:prstDash val="solid"/>
          </a:ln>
        </p:spPr>
        <p:txBody>
          <a:bodyPr/>
          <a:lstStyle/>
          <a:p>
            <a:endParaRPr lang="en-VN"/>
          </a:p>
        </p:txBody>
      </p:sp>
      <p:sp>
        <p:nvSpPr>
          <p:cNvPr id="6" name="Text 4"/>
          <p:cNvSpPr/>
          <p:nvPr/>
        </p:nvSpPr>
        <p:spPr>
          <a:xfrm>
            <a:off x="1022350" y="3257451"/>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Where others win</a:t>
            </a:r>
            <a:endParaRPr lang="en-US" sz="1600" dirty="0"/>
          </a:p>
        </p:txBody>
      </p:sp>
      <p:sp>
        <p:nvSpPr>
          <p:cNvPr id="7" name="Text 5"/>
          <p:cNvSpPr/>
          <p:nvPr/>
        </p:nvSpPr>
        <p:spPr>
          <a:xfrm>
            <a:off x="1022350" y="3590181"/>
            <a:ext cx="307403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233"/>
                </a:solidFill>
                <a:latin typeface="Be Vietnam Pro" pitchFamily="34" charset="0"/>
                <a:ea typeface="Be Vietnam Pro" pitchFamily="34" charset="-122"/>
                <a:cs typeface="Be Vietnam Pro" pitchFamily="34" charset="-120"/>
              </a:rPr>
              <a:t>[alternative] is better at [..]; we won't compete on that</a:t>
            </a:r>
            <a:endParaRPr lang="en-US" sz="1400" dirty="0"/>
          </a:p>
        </p:txBody>
      </p:sp>
      <p:sp>
        <p:nvSpPr>
          <p:cNvPr id="8" name="Shape 6"/>
          <p:cNvSpPr/>
          <p:nvPr/>
        </p:nvSpPr>
        <p:spPr>
          <a:xfrm>
            <a:off x="4397375" y="3051076"/>
            <a:ext cx="3397250" cy="1554411"/>
          </a:xfrm>
          <a:prstGeom prst="roundRect">
            <a:avLst>
              <a:gd name="adj" fmla="val 6332"/>
            </a:avLst>
          </a:prstGeom>
          <a:solidFill>
            <a:srgbClr val="FFFFFF"/>
          </a:solidFill>
          <a:ln w="6350">
            <a:solidFill>
              <a:srgbClr val="DDD8CC"/>
            </a:solidFill>
            <a:prstDash val="solid"/>
          </a:ln>
        </p:spPr>
        <p:txBody>
          <a:bodyPr/>
          <a:lstStyle/>
          <a:p>
            <a:endParaRPr lang="en-VN"/>
          </a:p>
        </p:txBody>
      </p:sp>
      <p:sp>
        <p:nvSpPr>
          <p:cNvPr id="9" name="Text 7"/>
          <p:cNvSpPr/>
          <p:nvPr/>
        </p:nvSpPr>
        <p:spPr>
          <a:xfrm>
            <a:off x="4603750" y="3257451"/>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Why the gap persists</a:t>
            </a:r>
            <a:endParaRPr lang="en-US" sz="1600" dirty="0"/>
          </a:p>
        </p:txBody>
      </p:sp>
      <p:sp>
        <p:nvSpPr>
          <p:cNvPr id="10" name="Text 8"/>
          <p:cNvSpPr/>
          <p:nvPr/>
        </p:nvSpPr>
        <p:spPr>
          <a:xfrm>
            <a:off x="4603750" y="3590181"/>
            <a:ext cx="307403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233"/>
                </a:solidFill>
                <a:latin typeface="Be Vietnam Pro" pitchFamily="34" charset="0"/>
                <a:ea typeface="Be Vietnam Pro" pitchFamily="34" charset="-122"/>
                <a:cs typeface="Be Vietnam Pro" pitchFamily="34" charset="-120"/>
              </a:rPr>
              <a:t>[cost / regulation / tech / incentive reason]</a:t>
            </a:r>
            <a:endParaRPr lang="en-US" sz="1400" dirty="0"/>
          </a:p>
        </p:txBody>
      </p:sp>
      <p:sp>
        <p:nvSpPr>
          <p:cNvPr id="11" name="Shape 9"/>
          <p:cNvSpPr/>
          <p:nvPr/>
        </p:nvSpPr>
        <p:spPr>
          <a:xfrm>
            <a:off x="7978775" y="3051076"/>
            <a:ext cx="3397250" cy="1554411"/>
          </a:xfrm>
          <a:prstGeom prst="roundRect">
            <a:avLst>
              <a:gd name="adj" fmla="val 6332"/>
            </a:avLst>
          </a:prstGeom>
          <a:solidFill>
            <a:srgbClr val="FFFFFF"/>
          </a:solidFill>
          <a:ln w="6350">
            <a:solidFill>
              <a:srgbClr val="DDD8CC"/>
            </a:solidFill>
            <a:prstDash val="solid"/>
          </a:ln>
        </p:spPr>
        <p:txBody>
          <a:bodyPr/>
          <a:lstStyle/>
          <a:p>
            <a:endParaRPr lang="en-VN"/>
          </a:p>
        </p:txBody>
      </p:sp>
      <p:sp>
        <p:nvSpPr>
          <p:cNvPr id="12" name="Text 10"/>
          <p:cNvSpPr/>
          <p:nvPr/>
        </p:nvSpPr>
        <p:spPr>
          <a:xfrm>
            <a:off x="8185150" y="3257451"/>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597"/>
                </a:solidFill>
                <a:latin typeface="Be Vietnam Pro" pitchFamily="34" charset="0"/>
                <a:ea typeface="Be Vietnam Pro" pitchFamily="34" charset="-122"/>
                <a:cs typeface="Be Vietnam Pro" pitchFamily="34" charset="-120"/>
              </a:rPr>
              <a:t>Evidence</a:t>
            </a:r>
            <a:endParaRPr lang="en-US" sz="1600" dirty="0"/>
          </a:p>
        </p:txBody>
      </p:sp>
      <p:sp>
        <p:nvSpPr>
          <p:cNvPr id="13" name="Text 11"/>
          <p:cNvSpPr/>
          <p:nvPr/>
        </p:nvSpPr>
        <p:spPr>
          <a:xfrm>
            <a:off x="8185150" y="3590181"/>
            <a:ext cx="307403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233"/>
                </a:solidFill>
                <a:latin typeface="Be Vietnam Pro" pitchFamily="34" charset="0"/>
                <a:ea typeface="Be Vietnam Pro" pitchFamily="34" charset="-122"/>
                <a:cs typeface="Be Vietnam Pro" pitchFamily="34" charset="-120"/>
              </a:rPr>
              <a:t>[empty area on the perceptual map and canvas]</a:t>
            </a:r>
            <a:endParaRPr lang="en-US" sz="1400" dirty="0"/>
          </a:p>
        </p:txBody>
      </p:sp>
      <p:sp>
        <p:nvSpPr>
          <p:cNvPr id="14" name="Text 12"/>
          <p:cNvSpPr/>
          <p:nvPr/>
        </p:nvSpPr>
        <p:spPr>
          <a:xfrm>
            <a:off x="8185150" y="4159101"/>
            <a:ext cx="307403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B6475"/>
                </a:solidFill>
                <a:latin typeface="Be Vietnam Pro" pitchFamily="34" charset="0"/>
                <a:ea typeface="Be Vietnam Pro" pitchFamily="34" charset="-122"/>
                <a:cs typeface="Be Vietnam Pro" pitchFamily="34" charset="-120"/>
              </a:rPr>
              <a:t>[interview P0x]</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~0:15 · One sentence, one reason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9A56F"/>
                </a:solidFill>
                <a:latin typeface="Be Vietnam Pro" pitchFamily="34" charset="0"/>
                <a:ea typeface="Be Vietnam Pro" pitchFamily="34" charset="-122"/>
                <a:cs typeface="Be Vietnam Pro" pitchFamily="34" charset="-120"/>
              </a:rPr>
              <a:t>RUBRIC CRITERION 4 OF 4 · 20 POINTS</a:t>
            </a:r>
            <a:endParaRPr lang="en-US" sz="1200" dirty="0"/>
          </a:p>
        </p:txBody>
      </p:sp>
      <p:sp>
        <p:nvSpPr>
          <p:cNvPr id="3" name="Text 1"/>
          <p:cNvSpPr/>
          <p:nvPr/>
        </p:nvSpPr>
        <p:spPr>
          <a:xfrm>
            <a:off x="812800" y="81280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E9A56F"/>
                </a:solidFill>
                <a:latin typeface="Be Vietnam Pro" pitchFamily="34" charset="0"/>
                <a:ea typeface="Be Vietnam Pro" pitchFamily="34" charset="-122"/>
                <a:cs typeface="Be Vietnam Pro" pitchFamily="34" charset="-120"/>
              </a:rPr>
              <a:t>04</a:t>
            </a:r>
            <a:endParaRPr lang="en-US" sz="10000" dirty="0"/>
          </a:p>
        </p:txBody>
      </p:sp>
      <p:sp>
        <p:nvSpPr>
          <p:cNvPr id="4" name="Text 2"/>
          <p:cNvSpPr/>
          <p:nvPr/>
        </p:nvSpPr>
        <p:spPr>
          <a:xfrm>
            <a:off x="812800" y="2286000"/>
            <a:ext cx="9810750" cy="119886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6F4EF"/>
                </a:solidFill>
                <a:latin typeface="Be Vietnam Pro" pitchFamily="34" charset="0"/>
                <a:ea typeface="Be Vietnam Pro" pitchFamily="34" charset="-122"/>
                <a:cs typeface="Be Vietnam Pro" pitchFamily="34" charset="-120"/>
              </a:rPr>
              <a:t>Needs, requirements &amp; early venture hypothesis</a:t>
            </a:r>
            <a:endParaRPr lang="en-US" sz="4400" dirty="0"/>
          </a:p>
        </p:txBody>
      </p:sp>
      <p:sp>
        <p:nvSpPr>
          <p:cNvPr id="5" name="Shape 3"/>
          <p:cNvSpPr/>
          <p:nvPr/>
        </p:nvSpPr>
        <p:spPr>
          <a:xfrm>
            <a:off x="812800" y="4726980"/>
            <a:ext cx="5207000" cy="1115020"/>
          </a:xfrm>
          <a:prstGeom prst="roundRect">
            <a:avLst>
              <a:gd name="adj" fmla="val 9112"/>
            </a:avLst>
          </a:prstGeom>
          <a:solidFill>
            <a:srgbClr val="26304A"/>
          </a:solidFill>
          <a:ln/>
        </p:spPr>
        <p:txBody>
          <a:bodyPr/>
          <a:lstStyle/>
          <a:p>
            <a:endParaRPr lang="en-VN"/>
          </a:p>
        </p:txBody>
      </p:sp>
      <p:sp>
        <p:nvSpPr>
          <p:cNvPr id="6" name="Text 4"/>
          <p:cNvSpPr/>
          <p:nvPr/>
        </p:nvSpPr>
        <p:spPr>
          <a:xfrm>
            <a:off x="9906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What we show</a:t>
            </a:r>
            <a:endParaRPr lang="en-US" sz="1200" dirty="0"/>
          </a:p>
        </p:txBody>
      </p:sp>
      <p:sp>
        <p:nvSpPr>
          <p:cNvPr id="7" name="Text 5"/>
          <p:cNvSpPr/>
          <p:nvPr/>
        </p:nvSpPr>
        <p:spPr>
          <a:xfrm>
            <a:off x="9906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Ranked needs, traceable requirements, segment, value proposition, WTP</a:t>
            </a:r>
            <a:endParaRPr lang="en-US" sz="1500" dirty="0"/>
          </a:p>
        </p:txBody>
      </p:sp>
      <p:sp>
        <p:nvSpPr>
          <p:cNvPr id="8" name="Shape 6"/>
          <p:cNvSpPr/>
          <p:nvPr/>
        </p:nvSpPr>
        <p:spPr>
          <a:xfrm>
            <a:off x="6172200" y="4726980"/>
            <a:ext cx="5207000" cy="1115020"/>
          </a:xfrm>
          <a:prstGeom prst="roundRect">
            <a:avLst>
              <a:gd name="adj" fmla="val 9112"/>
            </a:avLst>
          </a:prstGeom>
          <a:solidFill>
            <a:srgbClr val="26304A"/>
          </a:solidFill>
          <a:ln/>
        </p:spPr>
        <p:txBody>
          <a:bodyPr/>
          <a:lstStyle/>
          <a:p>
            <a:endParaRPr lang="en-VN"/>
          </a:p>
        </p:txBody>
      </p:sp>
      <p:sp>
        <p:nvSpPr>
          <p:cNvPr id="9" name="Text 7"/>
          <p:cNvSpPr/>
          <p:nvPr/>
        </p:nvSpPr>
        <p:spPr>
          <a:xfrm>
            <a:off x="6350000" y="4904780"/>
            <a:ext cx="499694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Methods</a:t>
            </a:r>
            <a:endParaRPr lang="en-US" sz="1200" dirty="0"/>
          </a:p>
        </p:txBody>
      </p:sp>
      <p:sp>
        <p:nvSpPr>
          <p:cNvPr id="10" name="Text 8"/>
          <p:cNvSpPr/>
          <p:nvPr/>
        </p:nvSpPr>
        <p:spPr>
          <a:xfrm>
            <a:off x="6350000" y="5168900"/>
            <a:ext cx="4996942"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6F4EF"/>
                </a:solidFill>
                <a:latin typeface="Be Vietnam Pro" pitchFamily="34" charset="0"/>
                <a:ea typeface="Be Vietnam Pro" pitchFamily="34" charset="-122"/>
                <a:cs typeface="Be Vietnam Pro" pitchFamily="34" charset="-120"/>
              </a:rPr>
              <a:t>Needs ranking · Needs to metrics to specs · Early adopter · Value prop · WTP test</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Four slides · about 1:50 · Divider: move on quickly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C4 · NEEDS &amp; REQUIREMENTS (20) · METHOD: AFFINITY CLUSTERING + NEEDS RANKING</a:t>
            </a:r>
            <a:endParaRPr lang="en-US" sz="1200" dirty="0"/>
          </a:p>
        </p:txBody>
      </p:sp>
      <p:sp>
        <p:nvSpPr>
          <p:cNvPr id="3" name="Text 1"/>
          <p:cNvSpPr/>
          <p:nvPr/>
        </p:nvSpPr>
        <p:spPr>
          <a:xfrm>
            <a:off x="812800" y="812800"/>
            <a:ext cx="4571401"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What users need, ranked</a:t>
            </a:r>
            <a:endParaRPr lang="en-US" sz="2800" dirty="0"/>
          </a:p>
        </p:txBody>
      </p:sp>
      <p:sp>
        <p:nvSpPr>
          <p:cNvPr id="4" name="Text 2"/>
          <p:cNvSpPr/>
          <p:nvPr/>
        </p:nvSpPr>
        <p:spPr>
          <a:xfrm>
            <a:off x="5403453" y="885180"/>
            <a:ext cx="2685306" cy="246360"/>
          </a:xfrm>
          <a:prstGeom prst="roundRect">
            <a:avLst>
              <a:gd name="adj" fmla="val 20620"/>
            </a:avLst>
          </a:prstGeom>
          <a:solidFill>
            <a:srgbClr val="F7E3D3"/>
          </a:solidFill>
          <a:ln/>
        </p:spPr>
        <p:txBody>
          <a:bodyPr wrap="none" lIns="0" tIns="0" rIns="0" bIns="0" rtlCol="0" anchor="ctr">
            <a:normAutofit/>
          </a:bodyPr>
          <a:lstStyle/>
          <a:p>
            <a:pPr marL="0" indent="0" algn="ctr">
              <a:lnSpc>
                <a:spcPts val="1540"/>
              </a:lnSpc>
              <a:buNone/>
            </a:pPr>
            <a:r>
              <a:rPr lang="en-US" sz="1100" b="1" dirty="0">
                <a:solidFill>
                  <a:srgbClr val="B4531A"/>
                </a:solidFill>
                <a:latin typeface="Be Vietnam Pro" pitchFamily="34" charset="0"/>
                <a:ea typeface="Be Vietnam Pro" pitchFamily="34" charset="-122"/>
                <a:cs typeface="Be Vietnam Pro" pitchFamily="34" charset="-120"/>
              </a:rPr>
              <a:t>HYPOTHESIS · validate in interviews</a:t>
            </a:r>
            <a:endParaRPr lang="en-US" sz="1100" dirty="0"/>
          </a:p>
        </p:txBody>
      </p:sp>
      <p:sp>
        <p:nvSpPr>
          <p:cNvPr id="5" name="Shape 3"/>
          <p:cNvSpPr/>
          <p:nvPr/>
        </p:nvSpPr>
        <p:spPr>
          <a:xfrm>
            <a:off x="815975" y="1435695"/>
            <a:ext cx="2520950" cy="2627313"/>
          </a:xfrm>
          <a:prstGeom prst="roundRect">
            <a:avLst>
              <a:gd name="adj" fmla="val 3904"/>
            </a:avLst>
          </a:prstGeom>
          <a:solidFill>
            <a:srgbClr val="FFFFFF"/>
          </a:solidFill>
          <a:ln w="6350">
            <a:solidFill>
              <a:srgbClr val="DDD8CC"/>
            </a:solidFill>
            <a:prstDash val="solid"/>
          </a:ln>
        </p:spPr>
        <p:txBody>
          <a:bodyPr/>
          <a:lstStyle/>
          <a:p>
            <a:endParaRPr lang="en-VN"/>
          </a:p>
        </p:txBody>
      </p:sp>
      <p:sp>
        <p:nvSpPr>
          <p:cNvPr id="6" name="Text 4"/>
          <p:cNvSpPr/>
          <p:nvPr/>
        </p:nvSpPr>
        <p:spPr>
          <a:xfrm>
            <a:off x="1009650" y="1629370"/>
            <a:ext cx="2197608"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Know the state from afar</a:t>
            </a:r>
            <a:endParaRPr lang="en-US" sz="1500" dirty="0"/>
          </a:p>
        </p:txBody>
      </p:sp>
      <p:sp>
        <p:nvSpPr>
          <p:cNvPr id="7" name="Text 5"/>
          <p:cNvSpPr/>
          <p:nvPr/>
        </p:nvSpPr>
        <p:spPr>
          <a:xfrm>
            <a:off x="1009650" y="2162770"/>
            <a:ext cx="219760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Users know whether the washer is free without walking to it</a:t>
            </a:r>
            <a:endParaRPr lang="en-US" sz="1300" dirty="0"/>
          </a:p>
        </p:txBody>
      </p:sp>
      <p:sp>
        <p:nvSpPr>
          <p:cNvPr id="8" name="Text 6"/>
          <p:cNvSpPr/>
          <p:nvPr/>
        </p:nvSpPr>
        <p:spPr>
          <a:xfrm>
            <a:off x="1009650" y="2907506"/>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Users know when their own load has finished</a:t>
            </a:r>
            <a:endParaRPr lang="en-US" sz="1300" dirty="0"/>
          </a:p>
        </p:txBody>
      </p:sp>
      <p:sp>
        <p:nvSpPr>
          <p:cNvPr id="9" name="Shape 7"/>
          <p:cNvSpPr/>
          <p:nvPr/>
        </p:nvSpPr>
        <p:spPr>
          <a:xfrm>
            <a:off x="3495675" y="1435695"/>
            <a:ext cx="2520950" cy="2627313"/>
          </a:xfrm>
          <a:prstGeom prst="roundRect">
            <a:avLst>
              <a:gd name="adj" fmla="val 3904"/>
            </a:avLst>
          </a:prstGeom>
          <a:solidFill>
            <a:srgbClr val="FFFFFF"/>
          </a:solidFill>
          <a:ln w="6350">
            <a:solidFill>
              <a:srgbClr val="DDD8CC"/>
            </a:solidFill>
            <a:prstDash val="solid"/>
          </a:ln>
        </p:spPr>
        <p:txBody>
          <a:bodyPr/>
          <a:lstStyle/>
          <a:p>
            <a:endParaRPr lang="en-VN"/>
          </a:p>
        </p:txBody>
      </p:sp>
      <p:sp>
        <p:nvSpPr>
          <p:cNvPr id="10" name="Text 8"/>
          <p:cNvSpPr/>
          <p:nvPr/>
        </p:nvSpPr>
        <p:spPr>
          <a:xfrm>
            <a:off x="3689350" y="16293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Collection &amp; etiquette</a:t>
            </a:r>
            <a:endParaRPr lang="en-US" sz="1500" dirty="0"/>
          </a:p>
        </p:txBody>
      </p:sp>
      <p:sp>
        <p:nvSpPr>
          <p:cNvPr id="11" name="Text 9"/>
          <p:cNvSpPr/>
          <p:nvPr/>
        </p:nvSpPr>
        <p:spPr>
          <a:xfrm>
            <a:off x="3689350" y="1934170"/>
            <a:ext cx="219760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Finished loads are cleared quickly for the next person</a:t>
            </a:r>
            <a:endParaRPr lang="en-US" sz="1300" dirty="0"/>
          </a:p>
        </p:txBody>
      </p:sp>
      <p:sp>
        <p:nvSpPr>
          <p:cNvPr id="12" name="Text 10"/>
          <p:cNvSpPr/>
          <p:nvPr/>
        </p:nvSpPr>
        <p:spPr>
          <a:xfrm>
            <a:off x="3689350" y="2678906"/>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Users know whose load is in the machine</a:t>
            </a:r>
            <a:endParaRPr lang="en-US" sz="1300" dirty="0"/>
          </a:p>
        </p:txBody>
      </p:sp>
      <p:sp>
        <p:nvSpPr>
          <p:cNvPr id="13" name="Text 11"/>
          <p:cNvSpPr/>
          <p:nvPr/>
        </p:nvSpPr>
        <p:spPr>
          <a:xfrm>
            <a:off x="3689350" y="3200797"/>
            <a:ext cx="219760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4531A"/>
                </a:solidFill>
                <a:latin typeface="Be Vietnam Pro" pitchFamily="34" charset="0"/>
                <a:ea typeface="Be Vietnam Pro" pitchFamily="34" charset="-122"/>
                <a:cs typeface="Be Vietnam Pro" pitchFamily="34" charset="-120"/>
              </a:rPr>
              <a:t>! Users avoid awkward confrontation with housemates</a:t>
            </a:r>
            <a:endParaRPr lang="en-US" sz="1300" dirty="0"/>
          </a:p>
        </p:txBody>
      </p:sp>
      <p:sp>
        <p:nvSpPr>
          <p:cNvPr id="14" name="Shape 12"/>
          <p:cNvSpPr/>
          <p:nvPr/>
        </p:nvSpPr>
        <p:spPr>
          <a:xfrm>
            <a:off x="6175375" y="1435695"/>
            <a:ext cx="2520950" cy="2627313"/>
          </a:xfrm>
          <a:prstGeom prst="roundRect">
            <a:avLst>
              <a:gd name="adj" fmla="val 3904"/>
            </a:avLst>
          </a:prstGeom>
          <a:solidFill>
            <a:srgbClr val="FFFFFF"/>
          </a:solidFill>
          <a:ln w="6350">
            <a:solidFill>
              <a:srgbClr val="DDD8CC"/>
            </a:solidFill>
            <a:prstDash val="solid"/>
          </a:ln>
        </p:spPr>
        <p:txBody>
          <a:bodyPr/>
          <a:lstStyle/>
          <a:p>
            <a:endParaRPr lang="en-VN"/>
          </a:p>
        </p:txBody>
      </p:sp>
      <p:sp>
        <p:nvSpPr>
          <p:cNvPr id="15" name="Text 13"/>
          <p:cNvSpPr/>
          <p:nvPr/>
        </p:nvSpPr>
        <p:spPr>
          <a:xfrm>
            <a:off x="6369050" y="16293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Effortless to use</a:t>
            </a:r>
            <a:endParaRPr lang="en-US" sz="1500" dirty="0"/>
          </a:p>
        </p:txBody>
      </p:sp>
      <p:sp>
        <p:nvSpPr>
          <p:cNvPr id="16" name="Text 14"/>
          <p:cNvSpPr/>
          <p:nvPr/>
        </p:nvSpPr>
        <p:spPr>
          <a:xfrm>
            <a:off x="6369050" y="1934170"/>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Works even when users skip extra steps</a:t>
            </a:r>
            <a:endParaRPr lang="en-US" sz="1300" dirty="0"/>
          </a:p>
        </p:txBody>
      </p:sp>
      <p:sp>
        <p:nvSpPr>
          <p:cNvPr id="17" name="Text 15"/>
          <p:cNvSpPr/>
          <p:nvPr/>
        </p:nvSpPr>
        <p:spPr>
          <a:xfrm>
            <a:off x="6369050" y="2456061"/>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 Alerts arrive on a channel they already use</a:t>
            </a:r>
            <a:endParaRPr lang="en-US" sz="1300" dirty="0"/>
          </a:p>
        </p:txBody>
      </p:sp>
      <p:sp>
        <p:nvSpPr>
          <p:cNvPr id="18" name="Shape 16"/>
          <p:cNvSpPr/>
          <p:nvPr/>
        </p:nvSpPr>
        <p:spPr>
          <a:xfrm>
            <a:off x="8855075" y="1435695"/>
            <a:ext cx="2520950" cy="2627313"/>
          </a:xfrm>
          <a:prstGeom prst="roundRect">
            <a:avLst>
              <a:gd name="adj" fmla="val 3904"/>
            </a:avLst>
          </a:prstGeom>
          <a:solidFill>
            <a:srgbClr val="EFE8DC"/>
          </a:solidFill>
          <a:ln w="6350">
            <a:solidFill>
              <a:srgbClr val="DDD8CC"/>
            </a:solidFill>
            <a:prstDash val="solid"/>
          </a:ln>
        </p:spPr>
        <p:txBody>
          <a:bodyPr/>
          <a:lstStyle/>
          <a:p>
            <a:endParaRPr lang="en-VN"/>
          </a:p>
        </p:txBody>
      </p:sp>
      <p:sp>
        <p:nvSpPr>
          <p:cNvPr id="19" name="Text 17"/>
          <p:cNvSpPr/>
          <p:nvPr/>
        </p:nvSpPr>
        <p:spPr>
          <a:xfrm>
            <a:off x="9048750" y="1629370"/>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Demands</a:t>
            </a:r>
            <a:endParaRPr lang="en-US" sz="1500" dirty="0"/>
          </a:p>
        </p:txBody>
      </p:sp>
      <p:sp>
        <p:nvSpPr>
          <p:cNvPr id="20" name="Text 18"/>
          <p:cNvSpPr/>
          <p:nvPr/>
        </p:nvSpPr>
        <p:spPr>
          <a:xfrm>
            <a:off x="9048750" y="1934170"/>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Renter-friendly: no rewiring, removable</a:t>
            </a:r>
            <a:endParaRPr lang="en-US" sz="1300" dirty="0"/>
          </a:p>
        </p:txBody>
      </p:sp>
      <p:sp>
        <p:nvSpPr>
          <p:cNvPr id="21" name="Text 19"/>
          <p:cNvSpPr/>
          <p:nvPr/>
        </p:nvSpPr>
        <p:spPr>
          <a:xfrm>
            <a:off x="9048750" y="2456061"/>
            <a:ext cx="219760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Privacy: show room no. or last 4 phone digits, not full name</a:t>
            </a:r>
            <a:endParaRPr lang="en-US" sz="1300" dirty="0"/>
          </a:p>
        </p:txBody>
      </p:sp>
      <p:sp>
        <p:nvSpPr>
          <p:cNvPr id="22" name="Text 20"/>
          <p:cNvSpPr/>
          <p:nvPr/>
        </p:nvSpPr>
        <p:spPr>
          <a:xfrm>
            <a:off x="9048750" y="3200797"/>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Low price per household: S$[__]</a:t>
            </a:r>
            <a:endParaRPr lang="en-US" sz="1300" dirty="0"/>
          </a:p>
        </p:txBody>
      </p:sp>
      <p:sp>
        <p:nvSpPr>
          <p:cNvPr id="23" name="Text 21"/>
          <p:cNvSpPr/>
          <p:nvPr/>
        </p:nvSpPr>
        <p:spPr>
          <a:xfrm>
            <a:off x="812800" y="4294783"/>
            <a:ext cx="10883392" cy="213965"/>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5B6475"/>
                </a:solidFill>
                <a:latin typeface="Be Vietnam Pro" pitchFamily="34" charset="0"/>
                <a:ea typeface="Be Vietnam Pro" pitchFamily="34" charset="-122"/>
                <a:cs typeface="Be Vietnam Pro" pitchFamily="34" charset="-120"/>
              </a:rPr>
              <a:t>*** critical · ** important · ! latent · Need statements say </a:t>
            </a:r>
            <a:r>
              <a:rPr lang="en-US" sz="1100" b="1" dirty="0">
                <a:solidFill>
                  <a:srgbClr val="5B6475"/>
                </a:solidFill>
                <a:latin typeface="Be Vietnam Pro" pitchFamily="34" charset="0"/>
                <a:ea typeface="Be Vietnam Pro" pitchFamily="34" charset="-122"/>
                <a:cs typeface="Be Vietnam Pro" pitchFamily="34" charset="-120"/>
              </a:rPr>
              <a:t>what</a:t>
            </a:r>
            <a:r>
              <a:rPr lang="en-US" sz="1100" dirty="0">
                <a:solidFill>
                  <a:srgbClr val="5B6475"/>
                </a:solidFill>
                <a:latin typeface="Be Vietnam Pro" pitchFamily="34" charset="0"/>
                <a:ea typeface="Be Vietnam Pro" pitchFamily="34" charset="-122"/>
                <a:cs typeface="Be Vietnam Pro" pitchFamily="34" charset="-120"/>
              </a:rPr>
              <a:t>, not how · Ranking to be confirmed by [__] interviewees</a:t>
            </a:r>
            <a:endParaRPr lang="en-US" sz="11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~0:30 · From team pain list; each need gets ≥2 supporting participants before the pitch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C4 · NEEDS &amp; REQUIREMENTS (20) · METHOD: NEEDS → METRICS → TARGET SPECS</a:t>
            </a:r>
            <a:endParaRPr lang="en-US" sz="1200" dirty="0"/>
          </a:p>
        </p:txBody>
      </p:sp>
      <p:sp>
        <p:nvSpPr>
          <p:cNvPr id="3" name="Text 1"/>
          <p:cNvSpPr/>
          <p:nvPr/>
        </p:nvSpPr>
        <p:spPr>
          <a:xfrm>
            <a:off x="812800" y="812800"/>
            <a:ext cx="10883392" cy="247253"/>
          </a:xfrm>
          <a:prstGeom prst="rect">
            <a:avLst/>
          </a:prstGeom>
          <a:noFill/>
          <a:ln/>
        </p:spPr>
        <p:txBody>
          <a:bodyPr wrap="square" lIns="0" tIns="0" rIns="0" bIns="0" rtlCol="0" anchor="t">
            <a:normAutofit/>
          </a:bodyPr>
          <a:lstStyle/>
          <a:p>
            <a:pPr marL="0" indent="0" algn="l">
              <a:lnSpc>
                <a:spcPts val="1848"/>
              </a:lnSpc>
              <a:buNone/>
            </a:pPr>
            <a:r>
              <a:rPr lang="en-US" sz="1680" b="1" dirty="0">
                <a:solidFill>
                  <a:srgbClr val="1B2233"/>
                </a:solidFill>
                <a:latin typeface="Be Vietnam Pro" pitchFamily="34" charset="0"/>
                <a:ea typeface="Be Vietnam Pro" pitchFamily="34" charset="-122"/>
                <a:cs typeface="Be Vietnam Pro" pitchFamily="34" charset="-120"/>
              </a:rPr>
              <a:t>Every requirement traces back to a need</a:t>
            </a:r>
            <a:endParaRPr lang="en-US" sz="1680" dirty="0"/>
          </a:p>
        </p:txBody>
      </p:sp>
      <p:graphicFrame>
        <p:nvGraphicFramePr>
          <p:cNvPr id="4" name="Table 0"/>
          <p:cNvGraphicFramePr>
            <a:graphicFrameLocks noGrp="1"/>
          </p:cNvGraphicFramePr>
          <p:nvPr>
            <p:extLst>
              <p:ext uri="{D42A27DB-BD31-4B8C-83A1-F6EECF244321}">
                <p14:modId xmlns:p14="http://schemas.microsoft.com/office/powerpoint/2010/main" val="2849003242"/>
              </p:ext>
            </p:extLst>
          </p:nvPr>
        </p:nvGraphicFramePr>
        <p:xfrm>
          <a:off x="825500" y="1275953"/>
          <a:ext cx="10553700" cy="3398439"/>
        </p:xfrm>
        <a:graphic>
          <a:graphicData uri="http://schemas.openxmlformats.org/drawingml/2006/table">
            <a:tbl>
              <a:tblPr/>
              <a:tblGrid>
                <a:gridCol w="2110740">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gridCol w="2110740">
                  <a:extLst>
                    <a:ext uri="{9D8B030D-6E8A-4147-A177-3AD203B41FA5}">
                      <a16:colId xmlns:a16="http://schemas.microsoft.com/office/drawing/2014/main" val="20004"/>
                    </a:ext>
                  </a:extLst>
                </a:gridCol>
              </a:tblGrid>
              <a:tr h="352127">
                <a:tc>
                  <a:txBody>
                    <a:bodyPr/>
                    <a:lstStyle/>
                    <a:p>
                      <a:pPr marL="0" indent="0">
                        <a:lnSpc>
                          <a:spcPts val="1470"/>
                        </a:lnSpc>
                        <a:buNone/>
                      </a:pPr>
                      <a:r>
                        <a:rPr lang="en-US" sz="1050" b="1" dirty="0">
                          <a:solidFill>
                            <a:srgbClr val="F6F4EF"/>
                          </a:solidFill>
                          <a:latin typeface="Be Vietnam Pro" pitchFamily="34" charset="0"/>
                          <a:ea typeface="Be Vietnam Pro" pitchFamily="34" charset="-122"/>
                          <a:cs typeface="Be Vietnam Pro" pitchFamily="34" charset="-120"/>
                        </a:rPr>
                        <a:t>Requirement (metric)</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1470"/>
                        </a:lnSpc>
                        <a:buNone/>
                      </a:pPr>
                      <a:r>
                        <a:rPr lang="en-US" sz="1050" b="1" dirty="0">
                          <a:solidFill>
                            <a:srgbClr val="F6F4EF"/>
                          </a:solidFill>
                          <a:latin typeface="Be Vietnam Pro" pitchFamily="34" charset="0"/>
                          <a:ea typeface="Be Vietnam Pro" pitchFamily="34" charset="-122"/>
                          <a:cs typeface="Be Vietnam Pro" pitchFamily="34" charset="-120"/>
                        </a:rPr>
                        <a:t>← Need</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1470"/>
                        </a:lnSpc>
                        <a:buNone/>
                      </a:pPr>
                      <a:r>
                        <a:rPr lang="en-US" sz="1050" b="1" dirty="0">
                          <a:solidFill>
                            <a:srgbClr val="F6F4EF"/>
                          </a:solidFill>
                          <a:latin typeface="Be Vietnam Pro" pitchFamily="34" charset="0"/>
                          <a:ea typeface="Be Vietnam Pro" pitchFamily="34" charset="-122"/>
                          <a:cs typeface="Be Vietnam Pro" pitchFamily="34" charset="-120"/>
                        </a:rPr>
                        <a:t>← Evidence / benchmark</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1470"/>
                        </a:lnSpc>
                        <a:buNone/>
                      </a:pPr>
                      <a:r>
                        <a:rPr lang="en-US" sz="1050" b="1" dirty="0">
                          <a:solidFill>
                            <a:srgbClr val="F6F4EF"/>
                          </a:solidFill>
                          <a:latin typeface="Be Vietnam Pro" pitchFamily="34" charset="0"/>
                          <a:ea typeface="Be Vietnam Pro" pitchFamily="34" charset="-122"/>
                          <a:cs typeface="Be Vietnam Pro" pitchFamily="34" charset="-120"/>
                        </a:rPr>
                        <a:t>Marginal / ideal</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1470"/>
                        </a:lnSpc>
                        <a:buNone/>
                      </a:pPr>
                      <a:r>
                        <a:rPr lang="en-US" sz="1050" b="1" dirty="0">
                          <a:solidFill>
                            <a:srgbClr val="F6F4EF"/>
                          </a:solidFill>
                          <a:latin typeface="Be Vietnam Pro" pitchFamily="34" charset="0"/>
                          <a:ea typeface="Be Vietnam Pro" pitchFamily="34" charset="-122"/>
                          <a:cs typeface="Be Vietnam Pro" pitchFamily="34" charset="-120"/>
                        </a:rPr>
                        <a:t>Priority</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0"/>
                  </a:ext>
                </a:extLst>
              </a:tr>
              <a:tr h="538807">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Start/end of cycle correctly detected (% of loads)</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Know if free ***</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[bench test __ loads] · timer-only fallback</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90% / 98%</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Must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538807">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Time from cycle end to alert (min)</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Know when my load is done **</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[test]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&lt; 3 / &lt; 1</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Must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38807">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Extra actions per load for the user</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Works if steps are skipped ***</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Observed: people skip sign-up sheets [P0x]</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 1 / 0</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Must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2177">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Install time, tools needed</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Renter-friendly (demand)</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Landlord interview [date]</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&lt; 15 min / &lt; 5 min, no tools</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Must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538857">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Owner shown as room no. / last 4 digits</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Privacy (demand)</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PDPA · [P0x]</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configurable</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Should</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538857">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Queue, booking, usage records</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not needed to answer the HMW</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470"/>
                        </a:lnSpc>
                        <a:buNone/>
                      </a:pPr>
                      <a:r>
                        <a:rPr lang="en-US" sz="1050" dirty="0">
                          <a:solidFill>
                            <a:srgbClr val="1B2233"/>
                          </a:solidFill>
                          <a:latin typeface="Be Vietnam Pro" pitchFamily="34" charset="0"/>
                          <a:ea typeface="Be Vietnam Pro" pitchFamily="34" charset="-122"/>
                          <a:cs typeface="Be Vietnam Pro" pitchFamily="34" charset="-120"/>
                        </a:rPr>
                        <a:t>Out of scope</a:t>
                      </a:r>
                      <a:endParaRPr lang="en-US" sz="105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3169768927"/>
              </p:ext>
            </p:extLst>
          </p:nvPr>
        </p:nvGraphicFramePr>
        <p:xfrm>
          <a:off x="825500" y="4915694"/>
          <a:ext cx="10553700" cy="1007121"/>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335707">
                <a:tc>
                  <a:txBody>
                    <a:bodyPr/>
                    <a:lstStyle/>
                    <a:p>
                      <a:pPr marL="0" indent="0">
                        <a:lnSpc>
                          <a:spcPts val="1344"/>
                        </a:lnSpc>
                        <a:buNone/>
                      </a:pPr>
                      <a:r>
                        <a:rPr lang="en-US" sz="960" b="1" dirty="0">
                          <a:solidFill>
                            <a:srgbClr val="F6F4EF"/>
                          </a:solidFill>
                          <a:latin typeface="Be Vietnam Pro" pitchFamily="34" charset="0"/>
                          <a:ea typeface="Be Vietnam Pro" pitchFamily="34" charset="-122"/>
                          <a:cs typeface="Be Vietnam Pro" pitchFamily="34" charset="-120"/>
                        </a:rPr>
                        <a:t>KPI</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1344"/>
                        </a:lnSpc>
                        <a:buNone/>
                      </a:pPr>
                      <a:r>
                        <a:rPr lang="en-US" sz="960" b="1" dirty="0">
                          <a:solidFill>
                            <a:srgbClr val="F6F4EF"/>
                          </a:solidFill>
                          <a:latin typeface="Be Vietnam Pro" pitchFamily="34" charset="0"/>
                          <a:ea typeface="Be Vietnam Pro" pitchFamily="34" charset="-122"/>
                          <a:cs typeface="Be Vietnam Pro" pitchFamily="34" charset="-120"/>
                        </a:rPr>
                        <a:t>Baseline (measure this week)</a:t>
                      </a:r>
                      <a:endParaRPr lang="en-US" sz="960" dirty="0">
                        <a:latin typeface="Be Vietnam Pro" charset="0"/>
                        <a:ea typeface="Be Vietnam Pro" charset="0"/>
                        <a:cs typeface="Be Vietnam Pro" charset="0"/>
                      </a:endParaRPr>
                    </a:p>
                  </a:txBody>
                  <a:tcPr marL="76200" marR="76200" marT="76200" marB="762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tc>
                  <a:txBody>
                    <a:bodyPr/>
                    <a:lstStyle/>
                    <a:p>
                      <a:pPr marL="0" indent="0">
                        <a:lnSpc>
                          <a:spcPts val="1344"/>
                        </a:lnSpc>
                        <a:buNone/>
                      </a:pPr>
                      <a:r>
                        <a:rPr lang="en-US" sz="960" b="1" dirty="0">
                          <a:solidFill>
                            <a:srgbClr val="F6F4EF"/>
                          </a:solidFill>
                          <a:latin typeface="Be Vietnam Pro" pitchFamily="34" charset="0"/>
                          <a:ea typeface="Be Vietnam Pro" pitchFamily="34" charset="-122"/>
                          <a:cs typeface="Be Vietnam Pro" pitchFamily="34" charset="-120"/>
                        </a:rPr>
                        <a:t>Target</a:t>
                      </a:r>
                      <a:endParaRPr lang="en-US" sz="960" dirty="0">
                        <a:latin typeface="Be Vietnam Pro" charset="0"/>
                        <a:ea typeface="Be Vietnam Pro" charset="0"/>
                        <a:cs typeface="Be Vietnam Pro" charset="0"/>
                      </a:endParaRPr>
                    </a:p>
                  </a:txBody>
                  <a:tcPr marL="76200" marR="76200" marT="76200" marB="7620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0"/>
                  </a:ext>
                </a:extLst>
              </a:tr>
              <a:tr h="335707">
                <a:tc>
                  <a:txBody>
                    <a:bodyPr/>
                    <a:lstStyle/>
                    <a:p>
                      <a:pPr marL="0" indent="0">
                        <a:lnSpc>
                          <a:spcPts val="1344"/>
                        </a:lnSpc>
                        <a:buNone/>
                      </a:pPr>
                      <a:r>
                        <a:rPr lang="en-US" sz="960" dirty="0">
                          <a:solidFill>
                            <a:srgbClr val="1B2233"/>
                          </a:solidFill>
                          <a:latin typeface="Be Vietnam Pro" pitchFamily="34" charset="0"/>
                          <a:ea typeface="Be Vietnam Pro" pitchFamily="34" charset="-122"/>
                          <a:cs typeface="Be Vietnam Pro" pitchFamily="34" charset="-120"/>
                        </a:rPr>
                        <a:t>Wasted trips to a busy machine</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344"/>
                        </a:lnSpc>
                        <a:buNone/>
                      </a:pPr>
                      <a:r>
                        <a:rPr lang="en-US" sz="960" dirty="0">
                          <a:solidFill>
                            <a:srgbClr val="1B2233"/>
                          </a:solidFill>
                          <a:latin typeface="Be Vietnam Pro" pitchFamily="34" charset="0"/>
                          <a:ea typeface="Be Vietnam Pro" pitchFamily="34" charset="-122"/>
                          <a:cs typeface="Be Vietnam Pro" pitchFamily="34" charset="-120"/>
                        </a:rPr>
                        <a:t>[__] / person / week</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344"/>
                        </a:lnSpc>
                        <a:buNone/>
                      </a:pPr>
                      <a:r>
                        <a:rPr lang="en-US" sz="960" dirty="0">
                          <a:solidFill>
                            <a:srgbClr val="1B2233"/>
                          </a:solidFill>
                          <a:latin typeface="Be Vietnam Pro" pitchFamily="34" charset="0"/>
                          <a:ea typeface="Be Vietnam Pro" pitchFamily="34" charset="-122"/>
                          <a:cs typeface="Be Vietnam Pro" pitchFamily="34" charset="-120"/>
                        </a:rPr>
                        <a:t>−[__]%</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5707">
                <a:tc>
                  <a:txBody>
                    <a:bodyPr/>
                    <a:lstStyle/>
                    <a:p>
                      <a:pPr marL="0" indent="0">
                        <a:lnSpc>
                          <a:spcPts val="1344"/>
                        </a:lnSpc>
                        <a:buNone/>
                      </a:pPr>
                      <a:r>
                        <a:rPr lang="en-US" sz="960" dirty="0">
                          <a:solidFill>
                            <a:srgbClr val="1B2233"/>
                          </a:solidFill>
                          <a:latin typeface="Be Vietnam Pro" pitchFamily="34" charset="0"/>
                          <a:ea typeface="Be Vietnam Pro" pitchFamily="34" charset="-122"/>
                          <a:cs typeface="Be Vietnam Pro" pitchFamily="34" charset="-120"/>
                        </a:rPr>
                        <a:t>Minutes a finished load sits uncollected</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344"/>
                        </a:lnSpc>
                        <a:buNone/>
                      </a:pPr>
                      <a:r>
                        <a:rPr lang="en-US" sz="960" dirty="0">
                          <a:solidFill>
                            <a:srgbClr val="1B2233"/>
                          </a:solidFill>
                          <a:latin typeface="Be Vietnam Pro" pitchFamily="34" charset="0"/>
                          <a:ea typeface="Be Vietnam Pro" pitchFamily="34" charset="-122"/>
                          <a:cs typeface="Be Vietnam Pro" pitchFamily="34" charset="-120"/>
                        </a:rPr>
                        <a:t>[__] min</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344"/>
                        </a:lnSpc>
                        <a:buNone/>
                      </a:pPr>
                      <a:r>
                        <a:rPr lang="en-US" sz="960" dirty="0">
                          <a:solidFill>
                            <a:srgbClr val="1B2233"/>
                          </a:solidFill>
                          <a:latin typeface="Be Vietnam Pro" pitchFamily="34" charset="0"/>
                          <a:ea typeface="Be Vietnam Pro" pitchFamily="34" charset="-122"/>
                          <a:cs typeface="Be Vietnam Pro" pitchFamily="34" charset="-120"/>
                        </a:rPr>
                        <a:t>&lt; 15 min</a:t>
                      </a:r>
                      <a:endParaRPr lang="en-US" sz="960" dirty="0">
                        <a:latin typeface="Be Vietnam Pro" charset="0"/>
                        <a:ea typeface="Be Vietnam Pro" charset="0"/>
                        <a:cs typeface="Be Vietnam Pro" charset="0"/>
                      </a:endParaRPr>
                    </a:p>
                  </a:txBody>
                  <a:tcPr marL="76200" marR="762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~0:40 · Detection accuracy is our known technical risk, so it is a measured requirement, not a promise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C4 · SEGMENT &amp; VALUE PROPOSITION (20) · METHOD: EARLY ADOPTER + VALUE PROP</a:t>
            </a:r>
            <a:endParaRPr lang="en-US" sz="1200" dirty="0"/>
          </a:p>
        </p:txBody>
      </p:sp>
      <p:sp>
        <p:nvSpPr>
          <p:cNvPr id="3" name="Text 1"/>
          <p:cNvSpPr/>
          <p:nvPr/>
        </p:nvSpPr>
        <p:spPr>
          <a:xfrm>
            <a:off x="812800" y="812800"/>
            <a:ext cx="578926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Who feels it first, and who pays</a:t>
            </a:r>
            <a:endParaRPr lang="en-US" sz="2800" dirty="0"/>
          </a:p>
        </p:txBody>
      </p:sp>
      <p:sp>
        <p:nvSpPr>
          <p:cNvPr id="4" name="Text 2"/>
          <p:cNvSpPr/>
          <p:nvPr/>
        </p:nvSpPr>
        <p:spPr>
          <a:xfrm>
            <a:off x="6585843" y="885180"/>
            <a:ext cx="2685306" cy="246360"/>
          </a:xfrm>
          <a:prstGeom prst="roundRect">
            <a:avLst>
              <a:gd name="adj" fmla="val 20620"/>
            </a:avLst>
          </a:prstGeom>
          <a:solidFill>
            <a:srgbClr val="F7E3D3"/>
          </a:solidFill>
          <a:ln/>
        </p:spPr>
        <p:txBody>
          <a:bodyPr wrap="none" lIns="0" tIns="0" rIns="0" bIns="0" rtlCol="0" anchor="ctr">
            <a:normAutofit/>
          </a:bodyPr>
          <a:lstStyle/>
          <a:p>
            <a:pPr marL="0" indent="0" algn="ctr">
              <a:lnSpc>
                <a:spcPts val="1540"/>
              </a:lnSpc>
              <a:buNone/>
            </a:pPr>
            <a:r>
              <a:rPr lang="en-US" sz="1100" b="1" dirty="0">
                <a:solidFill>
                  <a:srgbClr val="B4531A"/>
                </a:solidFill>
                <a:latin typeface="Be Vietnam Pro" pitchFamily="34" charset="0"/>
                <a:ea typeface="Be Vietnam Pro" pitchFamily="34" charset="-122"/>
                <a:cs typeface="Be Vietnam Pro" pitchFamily="34" charset="-120"/>
              </a:rPr>
              <a:t>HYPOTHESIS · validate in interviews</a:t>
            </a:r>
            <a:endParaRPr lang="en-US" sz="1100" dirty="0"/>
          </a:p>
        </p:txBody>
      </p:sp>
      <p:sp>
        <p:nvSpPr>
          <p:cNvPr id="5" name="Shape 3"/>
          <p:cNvSpPr/>
          <p:nvPr/>
        </p:nvSpPr>
        <p:spPr>
          <a:xfrm>
            <a:off x="815975" y="1435695"/>
            <a:ext cx="3414167" cy="1882577"/>
          </a:xfrm>
          <a:prstGeom prst="roundRect">
            <a:avLst>
              <a:gd name="adj" fmla="val 5228"/>
            </a:avLst>
          </a:prstGeom>
          <a:solidFill>
            <a:srgbClr val="FFFFFF"/>
          </a:solidFill>
          <a:ln w="6350">
            <a:solidFill>
              <a:srgbClr val="DDD8CC"/>
            </a:solidFill>
            <a:prstDash val="solid"/>
          </a:ln>
        </p:spPr>
        <p:txBody>
          <a:bodyPr/>
          <a:lstStyle/>
          <a:p>
            <a:endParaRPr lang="en-VN"/>
          </a:p>
        </p:txBody>
      </p:sp>
      <p:sp>
        <p:nvSpPr>
          <p:cNvPr id="6" name="Text 4"/>
          <p:cNvSpPr/>
          <p:nvPr/>
        </p:nvSpPr>
        <p:spPr>
          <a:xfrm>
            <a:off x="1009650" y="1629370"/>
            <a:ext cx="31176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Users</a:t>
            </a:r>
            <a:endParaRPr lang="en-US" sz="1500" dirty="0"/>
          </a:p>
        </p:txBody>
      </p:sp>
      <p:sp>
        <p:nvSpPr>
          <p:cNvPr id="7" name="Text 5"/>
          <p:cNvSpPr/>
          <p:nvPr/>
        </p:nvSpPr>
        <p:spPr>
          <a:xfrm>
            <a:off x="1009650" y="1934170"/>
            <a:ext cx="311762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Housemates in a shared flat, 5+ per washer, often not close friends</a:t>
            </a:r>
            <a:endParaRPr lang="en-US" sz="1300" dirty="0"/>
          </a:p>
        </p:txBody>
      </p:sp>
      <p:sp>
        <p:nvSpPr>
          <p:cNvPr id="8" name="Text 6"/>
          <p:cNvSpPr/>
          <p:nvPr/>
        </p:nvSpPr>
        <p:spPr>
          <a:xfrm>
            <a:off x="1009650" y="2456061"/>
            <a:ext cx="311762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Feel the pain daily</a:t>
            </a:r>
            <a:endParaRPr lang="en-US" sz="1300" dirty="0"/>
          </a:p>
        </p:txBody>
      </p:sp>
      <p:sp>
        <p:nvSpPr>
          <p:cNvPr id="9" name="Shape 7"/>
          <p:cNvSpPr/>
          <p:nvPr/>
        </p:nvSpPr>
        <p:spPr>
          <a:xfrm>
            <a:off x="4388892" y="1435695"/>
            <a:ext cx="3414216" cy="1882577"/>
          </a:xfrm>
          <a:prstGeom prst="roundRect">
            <a:avLst>
              <a:gd name="adj" fmla="val 5228"/>
            </a:avLst>
          </a:prstGeom>
          <a:solidFill>
            <a:srgbClr val="FFFFFF"/>
          </a:solidFill>
          <a:ln w="6350">
            <a:solidFill>
              <a:srgbClr val="DDD8CC"/>
            </a:solidFill>
            <a:prstDash val="solid"/>
          </a:ln>
        </p:spPr>
        <p:txBody>
          <a:bodyPr/>
          <a:lstStyle/>
          <a:p>
            <a:endParaRPr lang="en-VN"/>
          </a:p>
        </p:txBody>
      </p:sp>
      <p:sp>
        <p:nvSpPr>
          <p:cNvPr id="10" name="Text 8"/>
          <p:cNvSpPr/>
          <p:nvPr/>
        </p:nvSpPr>
        <p:spPr>
          <a:xfrm>
            <a:off x="4582567" y="1629370"/>
            <a:ext cx="311767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Early adopter / buyer</a:t>
            </a:r>
            <a:endParaRPr lang="en-US" sz="1500" dirty="0"/>
          </a:p>
        </p:txBody>
      </p:sp>
      <p:sp>
        <p:nvSpPr>
          <p:cNvPr id="11" name="Text 9"/>
          <p:cNvSpPr/>
          <p:nvPr/>
        </p:nvSpPr>
        <p:spPr>
          <a:xfrm>
            <a:off x="4582567" y="1934170"/>
            <a:ext cx="3117672"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The </a:t>
            </a:r>
            <a:r>
              <a:rPr lang="en-US" sz="1300" b="1" dirty="0">
                <a:solidFill>
                  <a:srgbClr val="1B2233"/>
                </a:solidFill>
                <a:latin typeface="Be Vietnam Pro" pitchFamily="34" charset="0"/>
                <a:ea typeface="Be Vietnam Pro" pitchFamily="34" charset="-122"/>
                <a:cs typeface="Be Vietnam Pro" pitchFamily="34" charset="-120"/>
              </a:rPr>
              <a:t>live-in landlord or master tenant</a:t>
            </a:r>
            <a:r>
              <a:rPr lang="en-US" sz="1300" dirty="0">
                <a:solidFill>
                  <a:srgbClr val="1B2233"/>
                </a:solidFill>
                <a:latin typeface="Be Vietnam Pro" pitchFamily="34" charset="0"/>
                <a:ea typeface="Be Vietnam Pro" pitchFamily="34" charset="-122"/>
                <a:cs typeface="Be Vietnam Pro" pitchFamily="34" charset="-120"/>
              </a:rPr>
              <a:t> who already fields laundry complaints</a:t>
            </a:r>
            <a:endParaRPr lang="en-US" sz="1300" dirty="0"/>
          </a:p>
        </p:txBody>
      </p:sp>
      <p:sp>
        <p:nvSpPr>
          <p:cNvPr id="12" name="Text 10"/>
          <p:cNvSpPr/>
          <p:nvPr/>
        </p:nvSpPr>
        <p:spPr>
          <a:xfrm>
            <a:off x="4582567" y="2678906"/>
            <a:ext cx="311767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One decision maker · can make it a house rule</a:t>
            </a:r>
            <a:endParaRPr lang="en-US" sz="1300" dirty="0"/>
          </a:p>
        </p:txBody>
      </p:sp>
      <p:sp>
        <p:nvSpPr>
          <p:cNvPr id="13" name="Shape 11"/>
          <p:cNvSpPr/>
          <p:nvPr/>
        </p:nvSpPr>
        <p:spPr>
          <a:xfrm>
            <a:off x="7961858" y="1435695"/>
            <a:ext cx="3414167" cy="1882577"/>
          </a:xfrm>
          <a:prstGeom prst="roundRect">
            <a:avLst>
              <a:gd name="adj" fmla="val 5228"/>
            </a:avLst>
          </a:prstGeom>
          <a:solidFill>
            <a:srgbClr val="FFFFFF"/>
          </a:solidFill>
          <a:ln w="6350">
            <a:solidFill>
              <a:srgbClr val="DDD8CC"/>
            </a:solidFill>
            <a:prstDash val="solid"/>
          </a:ln>
        </p:spPr>
        <p:txBody>
          <a:bodyPr/>
          <a:lstStyle/>
          <a:p>
            <a:endParaRPr lang="en-VN"/>
          </a:p>
        </p:txBody>
      </p:sp>
      <p:sp>
        <p:nvSpPr>
          <p:cNvPr id="14" name="Text 12"/>
          <p:cNvSpPr/>
          <p:nvPr/>
        </p:nvSpPr>
        <p:spPr>
          <a:xfrm>
            <a:off x="8155533" y="1629370"/>
            <a:ext cx="31176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Later</a:t>
            </a:r>
            <a:endParaRPr lang="en-US" sz="1500" dirty="0"/>
          </a:p>
        </p:txBody>
      </p:sp>
      <p:sp>
        <p:nvSpPr>
          <p:cNvPr id="15" name="Text 13"/>
          <p:cNvSpPr/>
          <p:nvPr/>
        </p:nvSpPr>
        <p:spPr>
          <a:xfrm>
            <a:off x="8155533" y="1934170"/>
            <a:ext cx="311762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Operators of several rental units or co-living buildings</a:t>
            </a:r>
            <a:endParaRPr lang="en-US" sz="1300" dirty="0"/>
          </a:p>
        </p:txBody>
      </p:sp>
      <p:sp>
        <p:nvSpPr>
          <p:cNvPr id="16" name="Text 14"/>
          <p:cNvSpPr/>
          <p:nvPr/>
        </p:nvSpPr>
        <p:spPr>
          <a:xfrm>
            <a:off x="8155533" y="2456061"/>
            <a:ext cx="311762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Many machines, one buyer</a:t>
            </a:r>
            <a:endParaRPr lang="en-US" sz="1300" dirty="0"/>
          </a:p>
        </p:txBody>
      </p:sp>
      <p:sp>
        <p:nvSpPr>
          <p:cNvPr id="17" name="Shape 15"/>
          <p:cNvSpPr/>
          <p:nvPr/>
        </p:nvSpPr>
        <p:spPr>
          <a:xfrm>
            <a:off x="812800" y="3550047"/>
            <a:ext cx="10566400" cy="1437481"/>
          </a:xfrm>
          <a:prstGeom prst="roundRect">
            <a:avLst>
              <a:gd name="adj" fmla="val 7068"/>
            </a:avLst>
          </a:prstGeom>
          <a:solidFill>
            <a:srgbClr val="1B2233"/>
          </a:solidFill>
          <a:ln/>
        </p:spPr>
        <p:txBody>
          <a:bodyPr/>
          <a:lstStyle/>
          <a:p>
            <a:endParaRPr lang="en-VN"/>
          </a:p>
        </p:txBody>
      </p:sp>
      <p:sp>
        <p:nvSpPr>
          <p:cNvPr id="18" name="Text 16"/>
          <p:cNvSpPr/>
          <p:nvPr/>
        </p:nvSpPr>
        <p:spPr>
          <a:xfrm>
            <a:off x="1066800" y="3765947"/>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56F"/>
                </a:solidFill>
                <a:latin typeface="Be Vietnam Pro" pitchFamily="34" charset="0"/>
                <a:ea typeface="Be Vietnam Pro" pitchFamily="34" charset="-122"/>
                <a:cs typeface="Be Vietnam Pro" pitchFamily="34" charset="-120"/>
              </a:rPr>
              <a:t>VALUE PROPOSITION</a:t>
            </a:r>
            <a:endParaRPr lang="en-US" sz="1200" dirty="0"/>
          </a:p>
        </p:txBody>
      </p:sp>
      <p:sp>
        <p:nvSpPr>
          <p:cNvPr id="19" name="Text 17"/>
          <p:cNvSpPr/>
          <p:nvPr/>
        </p:nvSpPr>
        <p:spPr>
          <a:xfrm>
            <a:off x="1066800" y="3979267"/>
            <a:ext cx="10360152" cy="81776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6F4EF"/>
                </a:solidFill>
                <a:latin typeface="Be Vietnam Pro" pitchFamily="34" charset="0"/>
                <a:ea typeface="Be Vietnam Pro" pitchFamily="34" charset="-122"/>
                <a:cs typeface="Be Vietnam Pro" pitchFamily="34" charset="-120"/>
              </a:rPr>
              <a:t>For landlords of shared flats where 5+ tenants share one washer, a stick-on status tag shows every tenant whether the machine is free and whose load is inside, and reminds them to collect it, unlike group-chat messages and notes on the machine, with no rewiring and one scan per load.</a:t>
            </a:r>
            <a:endParaRPr lang="en-US" sz="16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~0:30 · Users ≠ buyer: we tell the story from the tenants' pain and sell to the landlord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4531A"/>
                </a:solidFill>
                <a:latin typeface="Be Vietnam Pro" pitchFamily="34" charset="0"/>
                <a:ea typeface="Be Vietnam Pro" pitchFamily="34" charset="-122"/>
                <a:cs typeface="Be Vietnam Pro" pitchFamily="34" charset="-120"/>
              </a:rPr>
              <a:t>C4 · WILLINGNESS TO PAY (20) · METHOD: WTP HYPOTHESIS + TEST PLAN</a:t>
            </a:r>
            <a:endParaRPr lang="en-US" sz="1200" dirty="0"/>
          </a:p>
        </p:txBody>
      </p:sp>
      <p:sp>
        <p:nvSpPr>
          <p:cNvPr id="3" name="Text 1"/>
          <p:cNvSpPr/>
          <p:nvPr/>
        </p:nvSpPr>
        <p:spPr>
          <a:xfrm>
            <a:off x="812800" y="812800"/>
            <a:ext cx="8092540" cy="807641"/>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Be Vietnam Pro" pitchFamily="34" charset="0"/>
                <a:ea typeface="Be Vietnam Pro" pitchFamily="34" charset="-122"/>
                <a:cs typeface="Be Vietnam Pro" pitchFamily="34" charset="-120"/>
              </a:rPr>
              <a:t>What they would pay, and how we will find out</a:t>
            </a:r>
            <a:endParaRPr lang="en-US" sz="2800" dirty="0"/>
          </a:p>
        </p:txBody>
      </p:sp>
      <p:sp>
        <p:nvSpPr>
          <p:cNvPr id="4" name="Text 2"/>
          <p:cNvSpPr/>
          <p:nvPr/>
        </p:nvSpPr>
        <p:spPr>
          <a:xfrm>
            <a:off x="8822035" y="982960"/>
            <a:ext cx="2557165" cy="441920"/>
          </a:xfrm>
          <a:prstGeom prst="roundRect">
            <a:avLst>
              <a:gd name="adj" fmla="val 11495"/>
            </a:avLst>
          </a:prstGeom>
          <a:solidFill>
            <a:srgbClr val="F7E3D3"/>
          </a:solidFill>
          <a:ln/>
        </p:spPr>
        <p:txBody>
          <a:bodyPr wrap="square" lIns="61321" tIns="10521" rIns="0" bIns="0" rtlCol="0" anchor="t">
            <a:normAutofit/>
          </a:bodyPr>
          <a:lstStyle/>
          <a:p>
            <a:pPr marL="0" indent="0" algn="l">
              <a:lnSpc>
                <a:spcPts val="1540"/>
              </a:lnSpc>
              <a:buNone/>
            </a:pPr>
            <a:r>
              <a:rPr lang="en-US" sz="1100" b="1" dirty="0">
                <a:solidFill>
                  <a:srgbClr val="B4531A"/>
                </a:solidFill>
                <a:latin typeface="Be Vietnam Pro" pitchFamily="34" charset="0"/>
                <a:ea typeface="Be Vietnam Pro" pitchFamily="34" charset="-122"/>
                <a:cs typeface="Be Vietnam Pro" pitchFamily="34" charset="-120"/>
              </a:rPr>
              <a:t>HYPOTHESIS · validate in interviews</a:t>
            </a:r>
            <a:endParaRPr lang="en-US" sz="1100" dirty="0"/>
          </a:p>
        </p:txBody>
      </p:sp>
      <p:sp>
        <p:nvSpPr>
          <p:cNvPr id="5" name="Shape 3"/>
          <p:cNvSpPr/>
          <p:nvPr/>
        </p:nvSpPr>
        <p:spPr>
          <a:xfrm>
            <a:off x="815975" y="1826816"/>
            <a:ext cx="2520950" cy="1659731"/>
          </a:xfrm>
          <a:prstGeom prst="roundRect">
            <a:avLst>
              <a:gd name="adj" fmla="val 5930"/>
            </a:avLst>
          </a:prstGeom>
          <a:solidFill>
            <a:srgbClr val="FFFFFF"/>
          </a:solidFill>
          <a:ln w="6350">
            <a:solidFill>
              <a:srgbClr val="DDD8CC"/>
            </a:solidFill>
            <a:prstDash val="solid"/>
          </a:ln>
        </p:spPr>
        <p:txBody>
          <a:bodyPr/>
          <a:lstStyle/>
          <a:p>
            <a:endParaRPr lang="en-VN"/>
          </a:p>
        </p:txBody>
      </p:sp>
      <p:sp>
        <p:nvSpPr>
          <p:cNvPr id="6" name="Text 4"/>
          <p:cNvSpPr/>
          <p:nvPr/>
        </p:nvSpPr>
        <p:spPr>
          <a:xfrm>
            <a:off x="1009650" y="2020491"/>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Offer</a:t>
            </a:r>
            <a:endParaRPr lang="en-US" sz="1500" dirty="0"/>
          </a:p>
        </p:txBody>
      </p:sp>
      <p:sp>
        <p:nvSpPr>
          <p:cNvPr id="7" name="Text 5"/>
          <p:cNvSpPr/>
          <p:nvPr/>
        </p:nvSpPr>
        <p:spPr>
          <a:xfrm>
            <a:off x="1009650" y="2325291"/>
            <a:ext cx="219760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One stick-on tag per machine + a one-page setup guide</a:t>
            </a:r>
            <a:endParaRPr lang="en-US" sz="1300" dirty="0"/>
          </a:p>
        </p:txBody>
      </p:sp>
      <p:sp>
        <p:nvSpPr>
          <p:cNvPr id="8" name="Text 6"/>
          <p:cNvSpPr/>
          <p:nvPr/>
        </p:nvSpPr>
        <p:spPr>
          <a:xfrm>
            <a:off x="1009650" y="3070027"/>
            <a:ext cx="219760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No subscription for v1</a:t>
            </a:r>
            <a:endParaRPr lang="en-US" sz="1300" dirty="0"/>
          </a:p>
        </p:txBody>
      </p:sp>
      <p:sp>
        <p:nvSpPr>
          <p:cNvPr id="9" name="Shape 7"/>
          <p:cNvSpPr/>
          <p:nvPr/>
        </p:nvSpPr>
        <p:spPr>
          <a:xfrm>
            <a:off x="3495675" y="1826816"/>
            <a:ext cx="2520950" cy="1659731"/>
          </a:xfrm>
          <a:prstGeom prst="roundRect">
            <a:avLst>
              <a:gd name="adj" fmla="val 5930"/>
            </a:avLst>
          </a:prstGeom>
          <a:solidFill>
            <a:srgbClr val="FFFFFF"/>
          </a:solidFill>
          <a:ln w="6350">
            <a:solidFill>
              <a:srgbClr val="DDD8CC"/>
            </a:solidFill>
            <a:prstDash val="solid"/>
          </a:ln>
        </p:spPr>
        <p:txBody>
          <a:bodyPr/>
          <a:lstStyle/>
          <a:p>
            <a:endParaRPr lang="en-VN"/>
          </a:p>
        </p:txBody>
      </p:sp>
      <p:sp>
        <p:nvSpPr>
          <p:cNvPr id="10" name="Text 8"/>
          <p:cNvSpPr/>
          <p:nvPr/>
        </p:nvSpPr>
        <p:spPr>
          <a:xfrm>
            <a:off x="3689350" y="2020491"/>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Price hypothesis</a:t>
            </a:r>
            <a:endParaRPr lang="en-US" sz="1500" dirty="0"/>
          </a:p>
        </p:txBody>
      </p:sp>
      <p:sp>
        <p:nvSpPr>
          <p:cNvPr id="11" name="Text 9"/>
          <p:cNvSpPr/>
          <p:nvPr/>
        </p:nvSpPr>
        <p:spPr>
          <a:xfrm>
            <a:off x="3689350" y="2325291"/>
            <a:ext cx="2197608" cy="558800"/>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B4531A"/>
                </a:solidFill>
                <a:latin typeface="Be Vietnam Pro" pitchFamily="34" charset="0"/>
                <a:ea typeface="Be Vietnam Pro" pitchFamily="34" charset="-122"/>
                <a:cs typeface="Be Vietnam Pro" pitchFamily="34" charset="-120"/>
              </a:rPr>
              <a:t>S$[__]</a:t>
            </a:r>
            <a:endParaRPr lang="en-US" sz="3000" dirty="0"/>
          </a:p>
        </p:txBody>
      </p:sp>
      <p:sp>
        <p:nvSpPr>
          <p:cNvPr id="12" name="Text 10"/>
          <p:cNvSpPr/>
          <p:nvPr/>
        </p:nvSpPr>
        <p:spPr>
          <a:xfrm>
            <a:off x="3689350" y="2934891"/>
            <a:ext cx="219760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per tag, one-off</a:t>
            </a:r>
            <a:endParaRPr lang="en-US" sz="1300" dirty="0"/>
          </a:p>
        </p:txBody>
      </p:sp>
      <p:sp>
        <p:nvSpPr>
          <p:cNvPr id="13" name="Shape 11"/>
          <p:cNvSpPr/>
          <p:nvPr/>
        </p:nvSpPr>
        <p:spPr>
          <a:xfrm>
            <a:off x="6175375" y="1826816"/>
            <a:ext cx="2520950" cy="1659731"/>
          </a:xfrm>
          <a:prstGeom prst="roundRect">
            <a:avLst>
              <a:gd name="adj" fmla="val 5930"/>
            </a:avLst>
          </a:prstGeom>
          <a:solidFill>
            <a:srgbClr val="FFFFFF"/>
          </a:solidFill>
          <a:ln w="6350">
            <a:solidFill>
              <a:srgbClr val="DDD8CC"/>
            </a:solidFill>
            <a:prstDash val="solid"/>
          </a:ln>
        </p:spPr>
        <p:txBody>
          <a:bodyPr/>
          <a:lstStyle/>
          <a:p>
            <a:endParaRPr lang="en-VN"/>
          </a:p>
        </p:txBody>
      </p:sp>
      <p:sp>
        <p:nvSpPr>
          <p:cNvPr id="14" name="Text 12"/>
          <p:cNvSpPr/>
          <p:nvPr/>
        </p:nvSpPr>
        <p:spPr>
          <a:xfrm>
            <a:off x="6369050" y="2020491"/>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Who pays</a:t>
            </a:r>
            <a:endParaRPr lang="en-US" sz="1500" dirty="0"/>
          </a:p>
        </p:txBody>
      </p:sp>
      <p:sp>
        <p:nvSpPr>
          <p:cNvPr id="15" name="Text 13"/>
          <p:cNvSpPr/>
          <p:nvPr/>
        </p:nvSpPr>
        <p:spPr>
          <a:xfrm>
            <a:off x="6369050" y="2325291"/>
            <a:ext cx="219760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Landlord or master tenant</a:t>
            </a:r>
            <a:endParaRPr lang="en-US" sz="1300" dirty="0"/>
          </a:p>
        </p:txBody>
      </p:sp>
      <p:sp>
        <p:nvSpPr>
          <p:cNvPr id="16" name="Text 14"/>
          <p:cNvSpPr/>
          <p:nvPr/>
        </p:nvSpPr>
        <p:spPr>
          <a:xfrm>
            <a:off x="6369050" y="2624336"/>
            <a:ext cx="219760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Fallback: split among housemates</a:t>
            </a:r>
            <a:endParaRPr lang="en-US" sz="1300" dirty="0"/>
          </a:p>
        </p:txBody>
      </p:sp>
      <p:sp>
        <p:nvSpPr>
          <p:cNvPr id="17" name="Shape 15"/>
          <p:cNvSpPr/>
          <p:nvPr/>
        </p:nvSpPr>
        <p:spPr>
          <a:xfrm>
            <a:off x="8855075" y="1826816"/>
            <a:ext cx="2520950" cy="1659731"/>
          </a:xfrm>
          <a:prstGeom prst="roundRect">
            <a:avLst>
              <a:gd name="adj" fmla="val 5930"/>
            </a:avLst>
          </a:prstGeom>
          <a:solidFill>
            <a:srgbClr val="FFFFFF"/>
          </a:solidFill>
          <a:ln w="6350">
            <a:solidFill>
              <a:srgbClr val="DDD8CC"/>
            </a:solidFill>
            <a:prstDash val="solid"/>
          </a:ln>
        </p:spPr>
        <p:txBody>
          <a:bodyPr/>
          <a:lstStyle/>
          <a:p>
            <a:endParaRPr lang="en-VN"/>
          </a:p>
        </p:txBody>
      </p:sp>
      <p:sp>
        <p:nvSpPr>
          <p:cNvPr id="18" name="Text 16"/>
          <p:cNvSpPr/>
          <p:nvPr/>
        </p:nvSpPr>
        <p:spPr>
          <a:xfrm>
            <a:off x="9048750" y="2020491"/>
            <a:ext cx="21976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Anchors</a:t>
            </a:r>
            <a:endParaRPr lang="en-US" sz="1500" dirty="0"/>
          </a:p>
        </p:txBody>
      </p:sp>
      <p:sp>
        <p:nvSpPr>
          <p:cNvPr id="19" name="Text 17"/>
          <p:cNvSpPr/>
          <p:nvPr/>
        </p:nvSpPr>
        <p:spPr>
          <a:xfrm>
            <a:off x="9048750" y="2325291"/>
            <a:ext cx="219760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Smart plug price: S$[__]</a:t>
            </a:r>
            <a:endParaRPr lang="en-US" sz="1300" dirty="0"/>
          </a:p>
        </p:txBody>
      </p:sp>
      <p:sp>
        <p:nvSpPr>
          <p:cNvPr id="20" name="Text 18"/>
          <p:cNvSpPr/>
          <p:nvPr/>
        </p:nvSpPr>
        <p:spPr>
          <a:xfrm>
            <a:off x="9048750" y="2624336"/>
            <a:ext cx="219760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6475"/>
                </a:solidFill>
                <a:latin typeface="Be Vietnam Pro" pitchFamily="34" charset="0"/>
                <a:ea typeface="Be Vietnam Pro" pitchFamily="34" charset="-122"/>
                <a:cs typeface="Be Vietnam Pro" pitchFamily="34" charset="-120"/>
              </a:rPr>
              <a:t>Cost of complaints / tenant turnover: [landlord]</a:t>
            </a:r>
            <a:endParaRPr lang="en-US" sz="1300" dirty="0"/>
          </a:p>
        </p:txBody>
      </p:sp>
      <p:sp>
        <p:nvSpPr>
          <p:cNvPr id="21" name="Shape 19"/>
          <p:cNvSpPr/>
          <p:nvPr/>
        </p:nvSpPr>
        <p:spPr>
          <a:xfrm>
            <a:off x="815975" y="3721497"/>
            <a:ext cx="10560050" cy="2117328"/>
          </a:xfrm>
          <a:prstGeom prst="roundRect">
            <a:avLst>
              <a:gd name="adj" fmla="val 4649"/>
            </a:avLst>
          </a:prstGeom>
          <a:solidFill>
            <a:srgbClr val="FFFFFF"/>
          </a:solidFill>
          <a:ln w="6350">
            <a:solidFill>
              <a:srgbClr val="DDD8CC"/>
            </a:solidFill>
            <a:prstDash val="solid"/>
          </a:ln>
        </p:spPr>
        <p:txBody>
          <a:bodyPr/>
          <a:lstStyle/>
          <a:p>
            <a:endParaRPr lang="en-VN"/>
          </a:p>
        </p:txBody>
      </p:sp>
      <p:sp>
        <p:nvSpPr>
          <p:cNvPr id="22" name="Text 20"/>
          <p:cNvSpPr/>
          <p:nvPr/>
        </p:nvSpPr>
        <p:spPr>
          <a:xfrm>
            <a:off x="1009650" y="3915172"/>
            <a:ext cx="10477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5597"/>
                </a:solidFill>
                <a:latin typeface="Be Vietnam Pro" pitchFamily="34" charset="0"/>
                <a:ea typeface="Be Vietnam Pro" pitchFamily="34" charset="-122"/>
                <a:cs typeface="Be Vietnam Pro" pitchFamily="34" charset="-120"/>
              </a:rPr>
              <a:t>How we test it this week</a:t>
            </a:r>
            <a:endParaRPr lang="en-US" sz="1500" dirty="0"/>
          </a:p>
        </p:txBody>
      </p:sp>
      <p:sp>
        <p:nvSpPr>
          <p:cNvPr id="23" name="Text 21"/>
          <p:cNvSpPr/>
          <p:nvPr/>
        </p:nvSpPr>
        <p:spPr>
          <a:xfrm>
            <a:off x="1009650" y="4219972"/>
            <a:ext cx="1047788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1. Ask our landlord and 2–3 others what they spend today on laundry fixes and complaints</a:t>
            </a:r>
            <a:endParaRPr lang="en-US" sz="1300" dirty="0"/>
          </a:p>
        </p:txBody>
      </p:sp>
      <p:sp>
        <p:nvSpPr>
          <p:cNvPr id="24" name="Text 22"/>
          <p:cNvSpPr/>
          <p:nvPr/>
        </p:nvSpPr>
        <p:spPr>
          <a:xfrm>
            <a:off x="1009650" y="4519017"/>
            <a:ext cx="1047788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2. Van Westendorp price questions in the housemate survey (too cheap / cheap / expensive / too expensive)</a:t>
            </a:r>
            <a:endParaRPr lang="en-US" sz="1300" dirty="0"/>
          </a:p>
        </p:txBody>
      </p:sp>
      <p:sp>
        <p:nvSpPr>
          <p:cNvPr id="25" name="Text 23"/>
          <p:cNvSpPr/>
          <p:nvPr/>
        </p:nvSpPr>
        <p:spPr>
          <a:xfrm>
            <a:off x="1009650" y="4818063"/>
            <a:ext cx="1047788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B2233"/>
                </a:solidFill>
                <a:latin typeface="Be Vietnam Pro" pitchFamily="34" charset="0"/>
                <a:ea typeface="Be Vietnam Pro" pitchFamily="34" charset="-122"/>
                <a:cs typeface="Be Vietnam Pro" pitchFamily="34" charset="-120"/>
              </a:rPr>
              <a:t>3. Ask for a pre-order or letter of intent at our target price</a:t>
            </a:r>
            <a:endParaRPr lang="en-US" sz="13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Be Vietnam Pro" pitchFamily="34" charset="0"/>
                <a:ea typeface="Be Vietnam Pro" pitchFamily="34" charset="-122"/>
                <a:cs typeface="Be Vietnam Pro" pitchFamily="34" charset="-120"/>
              </a:rPr>
              <a:t>~0:30 · Bill of materials must stay under the price with margin: BOM S$[__] per tag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406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E9A56F"/>
                </a:solidFill>
                <a:latin typeface="Be Vietnam Pro" pitchFamily="34" charset="0"/>
                <a:ea typeface="Be Vietnam Pro" pitchFamily="34" charset="-122"/>
                <a:cs typeface="Be Vietnam Pro" pitchFamily="34" charset="-120"/>
              </a:rPr>
              <a:t>NEXT · TOWARDS MILESTONE 2</a:t>
            </a:r>
            <a:endParaRPr lang="en-US" sz="1200" dirty="0"/>
          </a:p>
        </p:txBody>
      </p:sp>
      <p:sp>
        <p:nvSpPr>
          <p:cNvPr id="3" name="Text 1"/>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4EF"/>
                </a:solidFill>
                <a:latin typeface="Be Vietnam Pro" pitchFamily="34" charset="0"/>
                <a:ea typeface="Be Vietnam Pro" pitchFamily="34" charset="-122"/>
                <a:cs typeface="Be Vietnam Pro" pitchFamily="34" charset="-120"/>
              </a:rPr>
              <a:t>What we'll do next</a:t>
            </a:r>
            <a:endParaRPr lang="en-US" sz="2800" dirty="0"/>
          </a:p>
        </p:txBody>
      </p:sp>
      <p:sp>
        <p:nvSpPr>
          <p:cNvPr id="4" name="Shape 2"/>
          <p:cNvSpPr/>
          <p:nvPr/>
        </p:nvSpPr>
        <p:spPr>
          <a:xfrm>
            <a:off x="815975" y="1461095"/>
            <a:ext cx="3397250" cy="1465511"/>
          </a:xfrm>
          <a:prstGeom prst="roundRect">
            <a:avLst>
              <a:gd name="adj" fmla="val 6716"/>
            </a:avLst>
          </a:prstGeom>
          <a:solidFill>
            <a:srgbClr val="26304A"/>
          </a:solidFill>
          <a:ln w="6350">
            <a:solidFill>
              <a:srgbClr val="3A4563"/>
            </a:solidFill>
            <a:prstDash val="solid"/>
          </a:ln>
        </p:spPr>
        <p:txBody>
          <a:bodyPr/>
          <a:lstStyle/>
          <a:p>
            <a:endParaRPr lang="en-VN"/>
          </a:p>
        </p:txBody>
      </p:sp>
      <p:sp>
        <p:nvSpPr>
          <p:cNvPr id="5" name="Text 3"/>
          <p:cNvSpPr/>
          <p:nvPr/>
        </p:nvSpPr>
        <p:spPr>
          <a:xfrm>
            <a:off x="1022350" y="1667470"/>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56F"/>
                </a:solidFill>
                <a:latin typeface="Be Vietnam Pro" pitchFamily="34" charset="0"/>
                <a:ea typeface="Be Vietnam Pro" pitchFamily="34" charset="-122"/>
                <a:cs typeface="Be Vietnam Pro" pitchFamily="34" charset="-120"/>
              </a:rPr>
              <a:t>Validate</a:t>
            </a:r>
            <a:endParaRPr lang="en-US" sz="1600" dirty="0"/>
          </a:p>
        </p:txBody>
      </p:sp>
      <p:sp>
        <p:nvSpPr>
          <p:cNvPr id="6" name="Text 4"/>
          <p:cNvSpPr/>
          <p:nvPr/>
        </p:nvSpPr>
        <p:spPr>
          <a:xfrm>
            <a:off x="1022350" y="2000200"/>
            <a:ext cx="307403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5D9E2"/>
                </a:solidFill>
                <a:latin typeface="Be Vietnam Pro" pitchFamily="34" charset="0"/>
                <a:ea typeface="Be Vietnam Pro" pitchFamily="34" charset="-122"/>
                <a:cs typeface="Be Vietnam Pro" pitchFamily="34" charset="-120"/>
              </a:rPr>
              <a:t>[riskiest assumption to test]</a:t>
            </a:r>
            <a:endParaRPr lang="en-US" sz="1400" dirty="0"/>
          </a:p>
        </p:txBody>
      </p:sp>
      <p:sp>
        <p:nvSpPr>
          <p:cNvPr id="7" name="Shape 5"/>
          <p:cNvSpPr/>
          <p:nvPr/>
        </p:nvSpPr>
        <p:spPr>
          <a:xfrm>
            <a:off x="4397375" y="1461095"/>
            <a:ext cx="3397250" cy="1465511"/>
          </a:xfrm>
          <a:prstGeom prst="roundRect">
            <a:avLst>
              <a:gd name="adj" fmla="val 6716"/>
            </a:avLst>
          </a:prstGeom>
          <a:solidFill>
            <a:srgbClr val="26304A"/>
          </a:solidFill>
          <a:ln w="6350">
            <a:solidFill>
              <a:srgbClr val="3A4563"/>
            </a:solidFill>
            <a:prstDash val="solid"/>
          </a:ln>
        </p:spPr>
        <p:txBody>
          <a:bodyPr/>
          <a:lstStyle/>
          <a:p>
            <a:endParaRPr lang="en-VN"/>
          </a:p>
        </p:txBody>
      </p:sp>
      <p:sp>
        <p:nvSpPr>
          <p:cNvPr id="8" name="Text 6"/>
          <p:cNvSpPr/>
          <p:nvPr/>
        </p:nvSpPr>
        <p:spPr>
          <a:xfrm>
            <a:off x="4603750" y="1667470"/>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56F"/>
                </a:solidFill>
                <a:latin typeface="Be Vietnam Pro" pitchFamily="34" charset="0"/>
                <a:ea typeface="Be Vietnam Pro" pitchFamily="34" charset="-122"/>
                <a:cs typeface="Be Vietnam Pro" pitchFamily="34" charset="-120"/>
              </a:rPr>
              <a:t>Ideate</a:t>
            </a:r>
            <a:endParaRPr lang="en-US" sz="1600" dirty="0"/>
          </a:p>
        </p:txBody>
      </p:sp>
      <p:sp>
        <p:nvSpPr>
          <p:cNvPr id="9" name="Text 7"/>
          <p:cNvSpPr/>
          <p:nvPr/>
        </p:nvSpPr>
        <p:spPr>
          <a:xfrm>
            <a:off x="4603750" y="2000200"/>
            <a:ext cx="3074035"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5D9E2"/>
                </a:solidFill>
                <a:latin typeface="Be Vietnam Pro" pitchFamily="34" charset="0"/>
                <a:ea typeface="Be Vietnam Pro" pitchFamily="34" charset="-122"/>
                <a:cs typeface="Be Vietnam Pro" pitchFamily="34" charset="-120"/>
              </a:rPr>
              <a:t>Multiple distinct concepts (mechanical, digital, hybrid) answering our HMW</a:t>
            </a:r>
            <a:endParaRPr lang="en-US" sz="1400" dirty="0"/>
          </a:p>
        </p:txBody>
      </p:sp>
      <p:sp>
        <p:nvSpPr>
          <p:cNvPr id="10" name="Shape 8"/>
          <p:cNvSpPr/>
          <p:nvPr/>
        </p:nvSpPr>
        <p:spPr>
          <a:xfrm>
            <a:off x="7978775" y="1461095"/>
            <a:ext cx="3397250" cy="1465511"/>
          </a:xfrm>
          <a:prstGeom prst="roundRect">
            <a:avLst>
              <a:gd name="adj" fmla="val 6716"/>
            </a:avLst>
          </a:prstGeom>
          <a:solidFill>
            <a:srgbClr val="26304A"/>
          </a:solidFill>
          <a:ln w="6350">
            <a:solidFill>
              <a:srgbClr val="3A4563"/>
            </a:solidFill>
            <a:prstDash val="solid"/>
          </a:ln>
        </p:spPr>
        <p:txBody>
          <a:bodyPr/>
          <a:lstStyle/>
          <a:p>
            <a:endParaRPr lang="en-VN"/>
          </a:p>
        </p:txBody>
      </p:sp>
      <p:sp>
        <p:nvSpPr>
          <p:cNvPr id="11" name="Text 9"/>
          <p:cNvSpPr/>
          <p:nvPr/>
        </p:nvSpPr>
        <p:spPr>
          <a:xfrm>
            <a:off x="8185150" y="1667470"/>
            <a:ext cx="30740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56F"/>
                </a:solidFill>
                <a:latin typeface="Be Vietnam Pro" pitchFamily="34" charset="0"/>
                <a:ea typeface="Be Vietnam Pro" pitchFamily="34" charset="-122"/>
                <a:cs typeface="Be Vietnam Pro" pitchFamily="34" charset="-120"/>
              </a:rPr>
              <a:t>Constraints we know</a:t>
            </a:r>
            <a:endParaRPr lang="en-US" sz="1600" dirty="0"/>
          </a:p>
        </p:txBody>
      </p:sp>
      <p:sp>
        <p:nvSpPr>
          <p:cNvPr id="12" name="Text 10"/>
          <p:cNvSpPr/>
          <p:nvPr/>
        </p:nvSpPr>
        <p:spPr>
          <a:xfrm>
            <a:off x="8185150" y="2000200"/>
            <a:ext cx="307403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5D9E2"/>
                </a:solidFill>
                <a:latin typeface="Be Vietnam Pro" pitchFamily="34" charset="0"/>
                <a:ea typeface="Be Vietnam Pro" pitchFamily="34" charset="-122"/>
                <a:cs typeface="Be Vietnam Pro" pitchFamily="34" charset="-120"/>
              </a:rPr>
              <a:t>[technical / cost / safety limits]</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~0:15 · Validate, ideate and known constraints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233"/>
        </a:solidFill>
        <a:effectLst/>
      </p:bgPr>
    </p:bg>
    <p:spTree>
      <p:nvGrpSpPr>
        <p:cNvPr id="1" name=""/>
        <p:cNvGrpSpPr/>
        <p:nvPr/>
      </p:nvGrpSpPr>
      <p:grpSpPr>
        <a:xfrm>
          <a:off x="0" y="0"/>
          <a:ext cx="0" cy="0"/>
          <a:chOff x="0" y="0"/>
          <a:chExt cx="0" cy="0"/>
        </a:xfrm>
      </p:grpSpPr>
      <p:sp>
        <p:nvSpPr>
          <p:cNvPr id="2" name="Text 0"/>
          <p:cNvSpPr/>
          <p:nvPr/>
        </p:nvSpPr>
        <p:spPr>
          <a:xfrm>
            <a:off x="812800" y="230887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9A56F"/>
                </a:solidFill>
                <a:latin typeface="Be Vietnam Pro" pitchFamily="34" charset="0"/>
                <a:ea typeface="Be Vietnam Pro" pitchFamily="34" charset="-122"/>
                <a:cs typeface="Be Vietnam Pro" pitchFamily="34" charset="-120"/>
              </a:rPr>
              <a:t>MILESTONE 1 · DISCOVER &amp; DEFINE</a:t>
            </a:r>
            <a:endParaRPr lang="en-US" sz="1400" dirty="0"/>
          </a:p>
        </p:txBody>
      </p:sp>
      <p:sp>
        <p:nvSpPr>
          <p:cNvPr id="3" name="Text 1"/>
          <p:cNvSpPr/>
          <p:nvPr/>
        </p:nvSpPr>
        <p:spPr>
          <a:xfrm>
            <a:off x="812800" y="276096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6F4EF"/>
                </a:solidFill>
                <a:latin typeface="Be Vietnam Pro" pitchFamily="34" charset="0"/>
                <a:ea typeface="Be Vietnam Pro" pitchFamily="34" charset="-122"/>
                <a:cs typeface="Be Vietnam Pro" pitchFamily="34" charset="-120"/>
              </a:rPr>
              <a:t>Thank you</a:t>
            </a:r>
            <a:endParaRPr lang="en-US" sz="8000" dirty="0"/>
          </a:p>
        </p:txBody>
      </p:sp>
      <p:sp>
        <p:nvSpPr>
          <p:cNvPr id="4" name="Text 2"/>
          <p:cNvSpPr/>
          <p:nvPr/>
        </p:nvSpPr>
        <p:spPr>
          <a:xfrm>
            <a:off x="812800" y="3980160"/>
            <a:ext cx="1088339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9A56F"/>
                </a:solidFill>
                <a:latin typeface="Be Vietnam Pro" pitchFamily="34" charset="0"/>
                <a:ea typeface="Be Vietnam Pro" pitchFamily="34" charset="-122"/>
                <a:cs typeface="Be Vietnam Pro" pitchFamily="34" charset="-120"/>
              </a:rPr>
              <a:t>Questions &amp; answers</a:t>
            </a:r>
            <a:endParaRPr lang="en-US" sz="3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0BF"/>
                </a:solidFill>
                <a:latin typeface="Be Vietnam Pro" pitchFamily="34" charset="0"/>
                <a:ea typeface="Be Vietnam Pro" pitchFamily="34" charset="-122"/>
                <a:cs typeface="Be Vietnam Pro" pitchFamily="34" charset="-120"/>
              </a:rPr>
              <a:t>Research repository: [link]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4153</Words>
  <Application>Microsoft Macintosh PowerPoint</Application>
  <PresentationFormat>Widescreen</PresentationFormat>
  <Paragraphs>431</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Be Vietnam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WashBot – M1 Pitch Framework</dc:title>
  <dc:subject>PptxGenJS Presentation</dc:subject>
  <dc:creator>PptxGenJS</dc:creator>
  <cp:lastModifiedBy>Tài Trần Duy</cp:lastModifiedBy>
  <cp:revision>2</cp:revision>
  <dcterms:created xsi:type="dcterms:W3CDTF">2026-09-30T15:22:42Z</dcterms:created>
  <dcterms:modified xsi:type="dcterms:W3CDTF">2026-09-30T15:28:29Z</dcterms:modified>
</cp:coreProperties>
</file>