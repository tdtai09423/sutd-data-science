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obvious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might we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Journey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we engaged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we learned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changed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Competitor check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Competition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pays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Scalability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hyperlink" Target="https://washbot-ten.vercel.app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Relationship Id="rId4" Type="http://schemas.openxmlformats.org/officeDocument/2006/relationships/hyperlink" Target="https://washbot-ten.vercel.app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Relationship Id="rId4" Type="http://schemas.openxmlformats.org/officeDocument/2006/relationships/hyperlink" Target="https://washbot-ten.vercel.app/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2303561"/>
            <a:ext cx="2210395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 spc="157">
                <a:solidFill>
                  <a:srgbClr val="1899D6"/>
                </a:solidFill>
                <a:latin typeface="Nunito Black"/>
              </a:rPr>
              <a:t>GROUP A · MILESTONE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98811"/>
            <a:ext cx="5052566" cy="12477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559"/>
              </a:lnSpc>
            </a:pPr>
            <a:r>
              <a:rPr sz="7200" i="0" b="0" spc="-144">
                <a:solidFill>
                  <a:srgbClr val="1899D6"/>
                </a:solidFill>
                <a:latin typeface="Nunito Black"/>
              </a:rPr>
              <a:t>Washbot</a:t>
            </a:r>
            <a:r>
              <a:rPr sz="7200" i="0" b="0" spc="-144">
                <a:solidFill>
                  <a:srgbClr val="3C3C3C"/>
                </a:solidFill>
                <a:latin typeface="Nunito Black"/>
              </a:rPr>
              <a:t> 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642270"/>
            <a:ext cx="3295650" cy="41433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262"/>
              </a:lnSpc>
            </a:pPr>
            <a:r>
              <a:rPr sz="2250" i="0" b="0">
                <a:solidFill>
                  <a:srgbClr val="3C3C3C"/>
                </a:solidFill>
                <a:latin typeface="Nunito Black"/>
              </a:rPr>
              <a:t>Shared laundry, sorted.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268539"/>
            <a:ext cx="2427089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79"/>
              </a:lnSpc>
            </a:pPr>
            <a:r>
              <a:rPr sz="1650" i="0" b="0">
                <a:solidFill>
                  <a:srgbClr val="1899D6"/>
                </a:solidFill>
                <a:latin typeface="Nunito Black"/>
                <a:hlinkClick r:id="rId4"/>
              </a:rPr>
              <a:t>washbot-ten.vercel.app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2150268"/>
            <a:ext cx="3432720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 spc="157">
                <a:solidFill>
                  <a:srgbClr val="1899D6"/>
                </a:solidFill>
                <a:latin typeface="Nunito Black"/>
              </a:rPr>
              <a:t>QUICK QUESTION · RAISE YOUR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21718"/>
            <a:ext cx="5950297" cy="2314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5512"/>
              </a:lnSpc>
            </a:pPr>
            <a:r>
              <a:rPr sz="5250" i="0" b="0" spc="-105">
                <a:solidFill>
                  <a:srgbClr val="3C3C3C"/>
                </a:solidFill>
                <a:latin typeface="Nunito Black"/>
              </a:rPr>
              <a:t>🙋 Who here is </a:t>
            </a:r>
            <a:r>
              <a:rPr sz="5250" i="0" b="0" spc="-105">
                <a:solidFill>
                  <a:srgbClr val="1899D6"/>
                </a:solidFill>
                <a:latin typeface="Nunito Black"/>
              </a:rPr>
              <a:t>sharing a washer</a:t>
            </a:r>
            <a:r>
              <a:rPr sz="5250" i="0" b="0" spc="-105">
                <a:solidFill>
                  <a:srgbClr val="3C3C3C"/>
                </a:solidFill>
                <a:latin typeface="Nunito Black"/>
              </a:rPr>
              <a:t> with other people?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9121" y="638175"/>
            <a:ext cx="13245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157">
                <a:solidFill>
                  <a:srgbClr val="FFFFFF"/>
                </a:solidFill>
                <a:latin typeface="Nunito Black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620" y="628650"/>
            <a:ext cx="1727001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 spc="157">
                <a:solidFill>
                  <a:srgbClr val="1899D6"/>
                </a:solidFill>
                <a:latin typeface="Nunito Black"/>
              </a:rPr>
              <a:t>PROBLEM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7250"/>
            <a:ext cx="7347198" cy="628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888"/>
              </a:lnSpc>
            </a:pPr>
            <a:r>
              <a:rPr sz="3600" i="0" b="0" spc="-54">
                <a:solidFill>
                  <a:srgbClr val="3C3C3C"/>
                </a:solidFill>
                <a:latin typeface="Nunito Black"/>
              </a:rPr>
              <a:t>We asked </a:t>
            </a:r>
            <a:r>
              <a:rPr sz="3600" i="0" b="0" spc="-54">
                <a:solidFill>
                  <a:srgbClr val="1899D6"/>
                </a:solidFill>
                <a:latin typeface="Nunito Black"/>
              </a:rPr>
              <a:t>18 tenants</a:t>
            </a:r>
            <a:r>
              <a:rPr sz="3600" i="0" b="0" spc="-54">
                <a:solidFill>
                  <a:srgbClr val="3C3C3C"/>
                </a:solidFill>
                <a:latin typeface="Nunito Black"/>
              </a:rPr>
              <a:t>. Last week…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50" y="1641425"/>
            <a:ext cx="533400" cy="676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ts val="3900"/>
              </a:lnSpc>
            </a:pPr>
            <a:r>
              <a:rPr sz="3900" i="0" b="0">
                <a:solidFill>
                  <a:srgbClr val="3C3C3C"/>
                </a:solidFill>
                <a:latin typeface="Nunito"/>
              </a:rPr>
              <a:t>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7850" y="1560462"/>
            <a:ext cx="5486697" cy="3524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429"/>
              </a:lnSpc>
            </a:pPr>
            <a:r>
              <a:rPr sz="2000" i="0" b="0">
                <a:solidFill>
                  <a:srgbClr val="3C3C3C"/>
                </a:solidFill>
                <a:latin typeface="Nunito Black"/>
              </a:rPr>
              <a:t>found the washer </a:t>
            </a:r>
            <a:r>
              <a:rPr sz="2000" i="0" b="0">
                <a:solidFill>
                  <a:srgbClr val="E23B3B"/>
                </a:solidFill>
                <a:latin typeface="Nunito Black"/>
              </a:rPr>
              <a:t>busy</a:t>
            </a:r>
            <a:r>
              <a:rPr sz="2000" i="0" b="0">
                <a:solidFill>
                  <a:srgbClr val="3C3C3C"/>
                </a:solidFill>
                <a:latin typeface="Nunito Black"/>
              </a:rPr>
              <a:t> when they needed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75701" y="1655712"/>
            <a:ext cx="609600" cy="6572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4500"/>
              </a:lnSpc>
            </a:pPr>
            <a:r>
              <a:rPr sz="3750" i="0" b="0">
                <a:solidFill>
                  <a:srgbClr val="E23B3B"/>
                </a:solidFill>
                <a:latin typeface="Nunito Blac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7179" y="1931937"/>
            <a:ext cx="422820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1979"/>
              </a:lnSpc>
            </a:pPr>
            <a:r>
              <a:rPr sz="1650" i="0" b="0">
                <a:solidFill>
                  <a:srgbClr val="9AA6B6"/>
                </a:solidFill>
                <a:latin typeface="Nunito Black"/>
              </a:rPr>
              <a:t>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2622500"/>
            <a:ext cx="533400" cy="676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ts val="3900"/>
              </a:lnSpc>
            </a:pPr>
            <a:r>
              <a:rPr sz="3900" i="0" b="0">
                <a:solidFill>
                  <a:srgbClr val="3C3C3C"/>
                </a:solidFill>
                <a:latin typeface="Nunito"/>
              </a:rPr>
              <a:t>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850" y="2541537"/>
            <a:ext cx="5125938" cy="3524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429"/>
              </a:lnSpc>
            </a:pPr>
            <a:r>
              <a:rPr sz="2000" i="0" b="0">
                <a:solidFill>
                  <a:srgbClr val="3C3C3C"/>
                </a:solidFill>
                <a:latin typeface="Nunito Black"/>
              </a:rPr>
              <a:t>found </a:t>
            </a:r>
            <a:r>
              <a:rPr sz="2000" i="0" b="0">
                <a:solidFill>
                  <a:srgbClr val="E23B3B"/>
                </a:solidFill>
                <a:latin typeface="Nunito Black"/>
              </a:rPr>
              <a:t>someone else's laundry</a:t>
            </a:r>
            <a:r>
              <a:rPr sz="2000" i="0" b="0">
                <a:solidFill>
                  <a:srgbClr val="3C3C3C"/>
                </a:solidFill>
                <a:latin typeface="Nunito Black"/>
              </a:rPr>
              <a:t> still inside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5701" y="2636787"/>
            <a:ext cx="609600" cy="6572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4500"/>
              </a:lnSpc>
            </a:pPr>
            <a:r>
              <a:rPr sz="3750" i="0" b="0">
                <a:solidFill>
                  <a:srgbClr val="E23B3B"/>
                </a:solidFill>
                <a:latin typeface="Nunito Black"/>
              </a:rP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7179" y="2913012"/>
            <a:ext cx="422820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1979"/>
              </a:lnSpc>
            </a:pPr>
            <a:r>
              <a:rPr sz="1650" i="0" b="0">
                <a:solidFill>
                  <a:srgbClr val="9AA6B6"/>
                </a:solidFill>
                <a:latin typeface="Nunito Black"/>
              </a:rPr>
              <a:t>/ 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3603575"/>
            <a:ext cx="533400" cy="676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ts val="3900"/>
              </a:lnSpc>
            </a:pPr>
            <a:r>
              <a:rPr sz="3900" i="0" b="0">
                <a:solidFill>
                  <a:srgbClr val="3C3C3C"/>
                </a:solidFill>
                <a:latin typeface="Nunito"/>
              </a:rPr>
              <a:t>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850" y="3522612"/>
            <a:ext cx="4827835" cy="3524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429"/>
              </a:lnSpc>
            </a:pPr>
            <a:r>
              <a:rPr sz="2000" i="0" b="0">
                <a:solidFill>
                  <a:srgbClr val="3C3C3C"/>
                </a:solidFill>
                <a:latin typeface="Nunito Black"/>
              </a:rPr>
              <a:t>left their </a:t>
            </a:r>
            <a:r>
              <a:rPr sz="2000" i="0" b="0">
                <a:solidFill>
                  <a:srgbClr val="E23B3B"/>
                </a:solidFill>
                <a:latin typeface="Nunito Black"/>
              </a:rPr>
              <a:t>own</a:t>
            </a:r>
            <a:r>
              <a:rPr sz="2000" i="0" b="0">
                <a:solidFill>
                  <a:srgbClr val="3C3C3C"/>
                </a:solidFill>
                <a:latin typeface="Nunito Black"/>
              </a:rPr>
              <a:t> laundry for 30+ minutes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75701" y="3617862"/>
            <a:ext cx="609600" cy="6572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4500"/>
              </a:lnSpc>
            </a:pPr>
            <a:r>
              <a:rPr sz="3750" i="0" b="0">
                <a:solidFill>
                  <a:srgbClr val="E23B3B"/>
                </a:solidFill>
                <a:latin typeface="Nunito Black"/>
              </a:rP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7179" y="3894087"/>
            <a:ext cx="422820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ts val="1979"/>
              </a:lnSpc>
            </a:pPr>
            <a:r>
              <a:rPr sz="1650" i="0" b="0">
                <a:solidFill>
                  <a:srgbClr val="9AA6B6"/>
                </a:solidFill>
                <a:latin typeface="Nunito Black"/>
              </a:rPr>
              <a:t>/ 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5543550"/>
            <a:ext cx="5042445" cy="3333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340"/>
              </a:lnSpc>
            </a:pPr>
            <a:r>
              <a:rPr sz="1950" i="0" b="0">
                <a:solidFill>
                  <a:srgbClr val="3C3C3C"/>
                </a:solidFill>
                <a:latin typeface="Nunito Black"/>
              </a:rPr>
              <a:t>Everyone knows this. Nobody has fixed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953125"/>
            <a:ext cx="3586311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1">
                <a:solidFill>
                  <a:srgbClr val="8A94A6"/>
                </a:solidFill>
                <a:latin typeface="Nunito"/>
              </a:rPr>
              <a:t>Each figure = one tenant who shares a washer · survey, n =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9121" y="638175"/>
            <a:ext cx="13245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157">
                <a:solidFill>
                  <a:srgbClr val="FFFFFF"/>
                </a:solidFill>
                <a:latin typeface="Nunito Black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620" y="628650"/>
            <a:ext cx="1301353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 spc="157">
                <a:solidFill>
                  <a:srgbClr val="1899D6"/>
                </a:solidFill>
                <a:latin typeface="Nunito Black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7250"/>
            <a:ext cx="8065889" cy="12602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374"/>
              </a:lnSpc>
            </a:pPr>
            <a:r>
              <a:rPr sz="4050" i="0" b="0" spc="-60">
                <a:solidFill>
                  <a:srgbClr val="3C3C3C"/>
                </a:solidFill>
                <a:latin typeface="Nunito Black"/>
              </a:rPr>
              <a:t>Laundry is a </a:t>
            </a:r>
            <a:r>
              <a:rPr sz="4050" i="0" b="0" spc="-60">
                <a:solidFill>
                  <a:srgbClr val="1899D6"/>
                </a:solidFill>
                <a:latin typeface="Nunito Black"/>
              </a:rPr>
              <a:t>basic need</a:t>
            </a:r>
            <a:r>
              <a:rPr sz="4050" i="0" b="0" spc="-60">
                <a:solidFill>
                  <a:srgbClr val="3C3C3C"/>
                </a:solidFill>
                <a:latin typeface="Nunito Black"/>
              </a:rPr>
              <a:t>.</a:t>
            </a:r>
          </a:p>
          <a:p>
            <a:pPr algn="l">
              <a:lnSpc>
                <a:spcPts val="4374"/>
              </a:lnSpc>
            </a:pPr>
            <a:r>
              <a:rPr sz="4050" i="0" b="0" spc="-60">
                <a:solidFill>
                  <a:srgbClr val="3C3C3C"/>
                </a:solidFill>
                <a:latin typeface="Nunito Black"/>
              </a:rPr>
              <a:t>Shared machines get </a:t>
            </a:r>
            <a:r>
              <a:rPr sz="4050" i="0" b="0" spc="-60">
                <a:solidFill>
                  <a:srgbClr val="E23B3B"/>
                </a:solidFill>
                <a:latin typeface="Nunito Black"/>
              </a:rPr>
              <a:t>overloaded</a:t>
            </a:r>
            <a:r>
              <a:rPr sz="4050" i="0" b="0" spc="-60">
                <a:solidFill>
                  <a:srgbClr val="3C3C3C"/>
                </a:solidFill>
                <a:latin typeface="Nunito Black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27200" y="2549128"/>
            <a:ext cx="647700" cy="838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ts val="4800"/>
              </a:lnSpc>
            </a:pPr>
            <a:r>
              <a:rPr sz="4800" i="0" b="0">
                <a:solidFill>
                  <a:srgbClr val="3C3C3C"/>
                </a:solidFill>
                <a:latin typeface="Nunito"/>
              </a:rPr>
              <a:t>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9484" y="3368278"/>
            <a:ext cx="1723132" cy="295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ts val="2070"/>
              </a:lnSpc>
            </a:pPr>
            <a:r>
              <a:rPr sz="1700" i="0" b="0">
                <a:solidFill>
                  <a:srgbClr val="3C3C3C"/>
                </a:solidFill>
                <a:latin typeface="Nunito Black"/>
              </a:rPr>
              <a:t>People are busy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72001" y="2549128"/>
            <a:ext cx="647700" cy="838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ts val="4800"/>
              </a:lnSpc>
            </a:pPr>
            <a:r>
              <a:rPr sz="4800" i="0" b="0">
                <a:solidFill>
                  <a:srgbClr val="3C3C3C"/>
                </a:solidFill>
                <a:latin typeface="Nunito"/>
              </a:rPr>
              <a:t>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82306" y="3368278"/>
            <a:ext cx="2427089" cy="295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ts val="2070"/>
              </a:lnSpc>
            </a:pPr>
            <a:r>
              <a:rPr sz="1700" i="0" b="0">
                <a:solidFill>
                  <a:srgbClr val="3C3C3C"/>
                </a:solidFill>
                <a:latin typeface="Nunito Black"/>
              </a:rPr>
              <a:t>Wet clothes can't wait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6950" y="2549128"/>
            <a:ext cx="647700" cy="838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ts val="4800"/>
              </a:lnSpc>
            </a:pPr>
            <a:r>
              <a:rPr sz="4800" i="0" b="0">
                <a:solidFill>
                  <a:srgbClr val="3C3C3C"/>
                </a:solidFill>
                <a:latin typeface="Nunito"/>
              </a:rPr>
              <a:t>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9782" y="3368278"/>
            <a:ext cx="2002184" cy="590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070"/>
              </a:lnSpc>
            </a:pPr>
            <a:r>
              <a:rPr sz="1700" i="0" b="0">
                <a:solidFill>
                  <a:srgbClr val="3C3C3C"/>
                </a:solidFill>
                <a:latin typeface="Nunito Black"/>
              </a:rPr>
              <a:t>Housemates don't communicate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915025"/>
            <a:ext cx="6569124" cy="3333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340"/>
              </a:lnSpc>
            </a:pPr>
            <a:r>
              <a:rPr sz="1950" i="0" b="0">
                <a:solidFill>
                  <a:srgbClr val="3C3C3C"/>
                </a:solidFill>
                <a:latin typeface="Nunito Black"/>
              </a:rPr>
              <a:t>And nothing on the market fixes it for shared housing.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9121" y="1968996"/>
            <a:ext cx="13245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157">
                <a:solidFill>
                  <a:srgbClr val="FFFFFF"/>
                </a:solidFill>
                <a:latin typeface="Nunito Black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620" y="1959471"/>
            <a:ext cx="1727001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 spc="157">
                <a:solidFill>
                  <a:srgbClr val="1899D6"/>
                </a:solidFill>
                <a:latin typeface="Nunito Black"/>
              </a:rPr>
              <a:t>PROBLEM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188071"/>
            <a:ext cx="10634960" cy="20685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779"/>
              </a:lnSpc>
            </a:pPr>
            <a:r>
              <a:rPr sz="3600" i="0" b="0" spc="-72">
                <a:solidFill>
                  <a:srgbClr val="3C3C3C"/>
                </a:solidFill>
                <a:latin typeface="Nunito Black"/>
              </a:rPr>
              <a:t>How might we help tenants who </a:t>
            </a:r>
            <a:r>
              <a:rPr sz="3600" i="0" b="0" spc="-72">
                <a:solidFill>
                  <a:srgbClr val="1899D6"/>
                </a:solidFill>
                <a:latin typeface="Nunito Black"/>
              </a:rPr>
              <a:t>share one washer or dryer</a:t>
            </a:r>
            <a:r>
              <a:rPr sz="3600" i="0" b="0" spc="-72">
                <a:solidFill>
                  <a:srgbClr val="3C3C3C"/>
                </a:solidFill>
                <a:latin typeface="Nunito Black"/>
              </a:rPr>
              <a:t> know when it's free, and make sure owners know the moment their load is done, </a:t>
            </a:r>
            <a:r>
              <a:rPr sz="3600" i="0" b="0" spc="-72">
                <a:solidFill>
                  <a:srgbClr val="58A700"/>
                </a:solidFill>
                <a:latin typeface="Nunito Black"/>
              </a:rPr>
              <a:t>so nobody has to chase anyone?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50" y="4612778"/>
            <a:ext cx="5036194" cy="2190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30"/>
              </a:lnSpc>
            </a:pPr>
            <a:r>
              <a:rPr sz="1300" i="0" b="0" spc="51">
                <a:solidFill>
                  <a:srgbClr val="FFFFFF"/>
                </a:solidFill>
                <a:latin typeface="Nunito Black"/>
              </a:rPr>
              <a:t>🎯 Room renters in shared HDB and condo flats, Singapore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8744" y="4574678"/>
            <a:ext cx="2424558" cy="2190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30"/>
              </a:lnSpc>
            </a:pPr>
            <a:r>
              <a:rPr sz="1300" i="0" b="0" spc="51">
                <a:solidFill>
                  <a:srgbClr val="FFFFFF"/>
                </a:solidFill>
                <a:latin typeface="Nunito Black"/>
              </a:rPr>
              <a:t>One household · one washer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9571" y="619125"/>
            <a:ext cx="13245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157">
                <a:solidFill>
                  <a:srgbClr val="FFFFFF"/>
                </a:solidFill>
                <a:latin typeface="Nunito Black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070" y="609600"/>
            <a:ext cx="3067794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 spc="157">
                <a:solidFill>
                  <a:srgbClr val="1899D6"/>
                </a:solidFill>
                <a:latin typeface="Nunito Black"/>
              </a:rPr>
              <a:t>USER &amp; STAKEHOLDER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828675"/>
            <a:ext cx="7251203" cy="4857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078"/>
              </a:lnSpc>
            </a:pPr>
            <a:r>
              <a:rPr sz="2850" i="0" b="0" spc="-42">
                <a:solidFill>
                  <a:srgbClr val="1899D6"/>
                </a:solidFill>
                <a:latin typeface="Nunito Black"/>
              </a:rPr>
              <a:t>Two moments</a:t>
            </a:r>
            <a:r>
              <a:rPr sz="2850" i="0" b="0" spc="-42">
                <a:solidFill>
                  <a:srgbClr val="3C3C3C"/>
                </a:solidFill>
                <a:latin typeface="Nunito Black"/>
              </a:rPr>
              <a:t> break a shared laundry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1390947"/>
            <a:ext cx="2696319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50" i="0" b="0" spc="37">
                <a:solidFill>
                  <a:srgbClr val="1899D6"/>
                </a:solidFill>
                <a:latin typeface="Nunito Black"/>
              </a:rPr>
              <a:t>Persona: room renter who shares a washer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9769" y="1390947"/>
            <a:ext cx="2841575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50" i="0" b="0" spc="37">
                <a:solidFill>
                  <a:srgbClr val="666666"/>
                </a:solidFill>
                <a:latin typeface="Nunito Black"/>
              </a:rPr>
              <a:t>Scenario: an evening wash, start to handover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1724322"/>
            <a:ext cx="5089177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25"/>
              </a:lnSpc>
            </a:pPr>
            <a:r>
              <a:rPr sz="950" i="0" b="0" spc="37">
                <a:solidFill>
                  <a:srgbClr val="58A700"/>
                </a:solidFill>
                <a:latin typeface="Nunito Black"/>
              </a:rPr>
              <a:t>Expectation (HMW): know when it's free, owner told when done, nobody chasing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7825" y="2171997"/>
            <a:ext cx="266700" cy="304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00"/>
              </a:lnSpc>
            </a:pPr>
            <a:r>
              <a:rPr sz="1800" i="0" b="0">
                <a:solidFill>
                  <a:srgbClr val="E23B3B"/>
                </a:solidFill>
                <a:latin typeface="Nunito Black"/>
              </a:rPr>
              <a:t>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2625" y="2163365"/>
            <a:ext cx="1044922" cy="3161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64"/>
              </a:lnSpc>
            </a:pPr>
            <a:r>
              <a:rPr sz="1050" i="0" b="0">
                <a:solidFill>
                  <a:srgbClr val="E23B3B"/>
                </a:solidFill>
                <a:latin typeface="Nunito Black"/>
              </a:rPr>
              <a:t>1 · Check if free</a:t>
            </a:r>
          </a:p>
          <a:p>
            <a:pPr algn="l">
              <a:lnSpc>
                <a:spcPts val="1364"/>
              </a:lnSpc>
            </a:pPr>
            <a:r>
              <a:rPr sz="800" i="0" b="0">
                <a:solidFill>
                  <a:srgbClr val="8A94A6"/>
                </a:solidFill>
                <a:latin typeface="Nunito ExtraBold"/>
              </a:rPr>
              <a:t>~5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2305" y="2171997"/>
            <a:ext cx="266700" cy="304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00"/>
              </a:lnSpc>
            </a:pPr>
            <a:r>
              <a:rPr sz="1800" i="0" b="0">
                <a:solidFill>
                  <a:srgbClr val="3C3C3C"/>
                </a:solidFill>
                <a:latin typeface="Nunito Black"/>
              </a:rPr>
              <a:t>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7105" y="2163365"/>
            <a:ext cx="1179016" cy="3161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64"/>
              </a:lnSpc>
            </a:pPr>
            <a:r>
              <a:rPr sz="1050" i="0" b="0">
                <a:solidFill>
                  <a:srgbClr val="3C3C3C"/>
                </a:solidFill>
                <a:latin typeface="Nunito Black"/>
              </a:rPr>
              <a:t>2 · Load and start</a:t>
            </a:r>
          </a:p>
          <a:p>
            <a:pPr algn="l">
              <a:lnSpc>
                <a:spcPts val="1364"/>
              </a:lnSpc>
            </a:pPr>
            <a:r>
              <a:rPr sz="800" i="0" b="0">
                <a:solidFill>
                  <a:srgbClr val="8A94A6"/>
                </a:solidFill>
                <a:latin typeface="Nunito ExtraBold"/>
              </a:rPr>
              <a:t>~5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6785" y="2171997"/>
            <a:ext cx="266700" cy="304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00"/>
              </a:lnSpc>
            </a:pPr>
            <a:r>
              <a:rPr sz="1800" i="0" b="0">
                <a:solidFill>
                  <a:srgbClr val="3C3C3C"/>
                </a:solidFill>
                <a:latin typeface="Nunito Black"/>
              </a:rPr>
              <a:t>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1585" y="2163365"/>
            <a:ext cx="542776" cy="3161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64"/>
              </a:lnSpc>
            </a:pPr>
            <a:r>
              <a:rPr sz="1050" i="0" b="0">
                <a:solidFill>
                  <a:srgbClr val="3C3C3C"/>
                </a:solidFill>
                <a:latin typeface="Nunito Black"/>
              </a:rPr>
              <a:t>3 · Wait</a:t>
            </a:r>
          </a:p>
          <a:p>
            <a:pPr algn="l">
              <a:lnSpc>
                <a:spcPts val="1364"/>
              </a:lnSpc>
            </a:pPr>
            <a:r>
              <a:rPr sz="800" i="0" b="0">
                <a:solidFill>
                  <a:srgbClr val="8A94A6"/>
                </a:solidFill>
                <a:latin typeface="Nunito ExtraBold"/>
              </a:rPr>
              <a:t>~1 h 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1415" y="2171997"/>
            <a:ext cx="266700" cy="304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00"/>
              </a:lnSpc>
            </a:pPr>
            <a:r>
              <a:rPr sz="1800" i="0" b="0">
                <a:solidFill>
                  <a:srgbClr val="3C3C3C"/>
                </a:solidFill>
                <a:latin typeface="Nunito Black"/>
              </a:rPr>
              <a:t>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6215" y="2163365"/>
            <a:ext cx="1027062" cy="3161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64"/>
              </a:lnSpc>
            </a:pPr>
            <a:r>
              <a:rPr sz="1050" i="0" b="0">
                <a:solidFill>
                  <a:srgbClr val="3C3C3C"/>
                </a:solidFill>
                <a:latin typeface="Nunito Black"/>
              </a:rPr>
              <a:t>4 · Cycle ends</a:t>
            </a:r>
          </a:p>
          <a:p>
            <a:pPr algn="l">
              <a:lnSpc>
                <a:spcPts val="1364"/>
              </a:lnSpc>
            </a:pPr>
            <a:r>
              <a:rPr sz="800" i="0" b="0">
                <a:solidFill>
                  <a:srgbClr val="8A94A6"/>
                </a:solidFill>
                <a:latin typeface="Nunito ExtraBold"/>
              </a:rPr>
              <a:t>0–30+ min unnoticed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5895" y="2171997"/>
            <a:ext cx="266700" cy="304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00"/>
              </a:lnSpc>
            </a:pPr>
            <a:r>
              <a:rPr sz="1800" i="0" b="0">
                <a:solidFill>
                  <a:srgbClr val="E23B3B"/>
                </a:solidFill>
                <a:latin typeface="Nunito Black"/>
              </a:rPr>
              <a:t>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0695" y="2076747"/>
            <a:ext cx="1056233" cy="4893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64"/>
              </a:lnSpc>
            </a:pPr>
            <a:r>
              <a:rPr sz="1050" i="0" b="0">
                <a:solidFill>
                  <a:srgbClr val="E23B3B"/>
                </a:solidFill>
                <a:latin typeface="Nunito Black"/>
              </a:rPr>
              <a:t>5 · Next person arrives</a:t>
            </a:r>
          </a:p>
          <a:p>
            <a:pPr algn="l">
              <a:lnSpc>
                <a:spcPts val="1364"/>
              </a:lnSpc>
            </a:pPr>
            <a:r>
              <a:rPr sz="800" i="0" b="0">
                <a:solidFill>
                  <a:srgbClr val="8A94A6"/>
                </a:solidFill>
                <a:latin typeface="Nunito ExtraBold"/>
              </a:rPr>
              <a:t>minutes to 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450" y="2880717"/>
            <a:ext cx="468808" cy="1428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00" i="0" b="0" spc="115">
                <a:solidFill>
                  <a:srgbClr val="8A94A6"/>
                </a:solidFill>
                <a:latin typeface="Nunito Black"/>
              </a:rPr>
              <a:t>DOING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7825" y="2781746"/>
            <a:ext cx="1668809" cy="3323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3C3C3C"/>
                </a:solidFill>
                <a:latin typeface="Nunito ExtraBold"/>
              </a:rPr>
              <a:t>Walks over to look, or asks the group chat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82305" y="2781746"/>
            <a:ext cx="1749474" cy="3323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3C3C3C"/>
                </a:solidFill>
                <a:latin typeface="Nunito ExtraBold"/>
              </a:rPr>
              <a:t>Loads clothes, presses start, leaves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6785" y="2781746"/>
            <a:ext cx="1603771" cy="3323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3C3C3C"/>
                </a:solidFill>
                <a:latin typeface="Nunito ExtraBold"/>
              </a:rPr>
              <a:t>Back in room, guesses the end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1415" y="2781746"/>
            <a:ext cx="1686669" cy="3323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3C3C3C"/>
                </a:solidFill>
                <a:latin typeface="Nunito ExtraBold"/>
              </a:rPr>
              <a:t>Busy elsewhere, misses the 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5895" y="2781746"/>
            <a:ext cx="1781770" cy="3323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3C3C3C"/>
                </a:solidFill>
                <a:latin typeface="Nunito ExtraBold"/>
              </a:rPr>
              <a:t>Finds clothes inside, asks around, waits or moves them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2450" y="3412033"/>
            <a:ext cx="659606" cy="1428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00" i="0" b="0" spc="115">
                <a:solidFill>
                  <a:srgbClr val="8A94A6"/>
                </a:solidFill>
                <a:latin typeface="Nunito Black"/>
              </a:rPr>
              <a:t>CHANNEL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7825" y="3313062"/>
            <a:ext cx="1798587" cy="3323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1899D6"/>
                </a:solidFill>
                <a:latin typeface="Nunito ExtraBold"/>
              </a:rPr>
              <a:t>At the machine · house group chat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82305" y="3393430"/>
            <a:ext cx="853826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1899D6"/>
                </a:solidFill>
                <a:latin typeface="Nunito ExtraBold"/>
              </a:rPr>
              <a:t>Washer panel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6785" y="3313062"/>
            <a:ext cx="1691878" cy="3323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1899D6"/>
                </a:solidFill>
                <a:latin typeface="Nunito ExtraBold"/>
              </a:rPr>
              <a:t>Washer countdown (on site only) · phone timer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1415" y="3393430"/>
            <a:ext cx="1250602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1899D6"/>
                </a:solidFill>
                <a:latin typeface="Nunito ExtraBold"/>
              </a:rPr>
              <a:t>None: nobody is told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5895" y="3313062"/>
            <a:ext cx="1798587" cy="3323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1899D6"/>
                </a:solidFill>
                <a:latin typeface="Nunito ExtraBold"/>
              </a:rPr>
              <a:t>At the machine · house group chat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2450" y="3943350"/>
            <a:ext cx="682525" cy="1428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00" i="0" b="0" spc="115">
                <a:solidFill>
                  <a:srgbClr val="8A94A6"/>
                </a:solidFill>
                <a:latin typeface="Nunito Black"/>
              </a:rPr>
              <a:t>THINKING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7825" y="3844379"/>
            <a:ext cx="1719113" cy="3323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1" b="1">
                <a:solidFill>
                  <a:srgbClr val="666666"/>
                </a:solidFill>
                <a:latin typeface="Nunito"/>
              </a:rPr>
              <a:t>“Is it free, or another wasted trip?”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82305" y="3924746"/>
            <a:ext cx="1498996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1" b="1">
                <a:solidFill>
                  <a:srgbClr val="666666"/>
                </a:solidFill>
                <a:latin typeface="Nunito"/>
              </a:rPr>
              <a:t>“Done, back to my room.”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6785" y="3924746"/>
            <a:ext cx="1269503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1" b="1">
                <a:solidFill>
                  <a:srgbClr val="666666"/>
                </a:solidFill>
                <a:latin typeface="Nunito"/>
              </a:rPr>
              <a:t>“When will it finish?”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1415" y="3924746"/>
            <a:ext cx="1664642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1" b="1">
                <a:solidFill>
                  <a:srgbClr val="666666"/>
                </a:solidFill>
                <a:latin typeface="Nunito"/>
              </a:rPr>
              <a:t>(not thinking about laundry)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5895" y="3844379"/>
            <a:ext cx="1619696" cy="3323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1" b="1">
                <a:solidFill>
                  <a:srgbClr val="666666"/>
                </a:solidFill>
                <a:latin typeface="Nunito"/>
              </a:rPr>
              <a:t>“Whose clothes are these? Do I touch them?”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2450" y="4485233"/>
            <a:ext cx="581917" cy="1428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00" i="0" b="0" spc="115">
                <a:solidFill>
                  <a:srgbClr val="8A94A6"/>
                </a:solidFill>
                <a:latin typeface="Nunito Black"/>
              </a:rPr>
              <a:t>FEELING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5005" y="4513361"/>
            <a:ext cx="276225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75"/>
              </a:lnSpc>
            </a:pPr>
            <a:r>
              <a:rPr sz="1900" i="0" b="0">
                <a:solidFill>
                  <a:srgbClr val="3C3C3C"/>
                </a:solidFill>
                <a:latin typeface="Nunito"/>
              </a:rPr>
              <a:t>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6240" y="4275683"/>
            <a:ext cx="276225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75"/>
              </a:lnSpc>
            </a:pPr>
            <a:r>
              <a:rPr sz="1900" i="0" b="0">
                <a:solidFill>
                  <a:srgbClr val="3C3C3C"/>
                </a:solidFill>
                <a:latin typeface="Nunito"/>
              </a:rPr>
              <a:t>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7475" y="4257377"/>
            <a:ext cx="276225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75"/>
              </a:lnSpc>
            </a:pPr>
            <a:r>
              <a:rPr sz="1900" i="0" b="0">
                <a:solidFill>
                  <a:srgbClr val="3C3C3C"/>
                </a:solidFill>
                <a:latin typeface="Nunito"/>
              </a:rPr>
              <a:t>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8560" y="4408140"/>
            <a:ext cx="276225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75"/>
              </a:lnSpc>
            </a:pPr>
            <a:r>
              <a:rPr sz="1900" i="0" b="0">
                <a:solidFill>
                  <a:srgbClr val="3C3C3C"/>
                </a:solidFill>
                <a:latin typeface="Nunito"/>
              </a:rPr>
              <a:t>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09795" y="4531667"/>
            <a:ext cx="276225" cy="323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75"/>
              </a:lnSpc>
            </a:pPr>
            <a:r>
              <a:rPr sz="1900" i="0" b="0">
                <a:solidFill>
                  <a:srgbClr val="3C3C3C"/>
                </a:solidFill>
                <a:latin typeface="Nunito"/>
              </a:rPr>
              <a:t>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2450" y="5146327"/>
            <a:ext cx="885229" cy="1428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00" i="0" b="0" spc="115">
                <a:solidFill>
                  <a:srgbClr val="8A94A6"/>
                </a:solidFill>
                <a:latin typeface="Nunito Black"/>
              </a:rPr>
              <a:t>PAIN POINTS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47825" y="4993034"/>
            <a:ext cx="1611213" cy="4432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3C3C3C"/>
                </a:solidFill>
                <a:latin typeface="Nunito ExtraBold"/>
              </a:rPr>
              <a:t>Wasted trip when it's busy</a:t>
            </a:r>
          </a:p>
          <a:p>
            <a:pPr algn="l">
              <a:lnSpc>
                <a:spcPts val="1267"/>
              </a:lnSpc>
            </a:pPr>
            <a:r>
              <a:rPr sz="800" i="0" b="0">
                <a:solidFill>
                  <a:srgbClr val="8A94A6"/>
                </a:solidFill>
                <a:latin typeface="Nunito ExtraBold"/>
              </a:rPr>
              <a:t>17 of 18 found it busy · 3.3 / 5</a:t>
            </a:r>
          </a:p>
          <a:p>
            <a:pPr algn="l">
              <a:lnSpc>
                <a:spcPts val="1267"/>
              </a:lnSpc>
            </a:pPr>
            <a:r>
              <a:rPr sz="800" i="0" b="0">
                <a:solidFill>
                  <a:srgbClr val="E23B3B"/>
                </a:solidFill>
                <a:latin typeface="Nunito Black"/>
              </a:rPr>
              <a:t>Finding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82305" y="5058072"/>
            <a:ext cx="1628179" cy="31328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3C3C3C"/>
                </a:solidFill>
                <a:latin typeface="Nunito ExtraBold"/>
              </a:rPr>
              <a:t>Nothing shows whose load</a:t>
            </a:r>
          </a:p>
          <a:p>
            <a:pPr algn="l">
              <a:lnSpc>
                <a:spcPts val="1267"/>
              </a:lnSpc>
            </a:pPr>
            <a:r>
              <a:rPr sz="800" i="0" b="0">
                <a:solidFill>
                  <a:srgbClr val="8A94A6"/>
                </a:solidFill>
                <a:latin typeface="Nunito ExtraBold"/>
              </a:rPr>
              <a:t>“Don't know whose load” 3.2 /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6785" y="5058072"/>
            <a:ext cx="1469380" cy="31328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3C3C3C"/>
                </a:solidFill>
                <a:latin typeface="Nunito ExtraBold"/>
              </a:rPr>
              <a:t>No signal, only guessing</a:t>
            </a:r>
          </a:p>
          <a:p>
            <a:pPr algn="l">
              <a:lnSpc>
                <a:spcPts val="1267"/>
              </a:lnSpc>
            </a:pPr>
            <a:r>
              <a:rPr sz="800" i="0" b="0">
                <a:solidFill>
                  <a:srgbClr val="8A94A6"/>
                </a:solidFill>
                <a:latin typeface="Nunito ExtraBold"/>
              </a:rPr>
              <a:t>7 of 18 set a phone timer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51415" y="4993034"/>
            <a:ext cx="1731168" cy="4432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3C3C3C"/>
                </a:solidFill>
                <a:latin typeface="Nunito ExtraBold"/>
              </a:rPr>
              <a:t>Owner is never told it's done</a:t>
            </a:r>
          </a:p>
          <a:p>
            <a:pPr algn="l">
              <a:lnSpc>
                <a:spcPts val="1267"/>
              </a:lnSpc>
            </a:pPr>
            <a:r>
              <a:rPr sz="800" i="0" b="0">
                <a:solidFill>
                  <a:srgbClr val="8A94A6"/>
                </a:solidFill>
                <a:latin typeface="Nunito ExtraBold"/>
              </a:rPr>
              <a:t>16 of 18 left their own 30+ min</a:t>
            </a:r>
          </a:p>
          <a:p>
            <a:pPr algn="l">
              <a:lnSpc>
                <a:spcPts val="1267"/>
              </a:lnSpc>
            </a:pPr>
            <a:r>
              <a:rPr sz="800" i="0" b="0">
                <a:solidFill>
                  <a:srgbClr val="E23B3B"/>
                </a:solidFill>
                <a:latin typeface="Nunito Black"/>
              </a:rPr>
              <a:t>Finding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5895" y="4928145"/>
            <a:ext cx="1725662" cy="57313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3C3C3C"/>
                </a:solidFill>
                <a:latin typeface="Nunito ExtraBold"/>
              </a:rPr>
              <a:t>Free machine, still blocked</a:t>
            </a:r>
          </a:p>
          <a:p>
            <a:pPr algn="l">
              <a:lnSpc>
                <a:spcPts val="1267"/>
              </a:lnSpc>
            </a:pPr>
            <a:r>
              <a:rPr sz="800" i="0" b="0">
                <a:solidFill>
                  <a:srgbClr val="8A94A6"/>
                </a:solidFill>
                <a:latin typeface="Nunito ExtraBold"/>
              </a:rPr>
              <a:t>17 of 18 found others' laundry · 10 of 18 ask a chat</a:t>
            </a:r>
          </a:p>
          <a:p>
            <a:pPr algn="l">
              <a:lnSpc>
                <a:spcPts val="1267"/>
              </a:lnSpc>
            </a:pPr>
            <a:r>
              <a:rPr sz="800" i="0" b="0">
                <a:solidFill>
                  <a:srgbClr val="E23B3B"/>
                </a:solidFill>
                <a:latin typeface="Nunito Black"/>
              </a:rPr>
              <a:t>Finding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2450" y="5716339"/>
            <a:ext cx="935682" cy="1428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00" i="0" b="0" spc="115">
                <a:solidFill>
                  <a:srgbClr val="8A94A6"/>
                </a:solidFill>
                <a:latin typeface="Nunito Black"/>
              </a:rPr>
              <a:t>WORKS WELL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47825" y="5697884"/>
            <a:ext cx="1201191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1899D6"/>
                </a:solidFill>
                <a:latin typeface="Nunito ExtraBold"/>
              </a:rPr>
              <a:t>If free, start at once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82305" y="5697884"/>
            <a:ext cx="1003845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1899D6"/>
                </a:solidFill>
                <a:latin typeface="Nunito ExtraBold"/>
              </a:rPr>
              <a:t>Quick, one press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16785" y="5697884"/>
            <a:ext cx="1358503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1899D6"/>
                </a:solidFill>
                <a:latin typeface="Nunito ExtraBold"/>
              </a:rPr>
              <a:t>Free time while it runs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51415" y="5697884"/>
            <a:ext cx="161925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1899D6"/>
                </a:solidFill>
                <a:latin typeface="Nunito ExtraBold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5895" y="5697884"/>
            <a:ext cx="1649015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1899D6"/>
                </a:solidFill>
                <a:latin typeface="Nunito ExtraBold"/>
              </a:rPr>
              <a:t>A group chat already exists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2450" y="6167288"/>
            <a:ext cx="976758" cy="1428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89"/>
              </a:lnSpc>
            </a:pPr>
            <a:r>
              <a:rPr sz="800" i="0" b="0" spc="115">
                <a:solidFill>
                  <a:srgbClr val="8A94A6"/>
                </a:solidFill>
                <a:latin typeface="Nunito Black"/>
              </a:rPr>
              <a:t>OPPORTUNITY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47825" y="6068317"/>
            <a:ext cx="1416694" cy="3323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58A700"/>
                </a:solidFill>
                <a:latin typeface="Nunito Black"/>
              </a:rPr>
              <a:t>See if it's free without walking over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82305" y="6068317"/>
            <a:ext cx="1429345" cy="3323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58A700"/>
                </a:solidFill>
                <a:latin typeface="Nunito Black"/>
              </a:rPr>
              <a:t>Show who is using the machine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16785" y="6148685"/>
            <a:ext cx="1495722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58A700"/>
                </a:solidFill>
                <a:latin typeface="Nunito Black"/>
              </a:rPr>
              <a:t>Know when it will finish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51415" y="6068317"/>
            <a:ext cx="1712416" cy="3323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58A700"/>
                </a:solidFill>
                <a:latin typeface="Nunito Black"/>
              </a:rPr>
              <a:t>Tell the owner the moment it ends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5895" y="6068317"/>
            <a:ext cx="1378594" cy="3323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1000" i="0" b="0">
                <a:solidFill>
                  <a:srgbClr val="58A700"/>
                </a:solidFill>
                <a:latin typeface="Nunito Black"/>
              </a:rPr>
              <a:t>Remind the owner, so nobody chases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2450" y="6475809"/>
            <a:ext cx="6801296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1">
                <a:solidFill>
                  <a:srgbClr val="8A94A6"/>
                </a:solidFill>
                <a:latin typeface="Nunito"/>
              </a:rPr>
              <a:t>Survey, n = 18 · Thinking is paraphrased from survey patterns, not quotes · times approximate · red = moment of truth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9121" y="638175"/>
            <a:ext cx="13245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157">
                <a:solidFill>
                  <a:srgbClr val="FFFFFF"/>
                </a:solidFill>
                <a:latin typeface="Nunito Black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620" y="628650"/>
            <a:ext cx="3067794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 spc="157">
                <a:solidFill>
                  <a:srgbClr val="1899D6"/>
                </a:solidFill>
                <a:latin typeface="Nunito Black"/>
              </a:rPr>
              <a:t>USER &amp; STAKEHOLDER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7250"/>
            <a:ext cx="7607647" cy="628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888"/>
              </a:lnSpc>
            </a:pPr>
            <a:r>
              <a:rPr sz="3600" i="0" b="0" spc="-54">
                <a:solidFill>
                  <a:srgbClr val="3C3C3C"/>
                </a:solidFill>
                <a:latin typeface="Nunito Black"/>
              </a:rPr>
              <a:t>Who we engaged, and who is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2975" y="1836687"/>
            <a:ext cx="397371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58">
                <a:solidFill>
                  <a:srgbClr val="7A7A7A"/>
                </a:solidFill>
                <a:latin typeface="Nunito Black"/>
              </a:rPr>
              <a:t>WHO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1398" y="1836687"/>
            <a:ext cx="394989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58">
                <a:solidFill>
                  <a:srgbClr val="7A7A7A"/>
                </a:solidFill>
                <a:latin typeface="Nunito Black"/>
              </a:rPr>
              <a:t>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3679" y="1836687"/>
            <a:ext cx="569118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58">
                <a:solidFill>
                  <a:srgbClr val="7A7A7A"/>
                </a:solidFill>
                <a:latin typeface="Nunito Black"/>
              </a:rPr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2975" y="2255787"/>
            <a:ext cx="657076" cy="2190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30"/>
              </a:lnSpc>
            </a:pPr>
            <a:r>
              <a:rPr sz="1300" i="0" b="0">
                <a:solidFill>
                  <a:srgbClr val="3C3C3C"/>
                </a:solidFill>
                <a:latin typeface="Nunito Black"/>
              </a:rPr>
              <a:t>Tenants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398" y="2255787"/>
            <a:ext cx="3231505" cy="2190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30"/>
              </a:lnSpc>
            </a:pPr>
            <a:r>
              <a:rPr sz="1300" i="0" b="1">
                <a:solidFill>
                  <a:srgbClr val="555555"/>
                </a:solidFill>
                <a:latin typeface="Nunito"/>
              </a:rPr>
              <a:t>Survey: 19 responses, </a:t>
            </a:r>
            <a:r>
              <a:rPr sz="1300" i="0" b="0">
                <a:solidFill>
                  <a:srgbClr val="3C3C3C"/>
                </a:solidFill>
                <a:latin typeface="Nunito Black"/>
              </a:rPr>
              <a:t>18 answered in full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7979" y="2293887"/>
            <a:ext cx="781198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>
                <a:solidFill>
                  <a:srgbClr val="58A700"/>
                </a:solidFill>
                <a:latin typeface="Nunito Black"/>
              </a:rPr>
              <a:t>Done · 1 Oct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975" y="2732037"/>
            <a:ext cx="657076" cy="2190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30"/>
              </a:lnSpc>
            </a:pPr>
            <a:r>
              <a:rPr sz="1300" i="0" b="0">
                <a:solidFill>
                  <a:srgbClr val="3C3C3C"/>
                </a:solidFill>
                <a:latin typeface="Nunito Black"/>
              </a:rPr>
              <a:t>Tenants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398" y="2732037"/>
            <a:ext cx="2485280" cy="2190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30"/>
              </a:lnSpc>
            </a:pPr>
            <a:r>
              <a:rPr sz="1300" i="0" b="1">
                <a:solidFill>
                  <a:srgbClr val="555555"/>
                </a:solidFill>
                <a:latin typeface="Nunito"/>
              </a:rPr>
              <a:t>Interviews, for quotes and depth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7979" y="2770137"/>
            <a:ext cx="353913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>
                <a:solidFill>
                  <a:srgbClr val="58A700"/>
                </a:solidFill>
                <a:latin typeface="Nunito Black"/>
              </a:rPr>
              <a:t>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975" y="3208287"/>
            <a:ext cx="2162919" cy="2190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30"/>
              </a:lnSpc>
            </a:pPr>
            <a:r>
              <a:rPr sz="1300" i="0" b="0">
                <a:solidFill>
                  <a:srgbClr val="3C3C3C"/>
                </a:solidFill>
                <a:latin typeface="Nunito Black"/>
              </a:rPr>
              <a:t>Landlords / master tenants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1398" y="3208287"/>
            <a:ext cx="2399109" cy="2190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30"/>
              </a:lnSpc>
            </a:pPr>
            <a:r>
              <a:rPr sz="1300" i="0" b="1">
                <a:solidFill>
                  <a:srgbClr val="555555"/>
                </a:solidFill>
                <a:latin typeface="Nunito"/>
              </a:rPr>
              <a:t>Interviews: price, and who pays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7979" y="3246387"/>
            <a:ext cx="32414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>
                <a:solidFill>
                  <a:srgbClr val="B35C00"/>
                </a:solidFill>
                <a:latin typeface="Nunito Black"/>
              </a:rPr>
              <a:t>Next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9121" y="638175"/>
            <a:ext cx="13245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157">
                <a:solidFill>
                  <a:srgbClr val="FFFFFF"/>
                </a:solidFill>
                <a:latin typeface="Nunito Black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620" y="628650"/>
            <a:ext cx="3067794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 spc="157">
                <a:solidFill>
                  <a:srgbClr val="1899D6"/>
                </a:solidFill>
                <a:latin typeface="Nunito Black"/>
              </a:rPr>
              <a:t>USER &amp; STAKEHOLDER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7250"/>
            <a:ext cx="9185671" cy="628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888"/>
              </a:lnSpc>
            </a:pPr>
            <a:r>
              <a:rPr sz="3600" i="0" b="0" spc="-54">
                <a:solidFill>
                  <a:srgbClr val="3C3C3C"/>
                </a:solidFill>
                <a:latin typeface="Nunito Black"/>
              </a:rPr>
              <a:t>Today's system: </a:t>
            </a:r>
            <a:r>
              <a:rPr sz="3600" i="0" b="0" spc="-54">
                <a:solidFill>
                  <a:srgbClr val="1899D6"/>
                </a:solidFill>
                <a:latin typeface="Nunito Black"/>
              </a:rPr>
              <a:t>walk over and ask around.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175" y="1931937"/>
            <a:ext cx="2280493" cy="295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70"/>
              </a:lnSpc>
            </a:pPr>
            <a:r>
              <a:rPr sz="1700" i="0" b="0">
                <a:solidFill>
                  <a:srgbClr val="3C3C3C"/>
                </a:solidFill>
                <a:latin typeface="Nunito Black"/>
              </a:rPr>
              <a:t>How they cope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175" y="2312937"/>
            <a:ext cx="1535162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0">
                <a:solidFill>
                  <a:srgbClr val="3C3C3C"/>
                </a:solidFill>
                <a:latin typeface="Nunito ExtraBold"/>
              </a:rPr>
              <a:t>Walk over and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9175" y="2322462"/>
            <a:ext cx="598735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>
                <a:solidFill>
                  <a:srgbClr val="555555"/>
                </a:solidFill>
                <a:latin typeface="Nunito ExtraBold"/>
              </a:rPr>
              <a:t>12 of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175" y="2608212"/>
            <a:ext cx="1435744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0">
                <a:solidFill>
                  <a:srgbClr val="3C3C3C"/>
                </a:solidFill>
                <a:latin typeface="Nunito ExtraBold"/>
              </a:rPr>
              <a:t>Ask in a group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9175" y="2617737"/>
            <a:ext cx="598735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>
                <a:solidFill>
                  <a:srgbClr val="555555"/>
                </a:solidFill>
                <a:latin typeface="Nunito ExtraBold"/>
              </a:rPr>
              <a:t>10 of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2903487"/>
            <a:ext cx="1327398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0">
                <a:solidFill>
                  <a:srgbClr val="3C3C3C"/>
                </a:solidFill>
                <a:latin typeface="Nunito ExtraBold"/>
              </a:rPr>
              <a:t>Set a phone timer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9175" y="2913012"/>
            <a:ext cx="513010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>
                <a:solidFill>
                  <a:srgbClr val="555555"/>
                </a:solidFill>
                <a:latin typeface="Nunito ExtraBold"/>
              </a:rPr>
              <a:t>7 of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3198762"/>
            <a:ext cx="1313705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0">
                <a:solidFill>
                  <a:srgbClr val="3C3C3C"/>
                </a:solidFill>
                <a:latin typeface="Nunito ExtraBold"/>
              </a:rPr>
              <a:t>Laundry 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9175" y="3208287"/>
            <a:ext cx="513010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>
                <a:solidFill>
                  <a:srgbClr val="555555"/>
                </a:solidFill>
                <a:latin typeface="Nunito ExtraBold"/>
              </a:rPr>
              <a:t>3 of 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1931937"/>
            <a:ext cx="2118270" cy="295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70"/>
              </a:lnSpc>
            </a:pPr>
            <a:r>
              <a:rPr sz="1700" i="0" b="0">
                <a:solidFill>
                  <a:srgbClr val="3C3C3C"/>
                </a:solidFill>
                <a:latin typeface="Nunito Black"/>
              </a:rPr>
              <a:t>How annoying is 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2312937"/>
            <a:ext cx="1934319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0">
                <a:solidFill>
                  <a:srgbClr val="3C3C3C"/>
                </a:solidFill>
                <a:latin typeface="Nunito ExtraBold"/>
              </a:rPr>
              <a:t>Washer busy when I need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1325" y="2427237"/>
            <a:ext cx="459283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>
                <a:solidFill>
                  <a:srgbClr val="555555"/>
                </a:solidFill>
                <a:latin typeface="Nunito ExtraBold"/>
              </a:rPr>
              <a:t>3.3 /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2817762"/>
            <a:ext cx="1746944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0">
                <a:solidFill>
                  <a:srgbClr val="3C3C3C"/>
                </a:solidFill>
                <a:latin typeface="Nunito ExtraBold"/>
              </a:rPr>
              <a:t>Don't know whose 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1325" y="2827287"/>
            <a:ext cx="459283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>
                <a:solidFill>
                  <a:srgbClr val="555555"/>
                </a:solidFill>
                <a:latin typeface="Nunito ExtraBold"/>
              </a:rPr>
              <a:t>3.2 /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6525" y="3113037"/>
            <a:ext cx="1465064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0">
                <a:solidFill>
                  <a:srgbClr val="3C3C3C"/>
                </a:solidFill>
                <a:latin typeface="Nunito ExtraBold"/>
              </a:rPr>
              <a:t>Others' laundry left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1325" y="3122562"/>
            <a:ext cx="459283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>
                <a:solidFill>
                  <a:srgbClr val="555555"/>
                </a:solidFill>
                <a:latin typeface="Nunito ExtraBold"/>
              </a:rPr>
              <a:t>3.1 /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525" y="3408312"/>
            <a:ext cx="1182737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0">
                <a:solidFill>
                  <a:srgbClr val="3C3C3C"/>
                </a:solidFill>
                <a:latin typeface="Nunito ExtraBold"/>
              </a:rPr>
              <a:t>I forget my 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1325" y="3417837"/>
            <a:ext cx="459283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>
                <a:solidFill>
                  <a:srgbClr val="555555"/>
                </a:solidFill>
                <a:latin typeface="Nunito ExtraBold"/>
              </a:rPr>
              <a:t>2.8 /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5953125"/>
            <a:ext cx="85635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1">
                <a:solidFill>
                  <a:srgbClr val="8A94A6"/>
                </a:solidFill>
                <a:latin typeface="Nunito"/>
              </a:rPr>
              <a:t>Survey, n =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9121" y="638175"/>
            <a:ext cx="13245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157">
                <a:solidFill>
                  <a:srgbClr val="FFFFFF"/>
                </a:solidFill>
                <a:latin typeface="Nunito Black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620" y="628650"/>
            <a:ext cx="3067794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 spc="157">
                <a:solidFill>
                  <a:srgbClr val="1899D6"/>
                </a:solidFill>
                <a:latin typeface="Nunito Black"/>
              </a:rPr>
              <a:t>USER &amp; STAKEHOLDER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7250"/>
            <a:ext cx="3276748" cy="628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888"/>
              </a:lnSpc>
            </a:pPr>
            <a:r>
              <a:rPr sz="3600" i="0" b="0" spc="-54">
                <a:solidFill>
                  <a:srgbClr val="3C3C3C"/>
                </a:solidFill>
                <a:latin typeface="Nunito Black"/>
              </a:rPr>
              <a:t>Three findings.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175" y="2027187"/>
            <a:ext cx="1560462" cy="295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70"/>
              </a:lnSpc>
            </a:pPr>
            <a:r>
              <a:rPr sz="1700" i="0" b="0">
                <a:solidFill>
                  <a:srgbClr val="3C3C3C"/>
                </a:solidFill>
                <a:latin typeface="Nunito Black"/>
              </a:rPr>
              <a:t>1 · “Is it free?”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175" y="2371754"/>
            <a:ext cx="2867025" cy="4694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48"/>
              </a:lnSpc>
            </a:pPr>
            <a:r>
              <a:rPr sz="1300" i="0" b="1">
                <a:solidFill>
                  <a:srgbClr val="666666"/>
                </a:solidFill>
                <a:latin typeface="Nunito"/>
              </a:rPr>
              <a:t>The machine can't tell anyone its state, so 12 of 18 walk over to check.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975" y="2027187"/>
            <a:ext cx="2269628" cy="295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70"/>
              </a:lnSpc>
            </a:pPr>
            <a:r>
              <a:rPr sz="1700" i="0" b="0">
                <a:solidFill>
                  <a:srgbClr val="3C3C3C"/>
                </a:solidFill>
                <a:latin typeface="Nunito Black"/>
              </a:rPr>
              <a:t>2 · Victim and culprit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975" y="2371754"/>
            <a:ext cx="2836961" cy="7041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48"/>
              </a:lnSpc>
            </a:pPr>
            <a:r>
              <a:rPr sz="1300" i="0" b="1">
                <a:solidFill>
                  <a:srgbClr val="666666"/>
                </a:solidFill>
                <a:latin typeface="Nunito"/>
              </a:rPr>
              <a:t>17 of 18 found others' laundry. 16 of 18 left their own. Nobody is told when a cycle ends.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8925" y="2027187"/>
            <a:ext cx="2900957" cy="590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70"/>
              </a:lnSpc>
            </a:pPr>
            <a:r>
              <a:rPr sz="1700" i="0" b="0">
                <a:solidFill>
                  <a:srgbClr val="3C3C3C"/>
                </a:solidFill>
                <a:latin typeface="Nunito Black"/>
              </a:rPr>
              <a:t>3 · They cope, they'll pay a little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8925" y="2667029"/>
            <a:ext cx="2772221" cy="2347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48"/>
              </a:lnSpc>
            </a:pPr>
            <a:r>
              <a:rPr sz="1300" i="0" b="0">
                <a:solidFill>
                  <a:srgbClr val="666666"/>
                </a:solidFill>
                <a:latin typeface="Nunito Black"/>
              </a:rPr>
              <a:t>13 of 18</a:t>
            </a:r>
            <a:r>
              <a:rPr sz="1300" i="0" b="1">
                <a:solidFill>
                  <a:srgbClr val="666666"/>
                </a:solidFill>
                <a:latin typeface="Nunito"/>
              </a:rPr>
              <a:t> willing to pay S$10 or less.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953125"/>
            <a:ext cx="85635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1">
                <a:solidFill>
                  <a:srgbClr val="8A94A6"/>
                </a:solidFill>
                <a:latin typeface="Nunito"/>
              </a:rPr>
              <a:t>Survey, n =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9121" y="638175"/>
            <a:ext cx="13245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157">
                <a:solidFill>
                  <a:srgbClr val="FFFFFF"/>
                </a:solidFill>
                <a:latin typeface="Nunito Black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620" y="628650"/>
            <a:ext cx="3067794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 spc="157">
                <a:solidFill>
                  <a:srgbClr val="1899D6"/>
                </a:solidFill>
                <a:latin typeface="Nunito Black"/>
              </a:rPr>
              <a:t>USER &amp; STAKEHOLDER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7250"/>
            <a:ext cx="6147494" cy="628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888"/>
              </a:lnSpc>
            </a:pPr>
            <a:r>
              <a:rPr sz="3600" i="0" b="0" spc="-54">
                <a:solidFill>
                  <a:srgbClr val="3C3C3C"/>
                </a:solidFill>
                <a:latin typeface="Nunito Black"/>
              </a:rPr>
              <a:t>What the evidence </a:t>
            </a:r>
            <a:r>
              <a:rPr sz="3600" i="0" b="0" spc="-54">
                <a:solidFill>
                  <a:srgbClr val="1899D6"/>
                </a:solidFill>
                <a:latin typeface="Nunito Black"/>
              </a:rPr>
              <a:t>changed</a:t>
            </a:r>
            <a:r>
              <a:rPr sz="3600" i="0" b="0" spc="-54">
                <a:solidFill>
                  <a:srgbClr val="3C3C3C"/>
                </a:solidFill>
                <a:latin typeface="Nunito Black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2975" y="1836687"/>
            <a:ext cx="993725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58">
                <a:solidFill>
                  <a:srgbClr val="7A7A7A"/>
                </a:solidFill>
                <a:latin typeface="Nunito Black"/>
              </a:rPr>
              <a:t>WE ASSUMED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89573" y="1836687"/>
            <a:ext cx="1393775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58">
                <a:solidFill>
                  <a:srgbClr val="7A7A7A"/>
                </a:solidFill>
                <a:latin typeface="Nunito Black"/>
              </a:rPr>
              <a:t>WE FOUND (N = 18)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33853" y="1836687"/>
            <a:ext cx="1004589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58">
                <a:solidFill>
                  <a:srgbClr val="7A7A7A"/>
                </a:solidFill>
                <a:latin typeface="Nunito Black"/>
              </a:rPr>
              <a:t>SO WE NOW…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2975" y="2265312"/>
            <a:ext cx="2270224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85"/>
              </a:lnSpc>
            </a:pPr>
            <a:r>
              <a:rPr sz="1250" i="0" b="1">
                <a:solidFill>
                  <a:srgbClr val="555555"/>
                </a:solidFill>
                <a:latin typeface="Nunito"/>
              </a:rPr>
              <a:t>Tenants would pay a fair price for a laundry 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9573" y="2265312"/>
            <a:ext cx="3584078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85"/>
              </a:lnSpc>
            </a:pPr>
            <a:r>
              <a:rPr sz="1250" i="0" b="0">
                <a:solidFill>
                  <a:srgbClr val="3C3C3C"/>
                </a:solidFill>
                <a:latin typeface="Nunito Black"/>
              </a:rPr>
              <a:t>13 of 18</a:t>
            </a:r>
            <a:r>
              <a:rPr sz="1250" i="0" b="1">
                <a:solidFill>
                  <a:srgbClr val="555555"/>
                </a:solidFill>
                <a:latin typeface="Nunito"/>
              </a:rPr>
              <a:t> would pay S$10 or less, and 7 of those would pay S$0. Only 5 would pay more.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3853" y="2265312"/>
            <a:ext cx="3399680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85"/>
              </a:lnSpc>
            </a:pPr>
            <a:r>
              <a:rPr sz="1250" i="0" b="1">
                <a:solidFill>
                  <a:srgbClr val="555555"/>
                </a:solidFill>
                <a:latin typeface="Nunito"/>
              </a:rPr>
              <a:t>Aim for a product </a:t>
            </a:r>
            <a:r>
              <a:rPr sz="1250" i="0" b="0">
                <a:solidFill>
                  <a:srgbClr val="3C3C3C"/>
                </a:solidFill>
                <a:latin typeface="Nunito Black"/>
              </a:rPr>
              <a:t>under S$10</a:t>
            </a:r>
            <a:r>
              <a:rPr sz="1250" i="0" b="1">
                <a:solidFill>
                  <a:srgbClr val="555555"/>
                </a:solidFill>
                <a:latin typeface="Nunito"/>
              </a:rPr>
              <a:t> per household. Our parts cost has to come down.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975" y="2951112"/>
            <a:ext cx="1836390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85"/>
              </a:lnSpc>
            </a:pPr>
            <a:r>
              <a:rPr sz="1250" i="0" b="1">
                <a:solidFill>
                  <a:srgbClr val="555555"/>
                </a:solidFill>
                <a:latin typeface="Nunito"/>
              </a:rPr>
              <a:t>Forgotten laundry is the biggest pain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9573" y="2951112"/>
            <a:ext cx="3855392" cy="6572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85"/>
              </a:lnSpc>
            </a:pPr>
            <a:r>
              <a:rPr sz="1250" i="0" b="1">
                <a:solidFill>
                  <a:srgbClr val="555555"/>
                </a:solidFill>
                <a:latin typeface="Nunito"/>
              </a:rPr>
              <a:t>A </a:t>
            </a:r>
            <a:r>
              <a:rPr sz="1250" i="0" b="0">
                <a:solidFill>
                  <a:srgbClr val="3C3C3C"/>
                </a:solidFill>
                <a:latin typeface="Nunito Black"/>
              </a:rPr>
              <a:t>busy washer</a:t>
            </a:r>
            <a:r>
              <a:rPr sz="1250" i="0" b="1">
                <a:solidFill>
                  <a:srgbClr val="555555"/>
                </a:solidFill>
                <a:latin typeface="Nunito"/>
              </a:rPr>
              <a:t> is rated most annoying: </a:t>
            </a:r>
            <a:r>
              <a:rPr sz="1250" i="0" b="0">
                <a:solidFill>
                  <a:srgbClr val="3C3C3C"/>
                </a:solidFill>
                <a:latin typeface="Nunito Black"/>
              </a:rPr>
              <a:t>3.3 / 5</a:t>
            </a:r>
            <a:r>
              <a:rPr sz="1250" i="0" b="1">
                <a:solidFill>
                  <a:srgbClr val="555555"/>
                </a:solidFill>
                <a:latin typeface="Nunito"/>
              </a:rPr>
              <a:t>, with 10 of 18 rating it 4–5. Others' left laundry is rated lower (3.1).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33853" y="2951112"/>
            <a:ext cx="3586311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85"/>
              </a:lnSpc>
            </a:pPr>
            <a:r>
              <a:rPr sz="1250" i="0" b="1">
                <a:solidFill>
                  <a:srgbClr val="555555"/>
                </a:solidFill>
                <a:latin typeface="Nunito"/>
              </a:rPr>
              <a:t>Lead with </a:t>
            </a:r>
            <a:r>
              <a:rPr sz="1250" i="0" b="0">
                <a:solidFill>
                  <a:srgbClr val="3C3C3C"/>
                </a:solidFill>
                <a:latin typeface="Nunito Black"/>
              </a:rPr>
              <a:t>“is it free?”</a:t>
            </a:r>
            <a:r>
              <a:rPr sz="1250" i="0" b="1">
                <a:solidFill>
                  <a:srgbClr val="555555"/>
                </a:solidFill>
                <a:latin typeface="Nunito"/>
              </a:rPr>
              <a:t> so nobody walks over for nothing. Reminders come second.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975" y="3855987"/>
            <a:ext cx="1585466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85"/>
              </a:lnSpc>
            </a:pPr>
            <a:r>
              <a:rPr sz="1250" i="0" b="1">
                <a:solidFill>
                  <a:srgbClr val="555555"/>
                </a:solidFill>
                <a:latin typeface="Nunito"/>
              </a:rPr>
              <a:t>One or two forgetful housemates cause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9573" y="3855987"/>
            <a:ext cx="3889920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85"/>
              </a:lnSpc>
            </a:pPr>
            <a:r>
              <a:rPr sz="1250" i="0" b="0">
                <a:solidFill>
                  <a:srgbClr val="3C3C3C"/>
                </a:solidFill>
                <a:latin typeface="Nunito Black"/>
              </a:rPr>
              <a:t>16 of 18</a:t>
            </a:r>
            <a:r>
              <a:rPr sz="1250" i="0" b="1">
                <a:solidFill>
                  <a:srgbClr val="555555"/>
                </a:solidFill>
                <a:latin typeface="Nunito"/>
              </a:rPr>
              <a:t> left their own laundry for 30+ minutes, and 17 of 18 found someone else's.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33853" y="3855987"/>
            <a:ext cx="3465462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85"/>
              </a:lnSpc>
            </a:pPr>
            <a:r>
              <a:rPr sz="1250" i="0" b="1">
                <a:solidFill>
                  <a:srgbClr val="555555"/>
                </a:solidFill>
                <a:latin typeface="Nunito"/>
              </a:rPr>
              <a:t>Design </a:t>
            </a:r>
            <a:r>
              <a:rPr sz="1250" i="0" b="0">
                <a:solidFill>
                  <a:srgbClr val="3C3C3C"/>
                </a:solidFill>
                <a:latin typeface="Nunito Black"/>
              </a:rPr>
              <a:t>reminders for everyone</a:t>
            </a:r>
            <a:r>
              <a:rPr sz="1250" i="0" b="1">
                <a:solidFill>
                  <a:srgbClr val="555555"/>
                </a:solidFill>
                <a:latin typeface="Nunito"/>
              </a:rPr>
              <a:t>, not blame for one person.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975" y="4541787"/>
            <a:ext cx="1942504" cy="2190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85"/>
              </a:lnSpc>
            </a:pPr>
            <a:r>
              <a:rPr sz="1250" i="0" b="1">
                <a:solidFill>
                  <a:srgbClr val="555555"/>
                </a:solidFill>
                <a:latin typeface="Nunito"/>
              </a:rPr>
              <a:t>Everyone is on WhatsApp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9573" y="4541787"/>
            <a:ext cx="3236862" cy="2190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85"/>
              </a:lnSpc>
            </a:pPr>
            <a:r>
              <a:rPr sz="1250" i="0" b="0">
                <a:solidFill>
                  <a:srgbClr val="3C3C3C"/>
                </a:solidFill>
                <a:latin typeface="Nunito Black"/>
              </a:rPr>
              <a:t>13 of 18</a:t>
            </a:r>
            <a:r>
              <a:rPr sz="1250" i="0" b="1">
                <a:solidFill>
                  <a:srgbClr val="555555"/>
                </a:solidFill>
                <a:latin typeface="Nunito"/>
              </a:rPr>
              <a:t> use WhatsApp. 5 use another app.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3853" y="4541787"/>
            <a:ext cx="3502818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85"/>
              </a:lnSpc>
            </a:pPr>
            <a:r>
              <a:rPr sz="1250" i="0" b="1">
                <a:solidFill>
                  <a:srgbClr val="555555"/>
                </a:solidFill>
                <a:latin typeface="Nunito"/>
              </a:rPr>
              <a:t>Show status </a:t>
            </a:r>
            <a:r>
              <a:rPr sz="1250" i="0" b="0">
                <a:solidFill>
                  <a:srgbClr val="3C3C3C"/>
                </a:solidFill>
                <a:latin typeface="Nunito Black"/>
              </a:rPr>
              <a:t>on the machine itself</a:t>
            </a:r>
            <a:r>
              <a:rPr sz="1250" i="0" b="1">
                <a:solidFill>
                  <a:srgbClr val="555555"/>
                </a:solidFill>
                <a:latin typeface="Nunito"/>
              </a:rPr>
              <a:t>, so it works without any app.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9121" y="638175"/>
            <a:ext cx="13245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157">
                <a:solidFill>
                  <a:srgbClr val="FFFFFF"/>
                </a:solidFill>
                <a:latin typeface="Nunito Black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620" y="628650"/>
            <a:ext cx="4086820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 spc="157">
                <a:solidFill>
                  <a:srgbClr val="1899D6"/>
                </a:solidFill>
                <a:latin typeface="Nunito Black"/>
              </a:rPr>
              <a:t>EXISTING SOLUTIONS &amp; MARKET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5825"/>
            <a:ext cx="5045868" cy="4857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078"/>
              </a:lnSpc>
            </a:pPr>
            <a:r>
              <a:rPr sz="2850" i="0" b="0" spc="-42">
                <a:solidFill>
                  <a:srgbClr val="3C3C3C"/>
                </a:solidFill>
                <a:latin typeface="Nunito Black"/>
              </a:rPr>
              <a:t>Checking the market options.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2975" y="1619547"/>
            <a:ext cx="576560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58">
                <a:solidFill>
                  <a:srgbClr val="7A7A7A"/>
                </a:solidFill>
                <a:latin typeface="Nunito Black"/>
              </a:rPr>
              <a:t>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4542" y="1619547"/>
            <a:ext cx="936426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58">
                <a:solidFill>
                  <a:srgbClr val="7A7A7A"/>
                </a:solidFill>
                <a:latin typeface="Nunito Black"/>
              </a:rPr>
              <a:t>EASE OF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1564" y="1619547"/>
            <a:ext cx="408533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58">
                <a:solidFill>
                  <a:srgbClr val="7A7A7A"/>
                </a:solidFill>
                <a:latin typeface="Nunito Black"/>
              </a:rPr>
              <a:t>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45933" y="1619547"/>
            <a:ext cx="2347168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58">
                <a:solidFill>
                  <a:srgbClr val="7A7A7A"/>
                </a:solidFill>
                <a:latin typeface="Nunito Black"/>
              </a:rPr>
              <a:t>PROBLEMS WITH THIS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2975" y="2038647"/>
            <a:ext cx="744884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0">
                <a:solidFill>
                  <a:srgbClr val="3C3C3C"/>
                </a:solidFill>
                <a:latin typeface="Nunito Black"/>
              </a:rPr>
              <a:t>Tapo P110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975" y="2248197"/>
            <a:ext cx="66838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1">
                <a:solidFill>
                  <a:srgbClr val="8A94A6"/>
                </a:solidFill>
                <a:latin typeface="Nunito"/>
              </a:rPr>
              <a:t>smart plug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4542" y="2038647"/>
            <a:ext cx="2807791" cy="571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0">
                <a:solidFill>
                  <a:srgbClr val="3C3C3C"/>
                </a:solidFill>
                <a:latin typeface="Nunito Black"/>
              </a:rPr>
              <a:t>2.5 / 5.</a:t>
            </a:r>
            <a:r>
              <a:rPr sz="1100" i="0" b="1">
                <a:solidFill>
                  <a:srgbClr val="555555"/>
                </a:solidFill>
                <a:latin typeface="Nunito"/>
              </a:rPr>
              <a:t> Install an app, pair the plug, plug the washer into it. Only the account owner sees the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1564" y="2038647"/>
            <a:ext cx="1758404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1">
                <a:solidFill>
                  <a:srgbClr val="555555"/>
                </a:solidFill>
                <a:latin typeface="Nunito"/>
              </a:rPr>
              <a:t>≈ </a:t>
            </a:r>
            <a:r>
              <a:rPr sz="1100" i="0" b="0">
                <a:solidFill>
                  <a:srgbClr val="3C3C3C"/>
                </a:solidFill>
                <a:latin typeface="Nunito Black"/>
              </a:rPr>
              <a:t>S$20</a:t>
            </a:r>
            <a:r>
              <a:rPr sz="1100" i="0" b="1">
                <a:solidFill>
                  <a:srgbClr val="555555"/>
                </a:solidFill>
                <a:latin typeface="Nunito"/>
              </a:rPr>
              <a:t> one-off (P110M is S$19.90 on official stores)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5933" y="2038647"/>
            <a:ext cx="333494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1">
                <a:solidFill>
                  <a:srgbClr val="555555"/>
                </a:solidFill>
                <a:latin typeface="Nunito"/>
              </a:rPr>
              <a:t>Shows power use, not "free or busy". No queue, no names. Above the S$10 target.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975" y="2838747"/>
            <a:ext cx="931217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0">
                <a:solidFill>
                  <a:srgbClr val="3C3C3C"/>
                </a:solidFill>
                <a:latin typeface="Nunito Black"/>
              </a:rPr>
              <a:t>LaundryView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975" y="3048297"/>
            <a:ext cx="1110704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1">
                <a:solidFill>
                  <a:srgbClr val="8A94A6"/>
                </a:solidFill>
                <a:latin typeface="Nunito"/>
              </a:rPr>
              <a:t>CSC ServiceWorks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4542" y="2838747"/>
            <a:ext cx="2843361" cy="571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0">
                <a:solidFill>
                  <a:srgbClr val="3C3C3C"/>
                </a:solidFill>
                <a:latin typeface="Nunito Black"/>
              </a:rPr>
              <a:t>2.5 / 5.</a:t>
            </a:r>
            <a:r>
              <a:rPr sz="1100" i="0" b="1">
                <a:solidFill>
                  <a:srgbClr val="555555"/>
                </a:solidFill>
                <a:latin typeface="Nunito"/>
              </a:rPr>
              <a:t> Only in an operator's laundry room. Find your room on a website, then check it or set an email alert per machine.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11564" y="2838747"/>
            <a:ext cx="2060525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0">
                <a:solidFill>
                  <a:srgbClr val="3C3C3C"/>
                </a:solidFill>
                <a:latin typeface="Nunito Black"/>
              </a:rPr>
              <a:t>Free</a:t>
            </a:r>
            <a:r>
              <a:rPr sz="1100" i="0" b="1">
                <a:solidFill>
                  <a:srgbClr val="555555"/>
                </a:solidFill>
                <a:latin typeface="Nunito"/>
              </a:rPr>
              <a:t> to residents. CSC pays for the install.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5933" y="2838747"/>
            <a:ext cx="3302942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1">
                <a:solidFill>
                  <a:srgbClr val="555555"/>
                </a:solidFill>
                <a:latin typeface="Nunito"/>
              </a:rPr>
              <a:t>Needs the operator's networked machines, so a rented flat can't add it. Shows status, not a queue.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975" y="3638847"/>
            <a:ext cx="979289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0">
                <a:solidFill>
                  <a:srgbClr val="3C3C3C"/>
                </a:solidFill>
                <a:latin typeface="Nunito Black"/>
              </a:rPr>
              <a:t>Smart washer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975" y="3848397"/>
            <a:ext cx="1250751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1">
                <a:solidFill>
                  <a:srgbClr val="8A94A6"/>
                </a:solidFill>
                <a:latin typeface="Nunito"/>
              </a:rPr>
              <a:t>SmartThings / ThinQ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34542" y="3638847"/>
            <a:ext cx="2763887" cy="571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0">
                <a:solidFill>
                  <a:srgbClr val="3C3C3C"/>
                </a:solidFill>
                <a:latin typeface="Nunito Black"/>
              </a:rPr>
              <a:t>3.5 / 5.</a:t>
            </a:r>
            <a:r>
              <a:rPr sz="1100" i="0" b="1">
                <a:solidFill>
                  <a:srgbClr val="555555"/>
                </a:solidFill>
                <a:latin typeface="Nunito"/>
              </a:rPr>
              <a:t> The brand's app shows status and says when the cycle ends. Only people added to the account get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11564" y="3638847"/>
            <a:ext cx="1899493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0">
                <a:solidFill>
                  <a:srgbClr val="3C3C3C"/>
                </a:solidFill>
                <a:latin typeface="Nunito Black"/>
              </a:rPr>
              <a:t>S$1,000+</a:t>
            </a:r>
            <a:r>
              <a:rPr sz="1100" i="0" b="1">
                <a:solidFill>
                  <a:srgbClr val="555555"/>
                </a:solidFill>
                <a:latin typeface="Nunito"/>
              </a:rPr>
              <a:t>: buy a new washer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45933" y="3638847"/>
            <a:ext cx="3119139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1">
                <a:solidFill>
                  <a:srgbClr val="555555"/>
                </a:solidFill>
                <a:latin typeface="Nunito"/>
              </a:rPr>
              <a:t>The washer belongs to the landlord, so tenants can't swap it. No queue, no names.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975" y="4438947"/>
            <a:ext cx="527446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0">
                <a:solidFill>
                  <a:srgbClr val="3C3C3C"/>
                </a:solidFill>
                <a:latin typeface="Nunito Black"/>
              </a:rPr>
              <a:t>WashQ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975" y="4648497"/>
            <a:ext cx="639960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1">
                <a:solidFill>
                  <a:srgbClr val="8A94A6"/>
                </a:solidFill>
                <a:latin typeface="Nunito"/>
              </a:rPr>
              <a:t>queue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34542" y="4438947"/>
            <a:ext cx="2738586" cy="571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0">
                <a:solidFill>
                  <a:srgbClr val="3C3C3C"/>
                </a:solidFill>
                <a:latin typeface="Nunito Black"/>
              </a:rPr>
              <a:t>3 / 5.</a:t>
            </a:r>
            <a:r>
              <a:rPr sz="1100" i="0" b="1">
                <a:solidFill>
                  <a:srgbClr val="555555"/>
                </a:solidFill>
                <a:latin typeface="Nunito"/>
              </a:rPr>
              <a:t> Web app, no sign-up, but a code for every wash, and every housemate must use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11564" y="4438947"/>
            <a:ext cx="1382910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0">
                <a:solidFill>
                  <a:srgbClr val="3C3C3C"/>
                </a:solidFill>
                <a:latin typeface="Nunito Black"/>
              </a:rPr>
              <a:t>Free</a:t>
            </a:r>
            <a:r>
              <a:rPr sz="1100" i="0" b="1">
                <a:solidFill>
                  <a:srgbClr val="555555"/>
                </a:solidFill>
                <a:latin typeface="Nunito"/>
              </a:rPr>
              <a:t> (no price found)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5933" y="4438947"/>
            <a:ext cx="328538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1">
                <a:solidFill>
                  <a:srgbClr val="555555"/>
                </a:solidFill>
                <a:latin typeface="Nunito"/>
              </a:rPr>
              <a:t>A prototype: only 1 of its 15 demo machines has a live sensor. Play Store listing not verified.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975" y="5239047"/>
            <a:ext cx="854273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0">
                <a:solidFill>
                  <a:srgbClr val="3C3C3C"/>
                </a:solidFill>
                <a:latin typeface="Nunito Black"/>
              </a:rPr>
              <a:t>Our product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975" y="5448597"/>
            <a:ext cx="727174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1">
                <a:solidFill>
                  <a:srgbClr val="8A94A6"/>
                </a:solidFill>
                <a:latin typeface="Nunito"/>
              </a:rPr>
              <a:t>to be tested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34542" y="5239047"/>
            <a:ext cx="2640210" cy="571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0">
                <a:solidFill>
                  <a:srgbClr val="3C3C3C"/>
                </a:solidFill>
                <a:latin typeface="Nunito Black"/>
              </a:rPr>
              <a:t>4.5 / 5</a:t>
            </a:r>
            <a:r>
              <a:rPr sz="1100" i="0" b="1">
                <a:solidFill>
                  <a:srgbClr val="555555"/>
                </a:solidFill>
                <a:latin typeface="Nunito"/>
              </a:rPr>
              <a:t> (hypothesis). Scan a QR in WhatsApp; the tag shows status on the machine.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11564" y="5239047"/>
            <a:ext cx="2050702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1">
                <a:solidFill>
                  <a:srgbClr val="555555"/>
                </a:solidFill>
                <a:latin typeface="Nunito"/>
              </a:rPr>
              <a:t>≈ S$35–55 parts today. </a:t>
            </a:r>
            <a:r>
              <a:rPr sz="1100" i="0" b="0">
                <a:solidFill>
                  <a:srgbClr val="3C3C3C"/>
                </a:solidFill>
                <a:latin typeface="Nunito Black"/>
              </a:rPr>
              <a:t>Target under S$10.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45933" y="5239047"/>
            <a:ext cx="3154412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1">
                <a:solidFill>
                  <a:srgbClr val="555555"/>
                </a:solidFill>
                <a:latin typeface="Nunito"/>
              </a:rPr>
              <a:t>Too costly today. The hardware has to get much cheaper.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5953125"/>
            <a:ext cx="5331618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1">
                <a:solidFill>
                  <a:srgbClr val="8A94A6"/>
                </a:solidFill>
                <a:latin typeface="Nunito"/>
              </a:rPr>
              <a:t>Scores are our assessment from public information, on a 1–5 scale. Not yet rated by tenants.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9121" y="638175"/>
            <a:ext cx="13245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157">
                <a:solidFill>
                  <a:srgbClr val="FFFFFF"/>
                </a:solidFill>
                <a:latin typeface="Nunito Black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620" y="628650"/>
            <a:ext cx="4086820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 spc="157">
                <a:solidFill>
                  <a:srgbClr val="1899D6"/>
                </a:solidFill>
                <a:latin typeface="Nunito Black"/>
              </a:rPr>
              <a:t>EXISTING SOLUTIONS &amp; MARKET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5825"/>
            <a:ext cx="4202608" cy="4857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078"/>
              </a:lnSpc>
            </a:pPr>
            <a:r>
              <a:rPr sz="2850" i="0" b="0" spc="-42">
                <a:solidFill>
                  <a:srgbClr val="3C3C3C"/>
                </a:solidFill>
                <a:latin typeface="Nunito Black"/>
              </a:rPr>
              <a:t>Ease of use against cost.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00975" y="1562397"/>
            <a:ext cx="1391394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10"/>
              </a:lnSpc>
            </a:pPr>
            <a:r>
              <a:rPr sz="1400" i="0" b="0">
                <a:solidFill>
                  <a:srgbClr val="3C3C3C"/>
                </a:solidFill>
                <a:latin typeface="Nunito Black"/>
              </a:rPr>
              <a:t>How we built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0975" y="1867197"/>
            <a:ext cx="3488828" cy="1200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75"/>
              </a:lnSpc>
            </a:pPr>
            <a:r>
              <a:rPr sz="1050" i="0" b="1">
                <a:solidFill>
                  <a:srgbClr val="666666"/>
                </a:solidFill>
                <a:latin typeface="Nunito"/>
              </a:rPr>
              <a:t>1. </a:t>
            </a:r>
            <a:r>
              <a:rPr sz="1050" i="0" b="0">
                <a:solidFill>
                  <a:srgbClr val="666666"/>
                </a:solidFill>
                <a:latin typeface="Nunito Black"/>
              </a:rPr>
              <a:t>Ease of use:</a:t>
            </a:r>
            <a:r>
              <a:rPr sz="1050" i="0" b="1">
                <a:solidFill>
                  <a:srgbClr val="666666"/>
                </a:solidFill>
                <a:latin typeface="Nunito"/>
              </a:rPr>
              <a:t> tenants rely on free workarounds that need no setup (walk over: 12 of 18).</a:t>
            </a:r>
          </a:p>
          <a:p>
            <a:pPr algn="l">
              <a:lnSpc>
                <a:spcPts val="1575"/>
              </a:lnSpc>
            </a:pPr>
            <a:r>
              <a:rPr sz="1050" i="0" b="1">
                <a:solidFill>
                  <a:srgbClr val="666666"/>
                </a:solidFill>
                <a:latin typeface="Nunito"/>
              </a:rPr>
              <a:t>2. </a:t>
            </a:r>
            <a:r>
              <a:rPr sz="1050" i="0" b="0">
                <a:solidFill>
                  <a:srgbClr val="666666"/>
                </a:solidFill>
                <a:latin typeface="Nunito Black"/>
              </a:rPr>
              <a:t>Cost:</a:t>
            </a:r>
            <a:r>
              <a:rPr sz="1050" i="0" b="1">
                <a:solidFill>
                  <a:srgbClr val="666666"/>
                </a:solidFill>
                <a:latin typeface="Nunito"/>
              </a:rPr>
              <a:t> 13 of 18 would pay S$10 or less.</a:t>
            </a:r>
          </a:p>
          <a:p>
            <a:pPr algn="l">
              <a:lnSpc>
                <a:spcPts val="1575"/>
              </a:lnSpc>
            </a:pPr>
            <a:r>
              <a:rPr sz="1050" i="0" b="1">
                <a:solidFill>
                  <a:srgbClr val="666666"/>
                </a:solidFill>
                <a:latin typeface="Nunito"/>
              </a:rPr>
              <a:t>3. Cost is the </a:t>
            </a:r>
            <a:r>
              <a:rPr sz="1050" i="0" b="0">
                <a:solidFill>
                  <a:srgbClr val="666666"/>
                </a:solidFill>
                <a:latin typeface="Nunito Black"/>
              </a:rPr>
              <a:t>real one-off price</a:t>
            </a:r>
            <a:r>
              <a:rPr sz="1050" i="0" b="1">
                <a:solidFill>
                  <a:srgbClr val="666666"/>
                </a:solidFill>
                <a:latin typeface="Nunito"/>
              </a:rPr>
              <a:t> to a household. Ease is </a:t>
            </a:r>
            <a:r>
              <a:rPr sz="1050" i="0" b="0">
                <a:solidFill>
                  <a:srgbClr val="666666"/>
                </a:solidFill>
                <a:latin typeface="Nunito Black"/>
              </a:rPr>
              <a:t>our 1–5 assessment</a:t>
            </a:r>
            <a:r>
              <a:rPr sz="1050" i="0" b="1">
                <a:solidFill>
                  <a:srgbClr val="666666"/>
                </a:solidFill>
                <a:latin typeface="Nunito"/>
              </a:rPr>
              <a:t>.</a:t>
            </a:r>
          </a:p>
          <a:p>
            <a:pPr algn="l">
              <a:lnSpc>
                <a:spcPts val="1575"/>
              </a:lnSpc>
            </a:pPr>
            <a:r>
              <a:rPr sz="1050" i="0" b="1">
                <a:solidFill>
                  <a:srgbClr val="666666"/>
                </a:solidFill>
                <a:latin typeface="Nunito"/>
              </a:rPr>
              <a:t>4. </a:t>
            </a:r>
            <a:r>
              <a:rPr sz="1050" i="0" b="0">
                <a:solidFill>
                  <a:srgbClr val="B35C00"/>
                </a:solidFill>
                <a:latin typeface="Nunito Black"/>
              </a:rPr>
              <a:t>Pending:</a:t>
            </a:r>
            <a:r>
              <a:rPr sz="1050" i="0" b="1">
                <a:solidFill>
                  <a:srgbClr val="666666"/>
                </a:solidFill>
                <a:latin typeface="Nunito"/>
              </a:rPr>
              <a:t> tenants rate each option 1–5.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0975" y="3505497"/>
            <a:ext cx="658713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10"/>
              </a:lnSpc>
            </a:pPr>
            <a:r>
              <a:rPr sz="1400" i="0" b="0">
                <a:solidFill>
                  <a:srgbClr val="3C3C3C"/>
                </a:solidFill>
                <a:latin typeface="Nunito Black"/>
              </a:rPr>
              <a:t>Read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0975" y="3810297"/>
            <a:ext cx="3307109" cy="800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75"/>
              </a:lnSpc>
            </a:pPr>
            <a:r>
              <a:rPr sz="1050" i="0" b="1">
                <a:solidFill>
                  <a:srgbClr val="8A94A6"/>
                </a:solidFill>
                <a:latin typeface="Nunito"/>
              </a:rPr>
              <a:t>●</a:t>
            </a:r>
            <a:r>
              <a:rPr sz="1050" i="0" b="1">
                <a:solidFill>
                  <a:srgbClr val="666666"/>
                </a:solidFill>
                <a:latin typeface="Nunito"/>
              </a:rPr>
              <a:t> Manual </a:t>
            </a:r>
            <a:r>
              <a:rPr sz="1050" i="0" b="1">
                <a:solidFill>
                  <a:srgbClr val="1E293B"/>
                </a:solidFill>
                <a:latin typeface="Nunito"/>
              </a:rPr>
              <a:t>●</a:t>
            </a:r>
            <a:r>
              <a:rPr sz="1050" i="0" b="1">
                <a:solidFill>
                  <a:srgbClr val="666666"/>
                </a:solidFill>
                <a:latin typeface="Nunito"/>
              </a:rPr>
              <a:t> Indirect </a:t>
            </a:r>
            <a:r>
              <a:rPr sz="1050" i="0" b="1">
                <a:solidFill>
                  <a:srgbClr val="2563EB"/>
                </a:solidFill>
                <a:latin typeface="Nunito"/>
              </a:rPr>
              <a:t>●</a:t>
            </a:r>
            <a:r>
              <a:rPr sz="1050" i="0" b="1">
                <a:solidFill>
                  <a:srgbClr val="666666"/>
                </a:solidFill>
                <a:latin typeface="Nunito"/>
              </a:rPr>
              <a:t> Direct</a:t>
            </a:r>
          </a:p>
          <a:p>
            <a:pPr algn="l">
              <a:lnSpc>
                <a:spcPts val="1575"/>
              </a:lnSpc>
            </a:pPr>
            <a:r>
              <a:rPr sz="1050" i="0" b="1">
                <a:solidFill>
                  <a:srgbClr val="666666"/>
                </a:solidFill>
                <a:latin typeface="Nunito"/>
              </a:rPr>
              <a:t>The free options are all a hassle, and the easy one (smart washer) costs S$1,000+. </a:t>
            </a:r>
            <a:r>
              <a:rPr sz="1050" i="0" b="0">
                <a:solidFill>
                  <a:srgbClr val="666666"/>
                </a:solidFill>
                <a:latin typeface="Nunito Black"/>
              </a:rPr>
              <a:t>Our tag is easy but too costly today.</a:t>
            </a:r>
            <a:r>
              <a:rPr sz="1050" i="0" b="1">
                <a:solidFill>
                  <a:srgbClr val="666666"/>
                </a:solidFill>
                <a:latin typeface="Nunito"/>
              </a:rPr>
              <a:t> The job is to get under S$10.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098678"/>
            <a:ext cx="8275141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1">
                <a:solidFill>
                  <a:srgbClr val="8A94A6"/>
                </a:solidFill>
                <a:latin typeface="Nunito"/>
              </a:rPr>
              <a:t>Sources: tp-link.com (Tapo, S$19.90) · cscsw.com (LaundryView) · WashQ project page · retail listings (smart washers). Ease is our assessment.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9121" y="638175"/>
            <a:ext cx="13245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157">
                <a:solidFill>
                  <a:srgbClr val="FFFFFF"/>
                </a:solidFill>
                <a:latin typeface="Nunito Black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620" y="628650"/>
            <a:ext cx="4415283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 spc="157">
                <a:solidFill>
                  <a:srgbClr val="1899D6"/>
                </a:solidFill>
                <a:latin typeface="Nunito Black"/>
              </a:rPr>
              <a:t>NEEDS, REQUIREMENTS &amp; VENTURE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7250"/>
            <a:ext cx="10161240" cy="628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888"/>
              </a:lnSpc>
            </a:pPr>
            <a:r>
              <a:rPr sz="3600" i="0" b="0" spc="-54">
                <a:solidFill>
                  <a:srgbClr val="3C3C3C"/>
                </a:solidFill>
                <a:latin typeface="Nunito Black"/>
              </a:rPr>
              <a:t>From what they told us to what we must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2975" y="1836687"/>
            <a:ext cx="411212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58">
                <a:solidFill>
                  <a:srgbClr val="7A7A7A"/>
                </a:solidFill>
                <a:latin typeface="Nunito Black"/>
              </a:rPr>
              <a:t>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45891" y="1836687"/>
            <a:ext cx="1323528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58">
                <a:solidFill>
                  <a:srgbClr val="7A7A7A"/>
                </a:solidFill>
                <a:latin typeface="Nunito Black"/>
              </a:rPr>
              <a:t>EVIDENCE (N = 18)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4239" y="1836687"/>
            <a:ext cx="1037480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58">
                <a:solidFill>
                  <a:srgbClr val="7A7A7A"/>
                </a:solidFill>
                <a:latin typeface="Nunito Black"/>
              </a:rPr>
              <a:t>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4465" y="1836687"/>
            <a:ext cx="704403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58">
                <a:solidFill>
                  <a:srgbClr val="7A7A7A"/>
                </a:solidFill>
                <a:latin typeface="Nunito Black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2975" y="2255787"/>
            <a:ext cx="1151185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1">
                <a:solidFill>
                  <a:srgbClr val="555555"/>
                </a:solidFill>
                <a:latin typeface="Nunito"/>
              </a:rPr>
              <a:t>Know if it's 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5891" y="2255787"/>
            <a:ext cx="2179290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1">
                <a:solidFill>
                  <a:srgbClr val="555555"/>
                </a:solidFill>
                <a:latin typeface="Nunito"/>
              </a:rPr>
              <a:t>17 found it busy; 12 walk 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4239" y="2255787"/>
            <a:ext cx="2984003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1">
                <a:solidFill>
                  <a:srgbClr val="555555"/>
                </a:solidFill>
                <a:latin typeface="Nunito"/>
              </a:rPr>
              <a:t>Status visible from anywhere, and on the machine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4465" y="2255787"/>
            <a:ext cx="1643360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1">
                <a:solidFill>
                  <a:srgbClr val="555555"/>
                </a:solidFill>
                <a:latin typeface="Nunito"/>
              </a:rPr>
              <a:t>Wasted trips per 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975" y="2903487"/>
            <a:ext cx="1007119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1">
                <a:solidFill>
                  <a:srgbClr val="555555"/>
                </a:solidFill>
                <a:latin typeface="Nunito"/>
              </a:rPr>
              <a:t>Laundry gets collected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5891" y="2903487"/>
            <a:ext cx="2743497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1">
                <a:solidFill>
                  <a:srgbClr val="555555"/>
                </a:solidFill>
                <a:latin typeface="Nunito"/>
              </a:rPr>
              <a:t>17 found others' laundry; 16 left their 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4239" y="2903487"/>
            <a:ext cx="2763440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1">
                <a:solidFill>
                  <a:srgbClr val="555555"/>
                </a:solidFill>
                <a:latin typeface="Nunito"/>
              </a:rPr>
              <a:t>Owner told when the cycle ends, then reminded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4465" y="2903487"/>
            <a:ext cx="1507628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1">
                <a:solidFill>
                  <a:srgbClr val="555555"/>
                </a:solidFill>
                <a:latin typeface="Nunito"/>
              </a:rPr>
              <a:t>Minutes from end to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975" y="3551187"/>
            <a:ext cx="1301948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1">
                <a:solidFill>
                  <a:srgbClr val="555555"/>
                </a:solidFill>
                <a:latin typeface="Nunito"/>
              </a:rPr>
              <a:t>Know whose 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5891" y="3551187"/>
            <a:ext cx="1485007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1">
                <a:solidFill>
                  <a:srgbClr val="555555"/>
                </a:solidFill>
                <a:latin typeface="Nunito"/>
              </a:rPr>
              <a:t>8 rate it 4–5 out of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24239" y="3551187"/>
            <a:ext cx="2830710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1">
                <a:solidFill>
                  <a:srgbClr val="555555"/>
                </a:solidFill>
                <a:latin typeface="Nunito"/>
              </a:rPr>
              <a:t>Machine shows the current user's 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4465" y="3551187"/>
            <a:ext cx="1955006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1">
                <a:solidFill>
                  <a:srgbClr val="555555"/>
                </a:solidFill>
                <a:latin typeface="Nunito"/>
              </a:rPr>
              <a:t>Loads with a named 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975" y="3989337"/>
            <a:ext cx="1619696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1">
                <a:solidFill>
                  <a:srgbClr val="555555"/>
                </a:solidFill>
                <a:latin typeface="Nunito"/>
              </a:rPr>
              <a:t>Nothing new to install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45891" y="3989337"/>
            <a:ext cx="1999357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1">
                <a:solidFill>
                  <a:srgbClr val="555555"/>
                </a:solidFill>
                <a:latin typeface="Nunito"/>
              </a:rPr>
              <a:t>10 already ask a group chat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239" y="3989337"/>
            <a:ext cx="2803624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1">
                <a:solidFill>
                  <a:srgbClr val="555555"/>
                </a:solidFill>
                <a:latin typeface="Nunito"/>
              </a:rPr>
              <a:t>Works in the chat app they already 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4465" y="3989337"/>
            <a:ext cx="1991915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1">
                <a:solidFill>
                  <a:srgbClr val="555555"/>
                </a:solidFill>
                <a:latin typeface="Nunito"/>
              </a:rPr>
              <a:t>Household using it in week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975" y="4637037"/>
            <a:ext cx="1561951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1">
                <a:solidFill>
                  <a:srgbClr val="555555"/>
                </a:solidFill>
                <a:latin typeface="Nunito"/>
              </a:rPr>
              <a:t>Cheap enough to say yes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45891" y="4637037"/>
            <a:ext cx="1922710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1">
                <a:solidFill>
                  <a:srgbClr val="555555"/>
                </a:solidFill>
                <a:latin typeface="Nunito"/>
              </a:rPr>
              <a:t>13 would pay S$10 or less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24239" y="4637037"/>
            <a:ext cx="2845147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1">
                <a:solidFill>
                  <a:srgbClr val="555555"/>
                </a:solidFill>
                <a:latin typeface="Nunito"/>
              </a:rPr>
              <a:t>One-off cost under S$10 per household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4465" y="4637037"/>
            <a:ext cx="1755278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1">
                <a:solidFill>
                  <a:srgbClr val="555555"/>
                </a:solidFill>
                <a:latin typeface="Nunito"/>
              </a:rPr>
              <a:t>Tenants who accept the price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9121" y="638175"/>
            <a:ext cx="13245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157">
                <a:solidFill>
                  <a:srgbClr val="FFFFFF"/>
                </a:solidFill>
                <a:latin typeface="Nunito Black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620" y="628650"/>
            <a:ext cx="4415283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 spc="157">
                <a:solidFill>
                  <a:srgbClr val="1899D6"/>
                </a:solidFill>
                <a:latin typeface="Nunito Black"/>
              </a:rPr>
              <a:t>NEEDS, REQUIREMENTS &amp; VENTURE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7250"/>
            <a:ext cx="9043689" cy="628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888"/>
              </a:lnSpc>
            </a:pPr>
            <a:r>
              <a:rPr sz="3600" i="0" b="0" spc="-54">
                <a:solidFill>
                  <a:srgbClr val="3C3C3C"/>
                </a:solidFill>
                <a:latin typeface="Nunito Black"/>
              </a:rPr>
              <a:t>Tenants will pay a little. </a:t>
            </a:r>
            <a:r>
              <a:rPr sz="3600" i="0" b="0" spc="-54">
                <a:solidFill>
                  <a:srgbClr val="1899D6"/>
                </a:solidFill>
                <a:latin typeface="Nunito Black"/>
              </a:rPr>
              <a:t>Aim: under S$10.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175" y="1931937"/>
            <a:ext cx="3683644" cy="295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70"/>
              </a:lnSpc>
            </a:pPr>
            <a:r>
              <a:rPr sz="1700" i="0" b="0">
                <a:solidFill>
                  <a:srgbClr val="3C3C3C"/>
                </a:solidFill>
                <a:latin typeface="Nunito Black"/>
              </a:rPr>
              <a:t>Most a household would pay, 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175" y="2312937"/>
            <a:ext cx="318789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0">
                <a:solidFill>
                  <a:srgbClr val="3C3C3C"/>
                </a:solidFill>
                <a:latin typeface="Nunito ExtraBold"/>
              </a:rPr>
              <a:t>S$0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48325" y="2322462"/>
            <a:ext cx="513010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>
                <a:solidFill>
                  <a:srgbClr val="555555"/>
                </a:solidFill>
                <a:latin typeface="Nunito ExtraBold"/>
              </a:rPr>
              <a:t>7 of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175" y="2608212"/>
            <a:ext cx="851892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0">
                <a:solidFill>
                  <a:srgbClr val="3C3C3C"/>
                </a:solidFill>
                <a:latin typeface="Nunito ExtraBold"/>
              </a:rPr>
              <a:t>Up to S$10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48325" y="2617737"/>
            <a:ext cx="513010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>
                <a:solidFill>
                  <a:srgbClr val="555555"/>
                </a:solidFill>
                <a:latin typeface="Nunito ExtraBold"/>
              </a:rPr>
              <a:t>6 of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2903487"/>
            <a:ext cx="669280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0">
                <a:solidFill>
                  <a:srgbClr val="3C3C3C"/>
                </a:solidFill>
                <a:latin typeface="Nunito ExtraBold"/>
              </a:rPr>
              <a:t>S$11–30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8325" y="2913012"/>
            <a:ext cx="513010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>
                <a:solidFill>
                  <a:srgbClr val="555555"/>
                </a:solidFill>
                <a:latin typeface="Nunito ExtraBold"/>
              </a:rPr>
              <a:t>4 of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3198762"/>
            <a:ext cx="669280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39"/>
              </a:lnSpc>
            </a:pPr>
            <a:r>
              <a:rPr sz="1200" i="0" b="0">
                <a:solidFill>
                  <a:srgbClr val="3C3C3C"/>
                </a:solidFill>
                <a:latin typeface="Nunito ExtraBold"/>
              </a:rPr>
              <a:t>S$31–50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48325" y="3208287"/>
            <a:ext cx="513010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>
                <a:solidFill>
                  <a:srgbClr val="555555"/>
                </a:solidFill>
                <a:latin typeface="Nunito ExtraBold"/>
              </a:rPr>
              <a:t>1 of 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175" y="3486179"/>
            <a:ext cx="1108025" cy="2347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48"/>
              </a:lnSpc>
            </a:pPr>
            <a:r>
              <a:rPr sz="1300" i="0" b="1">
                <a:solidFill>
                  <a:srgbClr val="666666"/>
                </a:solidFill>
                <a:latin typeface="Nunito"/>
              </a:rPr>
              <a:t>Survey, n =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05675" y="1931937"/>
            <a:ext cx="1481732" cy="295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70"/>
              </a:lnSpc>
            </a:pPr>
            <a:r>
              <a:rPr sz="1700" i="0" b="0">
                <a:solidFill>
                  <a:srgbClr val="3C3C3C"/>
                </a:solidFill>
                <a:latin typeface="Nunito Black"/>
              </a:rPr>
              <a:t>Early adopter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5675" y="2276504"/>
            <a:ext cx="3451324" cy="4694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48"/>
              </a:lnSpc>
            </a:pPr>
            <a:r>
              <a:rPr sz="1300" i="0" b="1">
                <a:solidFill>
                  <a:srgbClr val="666666"/>
                </a:solidFill>
                <a:latin typeface="Nunito"/>
              </a:rPr>
              <a:t>Tenants who share a washer and already ask around in a group chat.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5675" y="3344316"/>
            <a:ext cx="640853" cy="295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70"/>
              </a:lnSpc>
            </a:pPr>
            <a:r>
              <a:rPr sz="1700" i="0" b="0">
                <a:solidFill>
                  <a:srgbClr val="3C3C3C"/>
                </a:solidFill>
                <a:latin typeface="Nunito Black"/>
              </a:rPr>
              <a:t>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5675" y="3688883"/>
            <a:ext cx="3687067" cy="4694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48"/>
              </a:lnSpc>
            </a:pPr>
            <a:r>
              <a:rPr sz="1300" i="0" b="1">
                <a:solidFill>
                  <a:srgbClr val="666666"/>
                </a:solidFill>
                <a:latin typeface="Nunito"/>
              </a:rPr>
              <a:t>See if the washer is free and get reminded, for a one-off price under S$10 per household.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5675" y="4748837"/>
            <a:ext cx="3889920" cy="7041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48"/>
              </a:lnSpc>
            </a:pPr>
            <a:r>
              <a:rPr sz="1300" i="0" b="0">
                <a:solidFill>
                  <a:srgbClr val="666666"/>
                </a:solidFill>
                <a:latin typeface="Nunito Black"/>
              </a:rPr>
              <a:t>Challenge:</a:t>
            </a:r>
            <a:r>
              <a:rPr sz="1300" i="0" b="1">
                <a:solidFill>
                  <a:srgbClr val="666666"/>
                </a:solidFill>
                <a:latin typeface="Nunito"/>
              </a:rPr>
              <a:t> our rough parts estimate (S$35–55 per tag) is far above S$10. The hardware has to get much simpler, or be shared more widely.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2139404"/>
            <a:ext cx="2695277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 spc="157">
                <a:solidFill>
                  <a:srgbClr val="1899D6"/>
                </a:solidFill>
                <a:latin typeface="Nunito Black"/>
              </a:rPr>
              <a:t>OUR CONCEPT, TO BE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20379"/>
            <a:ext cx="5616029" cy="838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5040"/>
              </a:lnSpc>
            </a:pPr>
            <a:r>
              <a:rPr sz="4800" i="0" b="0" spc="-96">
                <a:solidFill>
                  <a:srgbClr val="3C3C3C"/>
                </a:solidFill>
                <a:latin typeface="Nunito Black"/>
              </a:rPr>
              <a:t>One idea: </a:t>
            </a:r>
            <a:r>
              <a:rPr sz="4800" i="0" b="0" spc="-96">
                <a:solidFill>
                  <a:srgbClr val="1899D6"/>
                </a:solidFill>
                <a:latin typeface="Nunito Black"/>
              </a:rPr>
              <a:t>Washbot</a:t>
            </a:r>
            <a:r>
              <a:rPr sz="4800" i="0" b="0" spc="-96">
                <a:solidFill>
                  <a:srgbClr val="3C3C3C"/>
                </a:solidFill>
                <a:latin typeface="Nunito Black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232755"/>
            <a:ext cx="5895379" cy="6629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610"/>
              </a:lnSpc>
            </a:pPr>
            <a:r>
              <a:rPr sz="1800" i="0" b="1">
                <a:solidFill>
                  <a:srgbClr val="555555"/>
                </a:solidFill>
                <a:latin typeface="Nunito"/>
              </a:rPr>
              <a:t>A stick-on tag on the washer + a WhatsApp bot. </a:t>
            </a:r>
            <a:r>
              <a:rPr sz="1800" i="0" b="0">
                <a:solidFill>
                  <a:srgbClr val="555555"/>
                </a:solidFill>
                <a:latin typeface="Nunito Black"/>
              </a:rPr>
              <a:t>Scan. Queue. Get pinged.</a:t>
            </a:r>
          </a:p>
        </p:txBody>
      </p:sp>
      <p:sp>
        <p:nvSpPr>
          <p:cNvPr id="6" name="TextBox 5">
            <a:hlinkClick r:id="rId4"/>
          </p:cNvPr>
          <p:cNvSpPr txBox="1"/>
          <p:nvPr/>
        </p:nvSpPr>
        <p:spPr>
          <a:xfrm>
            <a:off x="1009650" y="4304258"/>
            <a:ext cx="3461891" cy="2571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00"/>
              </a:lnSpc>
            </a:pPr>
            <a:r>
              <a:rPr sz="1500" i="0" b="0">
                <a:solidFill>
                  <a:srgbClr val="FFFFFF"/>
                </a:solidFill>
                <a:latin typeface="Nunito Black"/>
              </a:rPr>
              <a:t>▶ Try it live · washbot-ten.vercel.app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09600"/>
            <a:ext cx="2544960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 spc="157">
                <a:solidFill>
                  <a:srgbClr val="1899D6"/>
                </a:solidFill>
                <a:latin typeface="Nunito Black"/>
              </a:rPr>
              <a:t>APPENDIX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9150"/>
            <a:ext cx="5230117" cy="628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888"/>
              </a:lnSpc>
            </a:pPr>
            <a:r>
              <a:rPr sz="3600" i="0" b="0" spc="-54">
                <a:solidFill>
                  <a:srgbClr val="3C3C3C"/>
                </a:solidFill>
                <a:latin typeface="Nunito Black"/>
              </a:rPr>
              <a:t>How the concept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237" y="2036712"/>
            <a:ext cx="123825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>
                <a:solidFill>
                  <a:srgbClr val="FFFFFF"/>
                </a:solidFill>
                <a:latin typeface="Nunito Blac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175" y="2389137"/>
            <a:ext cx="1375618" cy="295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70"/>
              </a:lnSpc>
            </a:pPr>
            <a:r>
              <a:rPr sz="1700" i="0" b="0">
                <a:solidFill>
                  <a:srgbClr val="3C3C3C"/>
                </a:solidFill>
                <a:latin typeface="Nunito Black"/>
              </a:rPr>
              <a:t>Scan the tag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175" y="2733704"/>
            <a:ext cx="1906934" cy="1173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48"/>
              </a:lnSpc>
            </a:pPr>
            <a:r>
              <a:rPr sz="1300" i="0" b="1">
                <a:solidFill>
                  <a:srgbClr val="666666"/>
                </a:solidFill>
                <a:latin typeface="Nunito"/>
              </a:rPr>
              <a:t>Scan the QR on the machine with a phone camera. WhatsApp opens with the message ready to send.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71912" y="2036712"/>
            <a:ext cx="123825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>
                <a:solidFill>
                  <a:srgbClr val="FFFFFF"/>
                </a:solidFill>
                <a:latin typeface="Nunito Blac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2850" y="2389137"/>
            <a:ext cx="1644699" cy="295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70"/>
              </a:lnSpc>
            </a:pPr>
            <a:r>
              <a:rPr sz="1700" i="0" b="0">
                <a:solidFill>
                  <a:srgbClr val="3C3C3C"/>
                </a:solidFill>
                <a:latin typeface="Nunito Black"/>
              </a:rPr>
              <a:t>Use it or queue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52850" y="2733704"/>
            <a:ext cx="1964531" cy="93889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48"/>
              </a:lnSpc>
            </a:pPr>
            <a:r>
              <a:rPr sz="1300" i="0" b="1">
                <a:solidFill>
                  <a:srgbClr val="666666"/>
                </a:solidFill>
                <a:latin typeface="Nunito"/>
              </a:rPr>
              <a:t>If the washer is free, it is yours. If not, the bot shows the expected wait and books a place in 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5587" y="2036712"/>
            <a:ext cx="123825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>
                <a:solidFill>
                  <a:srgbClr val="FFFFFF"/>
                </a:solidFill>
                <a:latin typeface="Nunito Blac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2389137"/>
            <a:ext cx="1478756" cy="295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70"/>
              </a:lnSpc>
            </a:pPr>
            <a:r>
              <a:rPr sz="1700" i="0" b="0">
                <a:solidFill>
                  <a:srgbClr val="3C3C3C"/>
                </a:solidFill>
                <a:latin typeface="Nunito Black"/>
              </a:rPr>
              <a:t>Get reminded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2733704"/>
            <a:ext cx="1940718" cy="93889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48"/>
              </a:lnSpc>
            </a:pPr>
            <a:r>
              <a:rPr sz="1300" i="0" b="1">
                <a:solidFill>
                  <a:srgbClr val="666666"/>
                </a:solidFill>
                <a:latin typeface="Nunito"/>
              </a:rPr>
              <a:t>A message arrives 5 minutes before your turn and again when the washer is free.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9262" y="2036712"/>
            <a:ext cx="123825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>
                <a:solidFill>
                  <a:srgbClr val="FFFFFF"/>
                </a:solidFill>
                <a:latin typeface="Nunito Blac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0200" y="2389137"/>
            <a:ext cx="1868685" cy="590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70"/>
              </a:lnSpc>
            </a:pPr>
            <a:r>
              <a:rPr sz="1700" i="0" b="0">
                <a:solidFill>
                  <a:srgbClr val="3C3C3C"/>
                </a:solidFill>
                <a:latin typeface="Nunito Black"/>
              </a:rPr>
              <a:t>Collect and hand 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0200" y="3028979"/>
            <a:ext cx="1931789" cy="93889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48"/>
              </a:lnSpc>
            </a:pPr>
            <a:r>
              <a:rPr sz="1300" i="0" b="1">
                <a:solidFill>
                  <a:srgbClr val="666666"/>
                </a:solidFill>
                <a:latin typeface="Nunito"/>
              </a:rPr>
              <a:t>Reply DONE after taking your clothes out. The next person is told it is their turn.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09600"/>
            <a:ext cx="2587674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 spc="157">
                <a:solidFill>
                  <a:srgbClr val="1899D6"/>
                </a:solidFill>
                <a:latin typeface="Nunito Black"/>
              </a:rPr>
              <a:t>APPENDIX · THE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9150"/>
            <a:ext cx="7174855" cy="628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888"/>
              </a:lnSpc>
            </a:pPr>
            <a:r>
              <a:rPr sz="3600" i="0" b="0" spc="-54">
                <a:solidFill>
                  <a:srgbClr val="3C3C3C"/>
                </a:solidFill>
                <a:latin typeface="Nunito Black"/>
              </a:rPr>
              <a:t>A tag that sticks on </a:t>
            </a:r>
            <a:r>
              <a:rPr sz="3600" i="0" b="0" spc="-54">
                <a:solidFill>
                  <a:srgbClr val="1899D6"/>
                </a:solidFill>
                <a:latin typeface="Nunito Black"/>
              </a:rPr>
              <a:t>any</a:t>
            </a:r>
            <a:r>
              <a:rPr sz="3600" i="0" b="0" spc="-54">
                <a:solidFill>
                  <a:srgbClr val="3C3C3C"/>
                </a:solidFill>
                <a:latin typeface="Nunito Black"/>
              </a:rPr>
              <a:t> machine.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100" y="2095291"/>
            <a:ext cx="1792932" cy="87403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21"/>
              </a:lnSpc>
            </a:pPr>
            <a:r>
              <a:rPr sz="1300" i="0" b="1">
                <a:solidFill>
                  <a:srgbClr val="1F2A10"/>
                </a:solidFill>
                <a:latin typeface="Menlo"/>
              </a:rPr>
              <a:t>WASHER: IN USE</a:t>
            </a:r>
          </a:p>
          <a:p>
            <a:pPr algn="l">
              <a:lnSpc>
                <a:spcPts val="1721"/>
              </a:lnSpc>
            </a:pPr>
            <a:r>
              <a:rPr sz="1300" i="0" b="1">
                <a:solidFill>
                  <a:srgbClr val="1F2A10"/>
                </a:solidFill>
                <a:latin typeface="Menlo"/>
              </a:rPr>
              <a:t>Enric   done 21:35</a:t>
            </a:r>
          </a:p>
          <a:p>
            <a:pPr algn="l">
              <a:lnSpc>
                <a:spcPts val="1721"/>
              </a:lnSpc>
            </a:pPr>
            <a:r>
              <a:rPr sz="1300" i="0" b="1">
                <a:solidFill>
                  <a:srgbClr val="1F2A10"/>
                </a:solidFill>
                <a:latin typeface="Menlo"/>
              </a:rPr>
              <a:t>████······  12 min</a:t>
            </a:r>
          </a:p>
          <a:p>
            <a:pPr algn="l">
              <a:lnSpc>
                <a:spcPts val="1721"/>
              </a:lnSpc>
            </a:pPr>
            <a:r>
              <a:rPr sz="1300" i="0" b="1">
                <a:solidFill>
                  <a:srgbClr val="1F2A10"/>
                </a:solidFill>
                <a:latin typeface="Menlo"/>
              </a:rPr>
              <a:t>Next: Kain ~21:40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517" y="2927300"/>
            <a:ext cx="56763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ts val="1080"/>
              </a:lnSpc>
            </a:pPr>
            <a:r>
              <a:rPr sz="900" i="0" b="0">
                <a:solidFill>
                  <a:srgbClr val="3C3C3C"/>
                </a:solidFill>
                <a:latin typeface="Nunito Black"/>
              </a:rPr>
              <a:t>SCAN 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9982" y="1684287"/>
            <a:ext cx="3837533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10"/>
              </a:lnSpc>
            </a:pPr>
            <a:r>
              <a:rPr sz="1400" i="0" b="0">
                <a:solidFill>
                  <a:srgbClr val="555555"/>
                </a:solidFill>
                <a:latin typeface="Nunito ExtraBold"/>
              </a:rPr>
              <a:t>📟 20×4 LCD: status, who, when, who's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9982" y="2055762"/>
            <a:ext cx="3099792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10"/>
              </a:lnSpc>
            </a:pPr>
            <a:r>
              <a:rPr sz="1400" i="0" b="0">
                <a:solidFill>
                  <a:srgbClr val="555555"/>
                </a:solidFill>
                <a:latin typeface="Nunito ExtraBold"/>
              </a:rPr>
              <a:t>🟢 RGB light bar: colour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82" y="2427237"/>
            <a:ext cx="4811464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10"/>
              </a:lnSpc>
            </a:pPr>
            <a:r>
              <a:rPr sz="1400" i="0" b="0">
                <a:solidFill>
                  <a:srgbClr val="555555"/>
                </a:solidFill>
                <a:latin typeface="Nunito ExtraBold"/>
              </a:rPr>
              <a:t>🫨 Vibration sensor: knows when it really starts &amp;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9982" y="2798712"/>
            <a:ext cx="3856732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10"/>
              </a:lnSpc>
            </a:pPr>
            <a:r>
              <a:rPr sz="1400" i="0" b="0">
                <a:solidFill>
                  <a:srgbClr val="555555"/>
                </a:solidFill>
                <a:latin typeface="Nunito ExtraBold"/>
              </a:rPr>
              <a:t>🔊 Buzzer: alarm if someone skips the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9982" y="3170187"/>
            <a:ext cx="3947070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10"/>
              </a:lnSpc>
            </a:pPr>
            <a:r>
              <a:rPr sz="1400" i="0" b="0">
                <a:solidFill>
                  <a:srgbClr val="555555"/>
                </a:solidFill>
                <a:latin typeface="Nunito ExtraBold"/>
              </a:rPr>
              <a:t>🧲 Magnets + USB power: installs in a minute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09600"/>
            <a:ext cx="1788169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 spc="157">
                <a:solidFill>
                  <a:srgbClr val="1899D6"/>
                </a:solidFill>
                <a:latin typeface="Nunito Black"/>
              </a:rPr>
              <a:t>WHAT WE DO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9150"/>
            <a:ext cx="2452836" cy="628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888"/>
              </a:lnSpc>
            </a:pPr>
            <a:r>
              <a:rPr sz="3600" i="0" b="0" spc="-54">
                <a:solidFill>
                  <a:srgbClr val="3C3C3C"/>
                </a:solidFill>
                <a:latin typeface="Nunito Black"/>
              </a:rPr>
              <a:t>Next steps.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6267" y="2017662"/>
            <a:ext cx="112514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>
                <a:solidFill>
                  <a:srgbClr val="FFFFFF"/>
                </a:solidFill>
                <a:latin typeface="Nunito Blac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7581" y="1931937"/>
            <a:ext cx="1352996" cy="295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70"/>
              </a:lnSpc>
            </a:pPr>
            <a:r>
              <a:rPr sz="1700" i="0" b="0">
                <a:solidFill>
                  <a:srgbClr val="3C3C3C"/>
                </a:solidFill>
                <a:latin typeface="Nunito Black"/>
              </a:rPr>
              <a:t>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175" y="2276504"/>
            <a:ext cx="4320331" cy="4694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48"/>
              </a:lnSpc>
            </a:pPr>
            <a:r>
              <a:rPr sz="1300" i="0" b="1">
                <a:solidFill>
                  <a:srgbClr val="666666"/>
                </a:solidFill>
                <a:latin typeface="Nunito"/>
              </a:rPr>
              <a:t>Add a sourced figure for how many people rent rooms in Singapore.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992" y="2017662"/>
            <a:ext cx="112514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>
                <a:solidFill>
                  <a:srgbClr val="FFFFFF"/>
                </a:solidFill>
                <a:latin typeface="Nunito Blac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7306" y="1931937"/>
            <a:ext cx="998190" cy="295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70"/>
              </a:lnSpc>
            </a:pPr>
            <a:r>
              <a:rPr sz="1700" i="0" b="0">
                <a:solidFill>
                  <a:srgbClr val="3C3C3C"/>
                </a:solidFill>
                <a:latin typeface="Nunito Black"/>
              </a:rPr>
              <a:t>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2276504"/>
            <a:ext cx="4463355" cy="4694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48"/>
              </a:lnSpc>
            </a:pPr>
            <a:r>
              <a:rPr sz="1300" i="0" b="1">
                <a:solidFill>
                  <a:srgbClr val="666666"/>
                </a:solidFill>
                <a:latin typeface="Nunito"/>
              </a:rPr>
              <a:t>Interview tenants and landlords, then go back to the same people in Round 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6267" y="3487191"/>
            <a:ext cx="112514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>
                <a:solidFill>
                  <a:srgbClr val="FFFFFF"/>
                </a:solidFill>
                <a:latin typeface="Nunito Blac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7581" y="3401466"/>
            <a:ext cx="1156096" cy="295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70"/>
              </a:lnSpc>
            </a:pPr>
            <a:r>
              <a:rPr sz="1700" i="0" b="0">
                <a:solidFill>
                  <a:srgbClr val="3C3C3C"/>
                </a:solidFill>
                <a:latin typeface="Nunito Black"/>
              </a:rPr>
              <a:t>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3746033"/>
            <a:ext cx="4590752" cy="4694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48"/>
              </a:lnSpc>
            </a:pPr>
            <a:r>
              <a:rPr sz="1300" i="0" b="1">
                <a:solidFill>
                  <a:srgbClr val="666666"/>
                </a:solidFill>
                <a:latin typeface="Nunito"/>
              </a:rPr>
              <a:t>Compare price, effort and time for each alternative with real numbers.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992" y="3487191"/>
            <a:ext cx="112514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>
                <a:solidFill>
                  <a:srgbClr val="FFFFFF"/>
                </a:solidFill>
                <a:latin typeface="Nunito Blac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7306" y="3401466"/>
            <a:ext cx="880020" cy="295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70"/>
              </a:lnSpc>
            </a:pPr>
            <a:r>
              <a:rPr sz="1700" i="0" b="0">
                <a:solidFill>
                  <a:srgbClr val="3C3C3C"/>
                </a:solidFill>
                <a:latin typeface="Nunito Black"/>
              </a:rPr>
              <a:t>Venture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3746033"/>
            <a:ext cx="4398764" cy="2347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48"/>
              </a:lnSpc>
            </a:pPr>
            <a:r>
              <a:rPr sz="1300" i="0" b="1">
                <a:solidFill>
                  <a:srgbClr val="666666"/>
                </a:solidFill>
                <a:latin typeface="Nunito"/>
              </a:rPr>
              <a:t>Bring the cost under S$10 and test the price with tenants.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539478"/>
            <a:ext cx="1606450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 spc="157">
                <a:solidFill>
                  <a:srgbClr val="1899D6"/>
                </a:solidFill>
                <a:latin typeface="Nunito Black"/>
              </a:rPr>
              <a:t>THINKING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749028"/>
            <a:ext cx="5170140" cy="628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888"/>
              </a:lnSpc>
            </a:pPr>
            <a:r>
              <a:rPr sz="3600" i="0" b="0" spc="-54">
                <a:solidFill>
                  <a:srgbClr val="3C3C3C"/>
                </a:solidFill>
                <a:latin typeface="Nunito Black"/>
              </a:rPr>
              <a:t>Where it can grow </a:t>
            </a:r>
            <a:r>
              <a:rPr sz="1350" i="0" b="1" spc="-54">
                <a:solidFill>
                  <a:srgbClr val="8A94A6"/>
                </a:solidFill>
                <a:latin typeface="Nunito"/>
              </a:rPr>
              <a:t>(hypotheses)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117" y="4166741"/>
            <a:ext cx="112514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>
                <a:solidFill>
                  <a:srgbClr val="FFFFFF"/>
                </a:solidFill>
                <a:latin typeface="Nunito Blac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431" y="4081016"/>
            <a:ext cx="1514326" cy="295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70"/>
              </a:lnSpc>
            </a:pPr>
            <a:r>
              <a:rPr sz="1700" i="0" b="0">
                <a:solidFill>
                  <a:srgbClr val="3C3C3C"/>
                </a:solidFill>
                <a:latin typeface="Nunito Black"/>
              </a:rPr>
              <a:t>Shared rooms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4425582"/>
            <a:ext cx="2676525" cy="4694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48"/>
              </a:lnSpc>
            </a:pPr>
            <a:r>
              <a:rPr sz="1300" i="0" b="0">
                <a:solidFill>
                  <a:srgbClr val="666666"/>
                </a:solidFill>
                <a:latin typeface="Nunito Black"/>
              </a:rPr>
              <a:t>Now.</a:t>
            </a:r>
            <a:r>
              <a:rPr sz="1300" i="0" b="1">
                <a:solidFill>
                  <a:srgbClr val="666666"/>
                </a:solidFill>
                <a:latin typeface="Nunito"/>
              </a:rPr>
              <a:t> One flat, one shared washer. Where our research 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3918" y="4166741"/>
            <a:ext cx="112514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>
                <a:solidFill>
                  <a:srgbClr val="FFFFFF"/>
                </a:solidFill>
                <a:latin typeface="Nunito Blac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5232" y="4081016"/>
            <a:ext cx="1159817" cy="295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70"/>
              </a:lnSpc>
            </a:pPr>
            <a:r>
              <a:rPr sz="1700" i="0" b="0">
                <a:solidFill>
                  <a:srgbClr val="3C3C3C"/>
                </a:solidFill>
                <a:latin typeface="Nunito Black"/>
              </a:rPr>
              <a:t>Many flats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6825" y="4425582"/>
            <a:ext cx="2978794" cy="7041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48"/>
              </a:lnSpc>
            </a:pPr>
            <a:r>
              <a:rPr sz="1300" i="0" b="1">
                <a:solidFill>
                  <a:srgbClr val="666666"/>
                </a:solidFill>
                <a:latin typeface="Nunito"/>
              </a:rPr>
              <a:t>The same tag in many rented flats and condo units. One bot, one WhatsApp number.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8868" y="4166741"/>
            <a:ext cx="112514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>
                <a:solidFill>
                  <a:srgbClr val="FFFFFF"/>
                </a:solidFill>
                <a:latin typeface="Nunito Blac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00182" y="4081016"/>
            <a:ext cx="2186582" cy="295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70"/>
              </a:lnSpc>
            </a:pPr>
            <a:r>
              <a:rPr sz="1700" i="0" b="0">
                <a:solidFill>
                  <a:srgbClr val="3C3C3C"/>
                </a:solidFill>
                <a:latin typeface="Nunito Black"/>
              </a:rPr>
              <a:t>Dorms and co-living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1775" y="4425582"/>
            <a:ext cx="3008411" cy="4694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48"/>
              </a:lnSpc>
            </a:pPr>
            <a:r>
              <a:rPr sz="1300" i="0" b="1">
                <a:solidFill>
                  <a:srgbClr val="666666"/>
                </a:solidFill>
                <a:latin typeface="Nunito"/>
              </a:rPr>
              <a:t>A laundry room with several machines. One queue for the next free washer.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2164109"/>
            <a:ext cx="1941016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 spc="157">
                <a:solidFill>
                  <a:srgbClr val="1899D6"/>
                </a:solidFill>
                <a:latin typeface="Nunito Black"/>
              </a:rPr>
              <a:t>WASHBOT · GROUP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259359"/>
            <a:ext cx="4741664" cy="12477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559"/>
              </a:lnSpc>
            </a:pPr>
            <a:r>
              <a:rPr sz="7200" i="0" b="0" spc="-144">
                <a:solidFill>
                  <a:srgbClr val="3C3C3C"/>
                </a:solidFill>
                <a:latin typeface="Nunito Black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419475"/>
            <a:ext cx="3728591" cy="7810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859"/>
              </a:lnSpc>
            </a:pPr>
            <a:r>
              <a:rPr sz="4500" i="0" b="0" spc="-67">
                <a:solidFill>
                  <a:srgbClr val="1899D6"/>
                </a:solidFill>
                <a:latin typeface="Nunito Black"/>
              </a:rPr>
              <a:t>Questions?</a:t>
            </a:r>
            <a:r>
              <a:rPr sz="4500" i="0" b="0" spc="-67">
                <a:solidFill>
                  <a:srgbClr val="3C3C3C"/>
                </a:solidFill>
                <a:latin typeface="Nunito Black"/>
              </a:rPr>
              <a:t> 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408140"/>
            <a:ext cx="3020317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79"/>
              </a:lnSpc>
            </a:pPr>
            <a:r>
              <a:rPr sz="1650" i="0" b="0">
                <a:solidFill>
                  <a:srgbClr val="3C3C3C"/>
                </a:solidFill>
                <a:latin typeface="Nunito"/>
              </a:rPr>
              <a:t>Try it: </a:t>
            </a:r>
            <a:r>
              <a:rPr sz="1650" i="0" b="0">
                <a:solidFill>
                  <a:srgbClr val="1899D6"/>
                </a:solidFill>
                <a:latin typeface="Nunito Black"/>
                <a:hlinkClick r:id="rId4"/>
              </a:rPr>
              <a:t>washbot-ten.vercel.app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6750" y="590550"/>
            <a:ext cx="2438102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00" i="0" b="0" spc="157">
                <a:solidFill>
                  <a:srgbClr val="1899D6"/>
                </a:solidFill>
                <a:latin typeface="Nunito Black"/>
              </a:rPr>
              <a:t>AFTER THE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771525"/>
            <a:ext cx="4988718" cy="4857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078"/>
              </a:lnSpc>
            </a:pPr>
            <a:r>
              <a:rPr sz="2850" i="0" b="0" spc="-42">
                <a:solidFill>
                  <a:srgbClr val="3C3C3C"/>
                </a:solidFill>
                <a:latin typeface="Nunito Black"/>
              </a:rPr>
              <a:t>Questions raised in the </a:t>
            </a:r>
            <a:r>
              <a:rPr sz="2850" i="0" b="0" spc="-42">
                <a:solidFill>
                  <a:srgbClr val="1899D6"/>
                </a:solidFill>
                <a:latin typeface="Nunito Black"/>
              </a:rPr>
              <a:t>Q&amp;A</a:t>
            </a:r>
            <a:r>
              <a:rPr sz="2850" i="0" b="0" spc="-42">
                <a:solidFill>
                  <a:srgbClr val="3C3C3C"/>
                </a:solidFill>
                <a:latin typeface="Nunito Black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1514772"/>
            <a:ext cx="457348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58">
                <a:solidFill>
                  <a:srgbClr val="7A7A7A"/>
                </a:solidFill>
                <a:latin typeface="Nunito Black"/>
              </a:rPr>
              <a:t>TOPIC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0013" y="1514772"/>
            <a:ext cx="2270670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0" spc="58">
                <a:solidFill>
                  <a:srgbClr val="7A7A7A"/>
                </a:solidFill>
                <a:latin typeface="Nunito Black"/>
              </a:rPr>
              <a:t>QUESTION FROM THE AUDIENCE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1867197"/>
            <a:ext cx="1241226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0">
                <a:solidFill>
                  <a:srgbClr val="3C3C3C"/>
                </a:solidFill>
                <a:latin typeface="Nunito Black"/>
              </a:rPr>
              <a:t>Privacy and PDPA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0013" y="1867197"/>
            <a:ext cx="7841158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1">
                <a:solidFill>
                  <a:srgbClr val="555555"/>
                </a:solidFill>
                <a:latin typeface="Nunito"/>
              </a:rPr>
              <a:t>What data do we collect, how long do we keep it, and how do we protect it under Singapore's PDPA? How do we pay for storing and protecting it with a S$10 product?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400597"/>
            <a:ext cx="1673423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0">
                <a:solidFill>
                  <a:srgbClr val="3C3C3C"/>
                </a:solidFill>
                <a:latin typeface="Nunito Black"/>
              </a:rPr>
              <a:t>Getting tenants to use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0013" y="2400597"/>
            <a:ext cx="4444603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1">
                <a:solidFill>
                  <a:srgbClr val="555555"/>
                </a:solidFill>
                <a:latin typeface="Nunito"/>
              </a:rPr>
              <a:t>How do we make sure tenants use the solution, or convince them to?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743497"/>
            <a:ext cx="1717476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0">
                <a:solidFill>
                  <a:srgbClr val="3C3C3C"/>
                </a:solidFill>
                <a:latin typeface="Nunito Black"/>
              </a:rPr>
              <a:t>Tenants who won't use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0013" y="2743497"/>
            <a:ext cx="7525196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1">
                <a:solidFill>
                  <a:srgbClr val="555555"/>
                </a:solidFill>
                <a:latin typeface="Nunito"/>
              </a:rPr>
              <a:t>What if some housemates don't want to use it, or just don't care? How do we handle non-users and enforce it? Who exactly is the target customer?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276897"/>
            <a:ext cx="1273522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0">
                <a:solidFill>
                  <a:srgbClr val="3C3C3C"/>
                </a:solidFill>
                <a:latin typeface="Nunito Black"/>
              </a:rPr>
              <a:t>Wi-Fi as a penalty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0013" y="3276897"/>
            <a:ext cx="7718821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1">
                <a:solidFill>
                  <a:srgbClr val="555555"/>
                </a:solidFill>
                <a:latin typeface="Nunito"/>
              </a:rPr>
              <a:t>Could it link to the house Wi-Fi and switch it off for people who don't collect their clothes? Suggested for families with children.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810297"/>
            <a:ext cx="2153394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0">
                <a:solidFill>
                  <a:srgbClr val="3C3C3C"/>
                </a:solidFill>
                <a:latin typeface="Nunito Black"/>
              </a:rPr>
              <a:t>Weekday and weekend demand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0013" y="3810297"/>
            <a:ext cx="7940129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1">
                <a:solidFill>
                  <a:srgbClr val="555555"/>
                </a:solidFill>
                <a:latin typeface="Nunito"/>
              </a:rPr>
              <a:t>More people wash at weekends. How is the queue kept fair (first come, first served)? Feedback: suggest the quiet weekday slots.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343697"/>
            <a:ext cx="801290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0">
                <a:solidFill>
                  <a:srgbClr val="3C3C3C"/>
                </a:solidFill>
                <a:latin typeface="Nunito Black"/>
              </a:rPr>
              <a:t>No internet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0013" y="4343697"/>
            <a:ext cx="7706766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1">
                <a:solidFill>
                  <a:srgbClr val="555555"/>
                </a:solidFill>
                <a:latin typeface="Nunito"/>
              </a:rPr>
              <a:t>If the phone or the machine's tag loses its connection, can people still check the status or book? Should the tag join the house Wi-Fi?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4877097"/>
            <a:ext cx="1564332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0">
                <a:solidFill>
                  <a:srgbClr val="3C3C3C"/>
                </a:solidFill>
                <a:latin typeface="Nunito Black"/>
              </a:rPr>
              <a:t>Different cycle lengths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0013" y="4877097"/>
            <a:ext cx="6904434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1">
                <a:solidFill>
                  <a:srgbClr val="555555"/>
                </a:solidFill>
                <a:latin typeface="Nunito"/>
              </a:rPr>
              <a:t>Cycles vary with load size and mode, for example 30 minutes or 60. How do booking and the queue adjust?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5219997"/>
            <a:ext cx="2117228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0">
                <a:solidFill>
                  <a:srgbClr val="3C3C3C"/>
                </a:solidFill>
                <a:latin typeface="Nunito Black"/>
              </a:rPr>
              <a:t>Washer and dryer in one 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0013" y="5219997"/>
            <a:ext cx="6570464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1">
                <a:solidFill>
                  <a:srgbClr val="555555"/>
                </a:solidFill>
                <a:latin typeface="Nunito"/>
              </a:rPr>
              <a:t>Today it takes two rounds: one for the washer, one for the dryer. Can the product help do both in one?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5562897"/>
            <a:ext cx="1080641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0">
                <a:solidFill>
                  <a:srgbClr val="3C3C3C"/>
                </a:solidFill>
                <a:latin typeface="Nunito Black"/>
              </a:rPr>
              <a:t>Business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0013" y="5562897"/>
            <a:ext cx="6176069" cy="1905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05"/>
              </a:lnSpc>
            </a:pPr>
            <a:r>
              <a:rPr sz="1100" i="0" b="1">
                <a:solidFill>
                  <a:srgbClr val="555555"/>
                </a:solidFill>
                <a:latin typeface="Nunito"/>
              </a:rPr>
              <a:t>What is the business model, and how do we make a profit from a product that costs only S$10?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50" y="6315075"/>
            <a:ext cx="5036790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70"/>
              </a:lnSpc>
            </a:pPr>
            <a:r>
              <a:rPr sz="1000" i="0" b="1">
                <a:solidFill>
                  <a:srgbClr val="8A94A6"/>
                </a:solidFill>
                <a:latin typeface="Nunito"/>
              </a:rPr>
              <a:t>Recorded at the Milestone 1 presentation. Open questions for us to work through next.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