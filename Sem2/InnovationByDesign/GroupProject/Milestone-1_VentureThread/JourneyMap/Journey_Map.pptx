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only about the two red stages. 1) Checking: 10 of 15 walk over just to see if the washer is free, and all 15 found it busy last month. 2) Handover: the owner is never told the cycle ended (no channel at stage 4), so the next person finds a free machine still blocked and has to chase in the group chat. Our HMW targets exactly these two moments. Source: tenant survey, n = 15. Persona is a composite from the survey; replace the Thinking row with real quotes after interviews.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603504"/>
            <a:ext cx="201168" cy="201168"/>
          </a:xfrm>
          <a:prstGeom prst="ellipse">
            <a:avLst/>
          </a:prstGeom>
          <a:solidFill>
            <a:srgbClr val="CE82FF"/>
          </a:solidFill>
          <a:ln w="12700">
            <a:solidFill>
              <a:srgbClr val="CE82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6035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594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99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&amp; STAKEHOLDER RESEARCH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8686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B0F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Two moments</a:t>
            </a:r>
            <a:pPr indent="0" marL="0">
              <a:buNone/>
            </a:pPr>
            <a:r>
              <a:rPr lang="en-US" sz="3200" b="1" dirty="0">
                <a:solidFill>
                  <a:srgbClr val="3C3C3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break a shared laundry day.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481328"/>
            <a:ext cx="3154680" cy="246888"/>
          </a:xfrm>
          <a:prstGeom prst="roundRect">
            <a:avLst>
              <a:gd name="adj" fmla="val 48148"/>
            </a:avLst>
          </a:prstGeom>
          <a:solidFill>
            <a:srgbClr val="DD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99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Persona: room renter, HDB flat, 5–6 per washer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986784" y="1481328"/>
            <a:ext cx="2834640" cy="246888"/>
          </a:xfrm>
          <a:prstGeom prst="roundRect">
            <a:avLst>
              <a:gd name="adj" fmla="val 48148"/>
            </a:avLst>
          </a:prstGeom>
          <a:solidFill>
            <a:srgbClr val="EEF1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Scenario: an evening wash, start to handover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894576" y="1481328"/>
            <a:ext cx="4535424" cy="246888"/>
          </a:xfrm>
          <a:prstGeom prst="roundRect">
            <a:avLst>
              <a:gd name="adj" fmla="val 48148"/>
            </a:avLst>
          </a:prstGeom>
          <a:solidFill>
            <a:srgbClr val="D7F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8A70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Expectation (HMW): know when it's free, laundry collected, nobody chasing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10512" y="1906524"/>
            <a:ext cx="1872691" cy="475488"/>
          </a:xfrm>
          <a:prstGeom prst="roundRect">
            <a:avLst>
              <a:gd name="adj" fmla="val 19231"/>
            </a:avLst>
          </a:prstGeom>
          <a:solidFill>
            <a:srgbClr val="FFB2B2"/>
          </a:solidFill>
          <a:ln w="9525">
            <a:solidFill>
              <a:srgbClr val="FFB2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10512" y="1874520"/>
            <a:ext cx="1872691" cy="475488"/>
          </a:xfrm>
          <a:prstGeom prst="roundRect">
            <a:avLst>
              <a:gd name="adj" fmla="val 19231"/>
            </a:avLst>
          </a:prstGeom>
          <a:solidFill>
            <a:srgbClr val="FFF0F0"/>
          </a:solidFill>
          <a:ln w="12700">
            <a:solidFill>
              <a:srgbClr val="FFB2B2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endParaRPr lang="en-US" sz="950" dirty="0"/>
          </a:p>
        </p:txBody>
      </p:sp>
      <p:pic>
        <p:nvPicPr>
          <p:cNvPr id="11" name="Image 0" descr="Check if fr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1965960"/>
            <a:ext cx="292608" cy="29260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267712" y="1911096"/>
            <a:ext cx="136062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2B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 · Check if free</a:t>
            </a:r>
            <a:endParaRPr lang="en-US" sz="1050" dirty="0"/>
          </a:p>
          <a:p>
            <a:pPr indent="0" marL="0">
              <a:buNone/>
            </a:pPr>
            <a:r>
              <a:rPr lang="en-US" sz="800" b="1" dirty="0">
                <a:solidFill>
                  <a:srgbClr val="8A97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~5 min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747211" y="1906524"/>
            <a:ext cx="1872691" cy="475488"/>
          </a:xfrm>
          <a:prstGeom prst="roundRect">
            <a:avLst>
              <a:gd name="adj" fmla="val 19231"/>
            </a:avLst>
          </a:prstGeom>
          <a:solidFill>
            <a:srgbClr val="E5E5E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747211" y="1874520"/>
            <a:ext cx="1872691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endParaRPr lang="en-US" sz="950" dirty="0"/>
          </a:p>
        </p:txBody>
      </p:sp>
      <p:pic>
        <p:nvPicPr>
          <p:cNvPr id="15" name="Image 1" descr="Load and sta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651" y="1965960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204411" y="1911096"/>
            <a:ext cx="136062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3C3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 · Load and start</a:t>
            </a:r>
            <a:endParaRPr lang="en-US" sz="1050" dirty="0"/>
          </a:p>
          <a:p>
            <a:pPr indent="0" marL="0">
              <a:buNone/>
            </a:pPr>
            <a:r>
              <a:rPr lang="en-US" sz="800" b="1" dirty="0">
                <a:solidFill>
                  <a:srgbClr val="8A97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~5 min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683910" y="1906524"/>
            <a:ext cx="1872691" cy="475488"/>
          </a:xfrm>
          <a:prstGeom prst="roundRect">
            <a:avLst>
              <a:gd name="adj" fmla="val 19231"/>
            </a:avLst>
          </a:prstGeom>
          <a:solidFill>
            <a:srgbClr val="E5E5E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683910" y="1874520"/>
            <a:ext cx="1872691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endParaRPr lang="en-US" sz="950" dirty="0"/>
          </a:p>
        </p:txBody>
      </p:sp>
      <p:pic>
        <p:nvPicPr>
          <p:cNvPr id="19" name="Image 2" descr="Wai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350" y="196596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141110" y="1911096"/>
            <a:ext cx="136062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3C3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 · Wait</a:t>
            </a:r>
            <a:endParaRPr lang="en-US" sz="1050" dirty="0"/>
          </a:p>
          <a:p>
            <a:pPr indent="0" marL="0">
              <a:buNone/>
            </a:pPr>
            <a:r>
              <a:rPr lang="en-US" sz="800" b="1" dirty="0">
                <a:solidFill>
                  <a:srgbClr val="8A97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~1 h cycle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620610" y="1906524"/>
            <a:ext cx="1872691" cy="475488"/>
          </a:xfrm>
          <a:prstGeom prst="roundRect">
            <a:avLst>
              <a:gd name="adj" fmla="val 19231"/>
            </a:avLst>
          </a:prstGeom>
          <a:solidFill>
            <a:srgbClr val="E5E5E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620610" y="1874520"/>
            <a:ext cx="1872691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endParaRPr lang="en-US" sz="950" dirty="0"/>
          </a:p>
        </p:txBody>
      </p:sp>
      <p:pic>
        <p:nvPicPr>
          <p:cNvPr id="23" name="Image 3" descr="Cycle end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2050" y="196596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077810" y="1911096"/>
            <a:ext cx="136062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3C3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 · Cycle ends</a:t>
            </a:r>
            <a:endParaRPr lang="en-US" sz="1050" dirty="0"/>
          </a:p>
          <a:p>
            <a:pPr indent="0" marL="0">
              <a:buNone/>
            </a:pPr>
            <a:r>
              <a:rPr lang="en-US" sz="800" b="1" dirty="0">
                <a:solidFill>
                  <a:srgbClr val="8A97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0–30+ min unnoticed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9557309" y="1906524"/>
            <a:ext cx="1872691" cy="475488"/>
          </a:xfrm>
          <a:prstGeom prst="roundRect">
            <a:avLst>
              <a:gd name="adj" fmla="val 19231"/>
            </a:avLst>
          </a:prstGeom>
          <a:solidFill>
            <a:srgbClr val="FFB2B2"/>
          </a:solidFill>
          <a:ln w="9525">
            <a:solidFill>
              <a:srgbClr val="FFB2B2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9557309" y="1874520"/>
            <a:ext cx="1872691" cy="475488"/>
          </a:xfrm>
          <a:prstGeom prst="roundRect">
            <a:avLst>
              <a:gd name="adj" fmla="val 19231"/>
            </a:avLst>
          </a:prstGeom>
          <a:solidFill>
            <a:srgbClr val="FFF0F0"/>
          </a:solidFill>
          <a:ln w="12700">
            <a:solidFill>
              <a:srgbClr val="FFB2B2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endParaRPr lang="en-US" sz="950" dirty="0"/>
          </a:p>
        </p:txBody>
      </p:sp>
      <p:pic>
        <p:nvPicPr>
          <p:cNvPr id="27" name="Image 4" descr="Next person arriv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8749" y="1965960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0014509" y="1911096"/>
            <a:ext cx="136062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2B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 · Next person arrives</a:t>
            </a:r>
            <a:endParaRPr lang="en-US" sz="1050" dirty="0"/>
          </a:p>
          <a:p>
            <a:pPr indent="0" marL="0">
              <a:buNone/>
            </a:pPr>
            <a:r>
              <a:rPr lang="en-US" sz="800" b="1" dirty="0">
                <a:solidFill>
                  <a:srgbClr val="8A97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minutes to hours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758952" y="24231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7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DOING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1810512" y="2455164"/>
            <a:ext cx="1872691" cy="402336"/>
          </a:xfrm>
          <a:prstGeom prst="roundRect">
            <a:avLst>
              <a:gd name="adj" fmla="val 22727"/>
            </a:avLst>
          </a:prstGeom>
          <a:solidFill>
            <a:srgbClr val="E5E5E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1810512" y="2423160"/>
            <a:ext cx="1872691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B4B4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Walks over to look, or asks the group chat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3747211" y="2455164"/>
            <a:ext cx="1872691" cy="402336"/>
          </a:xfrm>
          <a:prstGeom prst="roundRect">
            <a:avLst>
              <a:gd name="adj" fmla="val 22727"/>
            </a:avLst>
          </a:prstGeom>
          <a:solidFill>
            <a:srgbClr val="E5E5E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3747211" y="2423160"/>
            <a:ext cx="1872691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B4B4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Loads clothes, presses start, leaves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5683910" y="2455164"/>
            <a:ext cx="1872691" cy="402336"/>
          </a:xfrm>
          <a:prstGeom prst="roundRect">
            <a:avLst>
              <a:gd name="adj" fmla="val 22727"/>
            </a:avLst>
          </a:prstGeom>
          <a:solidFill>
            <a:srgbClr val="E5E5E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5683910" y="2423160"/>
            <a:ext cx="1872691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B4B4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Back in room, guesses the end time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7620610" y="2455164"/>
            <a:ext cx="1872691" cy="402336"/>
          </a:xfrm>
          <a:prstGeom prst="roundRect">
            <a:avLst>
              <a:gd name="adj" fmla="val 22727"/>
            </a:avLst>
          </a:prstGeom>
          <a:solidFill>
            <a:srgbClr val="E5E5E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7620610" y="2423160"/>
            <a:ext cx="1872691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B4B4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Busy elsewhere, misses the end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9557309" y="2455164"/>
            <a:ext cx="1872691" cy="402336"/>
          </a:xfrm>
          <a:prstGeom prst="roundRect">
            <a:avLst>
              <a:gd name="adj" fmla="val 22727"/>
            </a:avLst>
          </a:prstGeom>
          <a:solidFill>
            <a:srgbClr val="E5E5E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9557309" y="2423160"/>
            <a:ext cx="1872691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B4B4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Finds clothes inside, asks around, waits or moves them</a:t>
            </a:r>
            <a:endParaRPr lang="en-US" sz="950" dirty="0"/>
          </a:p>
        </p:txBody>
      </p:sp>
      <p:sp>
        <p:nvSpPr>
          <p:cNvPr id="40" name="Text 33"/>
          <p:cNvSpPr txBox="1"/>
          <p:nvPr/>
        </p:nvSpPr>
        <p:spPr>
          <a:xfrm>
            <a:off x="758952" y="28986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7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CHANNEL</a:t>
            </a:r>
            <a:endParaRPr lang="en-US" sz="850" dirty="0"/>
          </a:p>
        </p:txBody>
      </p:sp>
      <p:sp>
        <p:nvSpPr>
          <p:cNvPr id="41" name="Shape 34"/>
          <p:cNvSpPr/>
          <p:nvPr/>
        </p:nvSpPr>
        <p:spPr>
          <a:xfrm>
            <a:off x="1810512" y="2930652"/>
            <a:ext cx="1872691" cy="365760"/>
          </a:xfrm>
          <a:prstGeom prst="roundRect">
            <a:avLst>
              <a:gd name="adj" fmla="val 25000"/>
            </a:avLst>
          </a:prstGeom>
          <a:solidFill>
            <a:srgbClr val="E5E5E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1810512" y="2898648"/>
            <a:ext cx="1872691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99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At the machine · house group chat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3747211" y="2930652"/>
            <a:ext cx="1872691" cy="365760"/>
          </a:xfrm>
          <a:prstGeom prst="roundRect">
            <a:avLst>
              <a:gd name="adj" fmla="val 25000"/>
            </a:avLst>
          </a:prstGeom>
          <a:solidFill>
            <a:srgbClr val="E5E5E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3747211" y="2898648"/>
            <a:ext cx="1872691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99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Washer panel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5683910" y="2930652"/>
            <a:ext cx="1872691" cy="365760"/>
          </a:xfrm>
          <a:prstGeom prst="roundRect">
            <a:avLst>
              <a:gd name="adj" fmla="val 25000"/>
            </a:avLst>
          </a:prstGeom>
          <a:solidFill>
            <a:srgbClr val="E5E5E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5683910" y="2898648"/>
            <a:ext cx="1872691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99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Washer countdown (on site only) · phone timer</a:t>
            </a:r>
            <a:endParaRPr lang="en-US" sz="950" dirty="0"/>
          </a:p>
        </p:txBody>
      </p:sp>
      <p:sp>
        <p:nvSpPr>
          <p:cNvPr id="47" name="Shape 40"/>
          <p:cNvSpPr/>
          <p:nvPr/>
        </p:nvSpPr>
        <p:spPr>
          <a:xfrm>
            <a:off x="7620610" y="2930652"/>
            <a:ext cx="1872691" cy="365760"/>
          </a:xfrm>
          <a:prstGeom prst="roundRect">
            <a:avLst>
              <a:gd name="adj" fmla="val 25000"/>
            </a:avLst>
          </a:prstGeom>
          <a:solidFill>
            <a:srgbClr val="E5E5E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7620610" y="2898648"/>
            <a:ext cx="1872691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99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None: nobody is told</a:t>
            </a:r>
            <a:endParaRPr lang="en-US" sz="950" dirty="0"/>
          </a:p>
        </p:txBody>
      </p:sp>
      <p:sp>
        <p:nvSpPr>
          <p:cNvPr id="49" name="Shape 42"/>
          <p:cNvSpPr/>
          <p:nvPr/>
        </p:nvSpPr>
        <p:spPr>
          <a:xfrm>
            <a:off x="9557309" y="2930652"/>
            <a:ext cx="1872691" cy="365760"/>
          </a:xfrm>
          <a:prstGeom prst="roundRect">
            <a:avLst>
              <a:gd name="adj" fmla="val 25000"/>
            </a:avLst>
          </a:prstGeom>
          <a:solidFill>
            <a:srgbClr val="E5E5E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9557309" y="2898648"/>
            <a:ext cx="1872691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99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At the machine · house group chat</a:t>
            </a:r>
            <a:endParaRPr lang="en-US" sz="950" dirty="0"/>
          </a:p>
        </p:txBody>
      </p:sp>
      <p:sp>
        <p:nvSpPr>
          <p:cNvPr id="51" name="Text 44"/>
          <p:cNvSpPr txBox="1"/>
          <p:nvPr/>
        </p:nvSpPr>
        <p:spPr>
          <a:xfrm>
            <a:off x="758952" y="33375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7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THINKING</a:t>
            </a:r>
            <a:endParaRPr lang="en-US" sz="850" dirty="0"/>
          </a:p>
        </p:txBody>
      </p:sp>
      <p:sp>
        <p:nvSpPr>
          <p:cNvPr id="52" name="Shape 45"/>
          <p:cNvSpPr/>
          <p:nvPr/>
        </p:nvSpPr>
        <p:spPr>
          <a:xfrm>
            <a:off x="1810512" y="3369564"/>
            <a:ext cx="1872691" cy="365760"/>
          </a:xfrm>
          <a:prstGeom prst="roundRect">
            <a:avLst>
              <a:gd name="adj" fmla="val 25000"/>
            </a:avLst>
          </a:prstGeom>
          <a:solidFill>
            <a:srgbClr val="E5E5E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1810512" y="3337560"/>
            <a:ext cx="1872691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7777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“Is it free, or another wasted trip?”</a:t>
            </a:r>
            <a:endParaRPr lang="en-US" sz="950" dirty="0"/>
          </a:p>
        </p:txBody>
      </p:sp>
      <p:sp>
        <p:nvSpPr>
          <p:cNvPr id="54" name="Shape 47"/>
          <p:cNvSpPr/>
          <p:nvPr/>
        </p:nvSpPr>
        <p:spPr>
          <a:xfrm>
            <a:off x="3747211" y="3369564"/>
            <a:ext cx="1872691" cy="365760"/>
          </a:xfrm>
          <a:prstGeom prst="roundRect">
            <a:avLst>
              <a:gd name="adj" fmla="val 25000"/>
            </a:avLst>
          </a:prstGeom>
          <a:solidFill>
            <a:srgbClr val="E5E5E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55" name="Text 48"/>
          <p:cNvSpPr txBox="1"/>
          <p:nvPr/>
        </p:nvSpPr>
        <p:spPr>
          <a:xfrm>
            <a:off x="3747211" y="3337560"/>
            <a:ext cx="1872691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7777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“Done, back to my room.”</a:t>
            </a:r>
            <a:endParaRPr lang="en-US" sz="950" dirty="0"/>
          </a:p>
        </p:txBody>
      </p:sp>
      <p:sp>
        <p:nvSpPr>
          <p:cNvPr id="56" name="Shape 49"/>
          <p:cNvSpPr/>
          <p:nvPr/>
        </p:nvSpPr>
        <p:spPr>
          <a:xfrm>
            <a:off x="5683910" y="3369564"/>
            <a:ext cx="1872691" cy="365760"/>
          </a:xfrm>
          <a:prstGeom prst="roundRect">
            <a:avLst>
              <a:gd name="adj" fmla="val 25000"/>
            </a:avLst>
          </a:prstGeom>
          <a:solidFill>
            <a:srgbClr val="E5E5E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57" name="Text 50"/>
          <p:cNvSpPr txBox="1"/>
          <p:nvPr/>
        </p:nvSpPr>
        <p:spPr>
          <a:xfrm>
            <a:off x="5683910" y="3337560"/>
            <a:ext cx="1872691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7777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“When will it finish?”</a:t>
            </a:r>
            <a:endParaRPr lang="en-US" sz="950" dirty="0"/>
          </a:p>
        </p:txBody>
      </p:sp>
      <p:sp>
        <p:nvSpPr>
          <p:cNvPr id="58" name="Shape 51"/>
          <p:cNvSpPr/>
          <p:nvPr/>
        </p:nvSpPr>
        <p:spPr>
          <a:xfrm>
            <a:off x="7620610" y="3369564"/>
            <a:ext cx="1872691" cy="365760"/>
          </a:xfrm>
          <a:prstGeom prst="roundRect">
            <a:avLst>
              <a:gd name="adj" fmla="val 25000"/>
            </a:avLst>
          </a:prstGeom>
          <a:solidFill>
            <a:srgbClr val="E5E5E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59" name="Text 52"/>
          <p:cNvSpPr txBox="1"/>
          <p:nvPr/>
        </p:nvSpPr>
        <p:spPr>
          <a:xfrm>
            <a:off x="7620610" y="3337560"/>
            <a:ext cx="1872691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7777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(not thinking about laundry)</a:t>
            </a:r>
            <a:endParaRPr lang="en-US" sz="950" dirty="0"/>
          </a:p>
        </p:txBody>
      </p:sp>
      <p:sp>
        <p:nvSpPr>
          <p:cNvPr id="60" name="Shape 53"/>
          <p:cNvSpPr/>
          <p:nvPr/>
        </p:nvSpPr>
        <p:spPr>
          <a:xfrm>
            <a:off x="9557309" y="3369564"/>
            <a:ext cx="1872691" cy="365760"/>
          </a:xfrm>
          <a:prstGeom prst="roundRect">
            <a:avLst>
              <a:gd name="adj" fmla="val 25000"/>
            </a:avLst>
          </a:prstGeom>
          <a:solidFill>
            <a:srgbClr val="E5E5E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61" name="Text 54"/>
          <p:cNvSpPr txBox="1"/>
          <p:nvPr/>
        </p:nvSpPr>
        <p:spPr>
          <a:xfrm>
            <a:off x="9557309" y="3337560"/>
            <a:ext cx="1872691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7777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“Whose clothes are these? Do I touch them?”</a:t>
            </a:r>
            <a:endParaRPr lang="en-US" sz="950" dirty="0"/>
          </a:p>
        </p:txBody>
      </p:sp>
      <p:sp>
        <p:nvSpPr>
          <p:cNvPr id="62" name="Text 55"/>
          <p:cNvSpPr txBox="1"/>
          <p:nvPr/>
        </p:nvSpPr>
        <p:spPr>
          <a:xfrm>
            <a:off x="758952" y="3776472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7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FEELING</a:t>
            </a:r>
            <a:endParaRPr lang="en-US" sz="850" dirty="0"/>
          </a:p>
        </p:txBody>
      </p:sp>
      <p:sp>
        <p:nvSpPr>
          <p:cNvPr id="63" name="Shape 56"/>
          <p:cNvSpPr/>
          <p:nvPr/>
        </p:nvSpPr>
        <p:spPr>
          <a:xfrm>
            <a:off x="1810512" y="3831336"/>
            <a:ext cx="9619488" cy="0"/>
          </a:xfrm>
          <a:prstGeom prst="line">
            <a:avLst/>
          </a:prstGeom>
          <a:noFill/>
          <a:ln w="9525">
            <a:solidFill>
              <a:srgbClr val="D5DEE8"/>
            </a:solidFill>
            <a:prstDash val="dash"/>
          </a:ln>
        </p:spPr>
      </p:sp>
      <p:sp>
        <p:nvSpPr>
          <p:cNvPr id="64" name="Shape 57"/>
          <p:cNvSpPr/>
          <p:nvPr/>
        </p:nvSpPr>
        <p:spPr>
          <a:xfrm>
            <a:off x="1810512" y="4325112"/>
            <a:ext cx="9619488" cy="0"/>
          </a:xfrm>
          <a:prstGeom prst="line">
            <a:avLst/>
          </a:prstGeom>
          <a:noFill/>
          <a:ln w="9525">
            <a:solidFill>
              <a:srgbClr val="D5DEE8"/>
            </a:solidFill>
            <a:prstDash val="dash"/>
          </a:ln>
        </p:spPr>
      </p:sp>
      <p:sp>
        <p:nvSpPr>
          <p:cNvPr id="65" name="Shape 58"/>
          <p:cNvSpPr/>
          <p:nvPr/>
        </p:nvSpPr>
        <p:spPr>
          <a:xfrm flipV="1">
            <a:off x="2746858" y="3905402"/>
            <a:ext cx="1936699" cy="271577"/>
          </a:xfrm>
          <a:prstGeom prst="line">
            <a:avLst/>
          </a:prstGeom>
          <a:noFill/>
          <a:ln w="38100">
            <a:solidFill>
              <a:srgbClr val="1CB0F6"/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 flipV="1">
            <a:off x="4683557" y="3856025"/>
            <a:ext cx="1936699" cy="49378"/>
          </a:xfrm>
          <a:prstGeom prst="line">
            <a:avLst/>
          </a:prstGeom>
          <a:noFill/>
          <a:ln w="38100">
            <a:solidFill>
              <a:srgbClr val="1CB0F6"/>
            </a:solidFill>
            <a:prstDash val="solid"/>
          </a:ln>
        </p:spPr>
      </p:sp>
      <p:sp>
        <p:nvSpPr>
          <p:cNvPr id="67" name="Shape 60"/>
          <p:cNvSpPr/>
          <p:nvPr/>
        </p:nvSpPr>
        <p:spPr>
          <a:xfrm>
            <a:off x="6620256" y="3856025"/>
            <a:ext cx="1936699" cy="246888"/>
          </a:xfrm>
          <a:prstGeom prst="line">
            <a:avLst/>
          </a:prstGeom>
          <a:noFill/>
          <a:ln w="38100">
            <a:solidFill>
              <a:srgbClr val="1CB0F6"/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8556955" y="4102913"/>
            <a:ext cx="1936699" cy="197510"/>
          </a:xfrm>
          <a:prstGeom prst="line">
            <a:avLst/>
          </a:prstGeom>
          <a:noFill/>
          <a:ln w="38100">
            <a:solidFill>
              <a:srgbClr val="1CB0F6"/>
            </a:solidFill>
            <a:prstDash val="solid"/>
          </a:ln>
        </p:spPr>
      </p:sp>
      <p:pic>
        <p:nvPicPr>
          <p:cNvPr id="69" name="Image 5" descr="mood 1f620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2266" y="4012387"/>
            <a:ext cx="329184" cy="329184"/>
          </a:xfrm>
          <a:prstGeom prst="rect">
            <a:avLst/>
          </a:prstGeom>
        </p:spPr>
      </p:pic>
      <p:pic>
        <p:nvPicPr>
          <p:cNvPr id="70" name="Image 6" descr="mood 1f642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8965" y="3740810"/>
            <a:ext cx="329184" cy="329184"/>
          </a:xfrm>
          <a:prstGeom prst="rect">
            <a:avLst/>
          </a:prstGeom>
        </p:spPr>
      </p:pic>
      <p:pic>
        <p:nvPicPr>
          <p:cNvPr id="71" name="Image 7" descr="mood 1f914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664" y="3691433"/>
            <a:ext cx="329184" cy="329184"/>
          </a:xfrm>
          <a:prstGeom prst="rect">
            <a:avLst/>
          </a:prstGeom>
        </p:spPr>
      </p:pic>
      <p:pic>
        <p:nvPicPr>
          <p:cNvPr id="72" name="Image 8" descr="mood 1f634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2363" y="3938321"/>
            <a:ext cx="329184" cy="329184"/>
          </a:xfrm>
          <a:prstGeom prst="rect">
            <a:avLst/>
          </a:prstGeom>
        </p:spPr>
      </p:pic>
      <p:pic>
        <p:nvPicPr>
          <p:cNvPr id="73" name="Image 9" descr="mood 1f62c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29062" y="4135831"/>
            <a:ext cx="329184" cy="329184"/>
          </a:xfrm>
          <a:prstGeom prst="rect">
            <a:avLst/>
          </a:prstGeom>
        </p:spPr>
      </p:pic>
      <p:sp>
        <p:nvSpPr>
          <p:cNvPr id="74" name="Text 62"/>
          <p:cNvSpPr txBox="1"/>
          <p:nvPr/>
        </p:nvSpPr>
        <p:spPr>
          <a:xfrm>
            <a:off x="758952" y="4434840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7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PAIN POINTS</a:t>
            </a:r>
            <a:endParaRPr lang="en-US" sz="850" dirty="0"/>
          </a:p>
        </p:txBody>
      </p:sp>
      <p:sp>
        <p:nvSpPr>
          <p:cNvPr id="75" name="Shape 63"/>
          <p:cNvSpPr/>
          <p:nvPr/>
        </p:nvSpPr>
        <p:spPr>
          <a:xfrm>
            <a:off x="1810512" y="4466844"/>
            <a:ext cx="1872691" cy="676656"/>
          </a:xfrm>
          <a:prstGeom prst="roundRect">
            <a:avLst>
              <a:gd name="adj" fmla="val 13514"/>
            </a:avLst>
          </a:prstGeom>
          <a:solidFill>
            <a:srgbClr val="E5E5E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76" name="Text 64"/>
          <p:cNvSpPr txBox="1"/>
          <p:nvPr/>
        </p:nvSpPr>
        <p:spPr>
          <a:xfrm>
            <a:off x="1810512" y="4434840"/>
            <a:ext cx="1872691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 wrap="square" lIns="63500" tIns="88900" rIns="88900" bIns="3810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Wasted trip when it's busy</a:t>
            </a:r>
            <a:endParaRPr lang="en-US" sz="950" dirty="0"/>
          </a:p>
          <a:p>
            <a:pPr indent="0" marL="0">
              <a:buNone/>
            </a:pPr>
            <a:r>
              <a:rPr lang="en-US" sz="800" b="1" dirty="0">
                <a:solidFill>
                  <a:srgbClr val="8A97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15 of 15 found it busy · 3.3 / 5</a:t>
            </a:r>
            <a:endParaRPr lang="en-US" sz="950" dirty="0"/>
          </a:p>
          <a:p>
            <a:pPr indent="0" marL="0">
              <a:buNone/>
            </a:pPr>
            <a:r>
              <a:rPr lang="en-US" sz="800" b="1" dirty="0">
                <a:solidFill>
                  <a:srgbClr val="FF4B4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Insight 1</a:t>
            </a:r>
            <a:endParaRPr lang="en-US" sz="950" dirty="0"/>
          </a:p>
        </p:txBody>
      </p:sp>
      <p:sp>
        <p:nvSpPr>
          <p:cNvPr id="77" name="Shape 65"/>
          <p:cNvSpPr/>
          <p:nvPr/>
        </p:nvSpPr>
        <p:spPr>
          <a:xfrm>
            <a:off x="3747211" y="4466844"/>
            <a:ext cx="1872691" cy="676656"/>
          </a:xfrm>
          <a:prstGeom prst="roundRect">
            <a:avLst>
              <a:gd name="adj" fmla="val 13514"/>
            </a:avLst>
          </a:prstGeom>
          <a:solidFill>
            <a:srgbClr val="E5E5E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78" name="Text 66"/>
          <p:cNvSpPr txBox="1"/>
          <p:nvPr/>
        </p:nvSpPr>
        <p:spPr>
          <a:xfrm>
            <a:off x="3747211" y="4434840"/>
            <a:ext cx="1872691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 wrap="square" lIns="63500" tIns="88900" rIns="88900" bIns="3810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Nothing shows whose load</a:t>
            </a:r>
            <a:endParaRPr lang="en-US" sz="950" dirty="0"/>
          </a:p>
          <a:p>
            <a:pPr indent="0" marL="0">
              <a:buNone/>
            </a:pPr>
            <a:r>
              <a:rPr lang="en-US" sz="800" b="1" dirty="0">
                <a:solidFill>
                  <a:srgbClr val="8A97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“Don't know whose load” 2.9 / 5</a:t>
            </a:r>
            <a:endParaRPr lang="en-US" sz="950" dirty="0"/>
          </a:p>
        </p:txBody>
      </p:sp>
      <p:sp>
        <p:nvSpPr>
          <p:cNvPr id="79" name="Shape 67"/>
          <p:cNvSpPr/>
          <p:nvPr/>
        </p:nvSpPr>
        <p:spPr>
          <a:xfrm>
            <a:off x="5683910" y="4466844"/>
            <a:ext cx="1872691" cy="676656"/>
          </a:xfrm>
          <a:prstGeom prst="roundRect">
            <a:avLst>
              <a:gd name="adj" fmla="val 13514"/>
            </a:avLst>
          </a:prstGeom>
          <a:solidFill>
            <a:srgbClr val="E5E5E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80" name="Text 68"/>
          <p:cNvSpPr txBox="1"/>
          <p:nvPr/>
        </p:nvSpPr>
        <p:spPr>
          <a:xfrm>
            <a:off x="5683910" y="4434840"/>
            <a:ext cx="1872691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 wrap="square" lIns="63500" tIns="88900" rIns="88900" bIns="3810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signal, only guessing</a:t>
            </a:r>
            <a:endParaRPr lang="en-US" sz="950" dirty="0"/>
          </a:p>
          <a:p>
            <a:pPr indent="0" marL="0">
              <a:buNone/>
            </a:pPr>
            <a:r>
              <a:rPr lang="en-US" sz="800" b="1" dirty="0">
                <a:solidFill>
                  <a:srgbClr val="8A97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 of 15 set a phone timer</a:t>
            </a:r>
            <a:endParaRPr lang="en-US" sz="950" dirty="0"/>
          </a:p>
        </p:txBody>
      </p:sp>
      <p:sp>
        <p:nvSpPr>
          <p:cNvPr id="81" name="Shape 69"/>
          <p:cNvSpPr/>
          <p:nvPr/>
        </p:nvSpPr>
        <p:spPr>
          <a:xfrm>
            <a:off x="7620610" y="4466844"/>
            <a:ext cx="1872691" cy="676656"/>
          </a:xfrm>
          <a:prstGeom prst="roundRect">
            <a:avLst>
              <a:gd name="adj" fmla="val 13514"/>
            </a:avLst>
          </a:prstGeom>
          <a:solidFill>
            <a:srgbClr val="E5E5E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82" name="Text 70"/>
          <p:cNvSpPr txBox="1"/>
          <p:nvPr/>
        </p:nvSpPr>
        <p:spPr>
          <a:xfrm>
            <a:off x="7620610" y="4434840"/>
            <a:ext cx="1872691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 wrap="square" lIns="63500" tIns="88900" rIns="88900" bIns="3810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Owner is never told it's done</a:t>
            </a:r>
            <a:endParaRPr lang="en-US" sz="950" dirty="0"/>
          </a:p>
          <a:p>
            <a:pPr indent="0" marL="0">
              <a:buNone/>
            </a:pPr>
            <a:r>
              <a:rPr lang="en-US" sz="800" b="1" dirty="0">
                <a:solidFill>
                  <a:srgbClr val="8A97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13 of 15 left their own 30+ min</a:t>
            </a:r>
            <a:endParaRPr lang="en-US" sz="950" dirty="0"/>
          </a:p>
          <a:p>
            <a:pPr indent="0" marL="0">
              <a:buNone/>
            </a:pPr>
            <a:r>
              <a:rPr lang="en-US" sz="800" b="1" dirty="0">
                <a:solidFill>
                  <a:srgbClr val="FF4B4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Insight 2</a:t>
            </a:r>
            <a:endParaRPr lang="en-US" sz="950" dirty="0"/>
          </a:p>
        </p:txBody>
      </p:sp>
      <p:sp>
        <p:nvSpPr>
          <p:cNvPr id="83" name="Shape 71"/>
          <p:cNvSpPr/>
          <p:nvPr/>
        </p:nvSpPr>
        <p:spPr>
          <a:xfrm>
            <a:off x="9557309" y="4466844"/>
            <a:ext cx="1872691" cy="676656"/>
          </a:xfrm>
          <a:prstGeom prst="roundRect">
            <a:avLst>
              <a:gd name="adj" fmla="val 13514"/>
            </a:avLst>
          </a:prstGeom>
          <a:solidFill>
            <a:srgbClr val="E5E5E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84" name="Text 72"/>
          <p:cNvSpPr txBox="1"/>
          <p:nvPr/>
        </p:nvSpPr>
        <p:spPr>
          <a:xfrm>
            <a:off x="9557309" y="4434840"/>
            <a:ext cx="1872691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 wrap="square" lIns="63500" tIns="88900" rIns="88900" bIns="3810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Free machine, still blocked</a:t>
            </a:r>
            <a:endParaRPr lang="en-US" sz="950" dirty="0"/>
          </a:p>
          <a:p>
            <a:pPr indent="0" marL="0">
              <a:buNone/>
            </a:pPr>
            <a:r>
              <a:rPr lang="en-US" sz="800" b="1" dirty="0">
                <a:solidFill>
                  <a:srgbClr val="8A97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15 of 15 found others' laundry · 8 of 15 ask a chat</a:t>
            </a:r>
            <a:endParaRPr lang="en-US" sz="950" dirty="0"/>
          </a:p>
          <a:p>
            <a:pPr indent="0" marL="0">
              <a:buNone/>
            </a:pPr>
            <a:r>
              <a:rPr lang="en-US" sz="800" b="1" dirty="0">
                <a:solidFill>
                  <a:srgbClr val="FF4B4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Insight 2</a:t>
            </a:r>
            <a:endParaRPr lang="en-US" sz="950" dirty="0"/>
          </a:p>
        </p:txBody>
      </p:sp>
      <p:sp>
        <p:nvSpPr>
          <p:cNvPr id="85" name="Text 73"/>
          <p:cNvSpPr txBox="1"/>
          <p:nvPr/>
        </p:nvSpPr>
        <p:spPr>
          <a:xfrm>
            <a:off x="758952" y="51846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7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WORKS WELL</a:t>
            </a:r>
            <a:endParaRPr lang="en-US" sz="850" dirty="0"/>
          </a:p>
        </p:txBody>
      </p:sp>
      <p:sp>
        <p:nvSpPr>
          <p:cNvPr id="86" name="Shape 74"/>
          <p:cNvSpPr/>
          <p:nvPr/>
        </p:nvSpPr>
        <p:spPr>
          <a:xfrm>
            <a:off x="1810512" y="5216652"/>
            <a:ext cx="1872691" cy="329184"/>
          </a:xfrm>
          <a:prstGeom prst="roundRect">
            <a:avLst>
              <a:gd name="adj" fmla="val 27778"/>
            </a:avLst>
          </a:prstGeom>
          <a:solidFill>
            <a:srgbClr val="A9E3FF"/>
          </a:solidFill>
          <a:ln w="9525">
            <a:solidFill>
              <a:srgbClr val="A9E3FF"/>
            </a:solidFill>
            <a:prstDash val="solid"/>
          </a:ln>
        </p:spPr>
      </p:sp>
      <p:sp>
        <p:nvSpPr>
          <p:cNvPr id="87" name="Text 75"/>
          <p:cNvSpPr txBox="1"/>
          <p:nvPr/>
        </p:nvSpPr>
        <p:spPr>
          <a:xfrm>
            <a:off x="1810512" y="5184648"/>
            <a:ext cx="1872691" cy="329184"/>
          </a:xfrm>
          <a:prstGeom prst="roundRect">
            <a:avLst>
              <a:gd name="adj" fmla="val 27778"/>
            </a:avLst>
          </a:prstGeom>
          <a:solidFill>
            <a:srgbClr val="DDF4FF"/>
          </a:solidFill>
          <a:ln w="12700">
            <a:solidFill>
              <a:srgbClr val="A9E3FF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99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If free, start at once</a:t>
            </a:r>
            <a:endParaRPr lang="en-US" sz="950" dirty="0"/>
          </a:p>
        </p:txBody>
      </p:sp>
      <p:sp>
        <p:nvSpPr>
          <p:cNvPr id="88" name="Shape 76"/>
          <p:cNvSpPr/>
          <p:nvPr/>
        </p:nvSpPr>
        <p:spPr>
          <a:xfrm>
            <a:off x="3747211" y="5216652"/>
            <a:ext cx="1872691" cy="329184"/>
          </a:xfrm>
          <a:prstGeom prst="roundRect">
            <a:avLst>
              <a:gd name="adj" fmla="val 27778"/>
            </a:avLst>
          </a:prstGeom>
          <a:solidFill>
            <a:srgbClr val="A9E3FF"/>
          </a:solidFill>
          <a:ln w="9525">
            <a:solidFill>
              <a:srgbClr val="A9E3FF"/>
            </a:solidFill>
            <a:prstDash val="solid"/>
          </a:ln>
        </p:spPr>
      </p:sp>
      <p:sp>
        <p:nvSpPr>
          <p:cNvPr id="89" name="Text 77"/>
          <p:cNvSpPr txBox="1"/>
          <p:nvPr/>
        </p:nvSpPr>
        <p:spPr>
          <a:xfrm>
            <a:off x="3747211" y="5184648"/>
            <a:ext cx="1872691" cy="329184"/>
          </a:xfrm>
          <a:prstGeom prst="roundRect">
            <a:avLst>
              <a:gd name="adj" fmla="val 27778"/>
            </a:avLst>
          </a:prstGeom>
          <a:solidFill>
            <a:srgbClr val="DDF4FF"/>
          </a:solidFill>
          <a:ln w="12700">
            <a:solidFill>
              <a:srgbClr val="A9E3FF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99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Quick, one press</a:t>
            </a:r>
            <a:endParaRPr lang="en-US" sz="950" dirty="0"/>
          </a:p>
        </p:txBody>
      </p:sp>
      <p:sp>
        <p:nvSpPr>
          <p:cNvPr id="90" name="Shape 78"/>
          <p:cNvSpPr/>
          <p:nvPr/>
        </p:nvSpPr>
        <p:spPr>
          <a:xfrm>
            <a:off x="5683910" y="5216652"/>
            <a:ext cx="1872691" cy="329184"/>
          </a:xfrm>
          <a:prstGeom prst="roundRect">
            <a:avLst>
              <a:gd name="adj" fmla="val 27778"/>
            </a:avLst>
          </a:prstGeom>
          <a:solidFill>
            <a:srgbClr val="A9E3FF"/>
          </a:solidFill>
          <a:ln w="9525">
            <a:solidFill>
              <a:srgbClr val="A9E3FF"/>
            </a:solidFill>
            <a:prstDash val="solid"/>
          </a:ln>
        </p:spPr>
      </p:sp>
      <p:sp>
        <p:nvSpPr>
          <p:cNvPr id="91" name="Text 79"/>
          <p:cNvSpPr txBox="1"/>
          <p:nvPr/>
        </p:nvSpPr>
        <p:spPr>
          <a:xfrm>
            <a:off x="5683910" y="5184648"/>
            <a:ext cx="1872691" cy="329184"/>
          </a:xfrm>
          <a:prstGeom prst="roundRect">
            <a:avLst>
              <a:gd name="adj" fmla="val 27778"/>
            </a:avLst>
          </a:prstGeom>
          <a:solidFill>
            <a:srgbClr val="DDF4FF"/>
          </a:solidFill>
          <a:ln w="12700">
            <a:solidFill>
              <a:srgbClr val="A9E3FF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99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Free time while it runs</a:t>
            </a:r>
            <a:endParaRPr lang="en-US" sz="950" dirty="0"/>
          </a:p>
        </p:txBody>
      </p:sp>
      <p:sp>
        <p:nvSpPr>
          <p:cNvPr id="92" name="Shape 80"/>
          <p:cNvSpPr/>
          <p:nvPr/>
        </p:nvSpPr>
        <p:spPr>
          <a:xfrm>
            <a:off x="7620610" y="5216652"/>
            <a:ext cx="1872691" cy="329184"/>
          </a:xfrm>
          <a:prstGeom prst="roundRect">
            <a:avLst>
              <a:gd name="adj" fmla="val 27778"/>
            </a:avLst>
          </a:prstGeom>
          <a:solidFill>
            <a:srgbClr val="A9E3FF"/>
          </a:solidFill>
          <a:ln w="9525">
            <a:solidFill>
              <a:srgbClr val="A9E3FF"/>
            </a:solidFill>
            <a:prstDash val="solid"/>
          </a:ln>
        </p:spPr>
      </p:sp>
      <p:sp>
        <p:nvSpPr>
          <p:cNvPr id="93" name="Text 81"/>
          <p:cNvSpPr txBox="1"/>
          <p:nvPr/>
        </p:nvSpPr>
        <p:spPr>
          <a:xfrm>
            <a:off x="7620610" y="5184648"/>
            <a:ext cx="1872691" cy="329184"/>
          </a:xfrm>
          <a:prstGeom prst="roundRect">
            <a:avLst>
              <a:gd name="adj" fmla="val 27778"/>
            </a:avLst>
          </a:prstGeom>
          <a:solidFill>
            <a:srgbClr val="DDF4FF"/>
          </a:solidFill>
          <a:ln w="12700">
            <a:solidFill>
              <a:srgbClr val="A9E3FF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99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</a:t>
            </a:r>
            <a:endParaRPr lang="en-US" sz="950" dirty="0"/>
          </a:p>
        </p:txBody>
      </p:sp>
      <p:sp>
        <p:nvSpPr>
          <p:cNvPr id="94" name="Shape 82"/>
          <p:cNvSpPr/>
          <p:nvPr/>
        </p:nvSpPr>
        <p:spPr>
          <a:xfrm>
            <a:off x="9557309" y="5216652"/>
            <a:ext cx="1872691" cy="329184"/>
          </a:xfrm>
          <a:prstGeom prst="roundRect">
            <a:avLst>
              <a:gd name="adj" fmla="val 27778"/>
            </a:avLst>
          </a:prstGeom>
          <a:solidFill>
            <a:srgbClr val="A9E3FF"/>
          </a:solidFill>
          <a:ln w="9525">
            <a:solidFill>
              <a:srgbClr val="A9E3FF"/>
            </a:solidFill>
            <a:prstDash val="solid"/>
          </a:ln>
        </p:spPr>
      </p:sp>
      <p:sp>
        <p:nvSpPr>
          <p:cNvPr id="95" name="Text 83"/>
          <p:cNvSpPr txBox="1"/>
          <p:nvPr/>
        </p:nvSpPr>
        <p:spPr>
          <a:xfrm>
            <a:off x="9557309" y="5184648"/>
            <a:ext cx="1872691" cy="329184"/>
          </a:xfrm>
          <a:prstGeom prst="roundRect">
            <a:avLst>
              <a:gd name="adj" fmla="val 27778"/>
            </a:avLst>
          </a:prstGeom>
          <a:solidFill>
            <a:srgbClr val="DDF4FF"/>
          </a:solidFill>
          <a:ln w="12700">
            <a:solidFill>
              <a:srgbClr val="A9E3FF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99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group chat already exists</a:t>
            </a:r>
            <a:endParaRPr lang="en-US" sz="950" dirty="0"/>
          </a:p>
        </p:txBody>
      </p:sp>
      <p:sp>
        <p:nvSpPr>
          <p:cNvPr id="96" name="Text 84"/>
          <p:cNvSpPr txBox="1"/>
          <p:nvPr/>
        </p:nvSpPr>
        <p:spPr>
          <a:xfrm>
            <a:off x="758952" y="55869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7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OPPORTUNITY</a:t>
            </a:r>
            <a:endParaRPr lang="en-US" sz="850" dirty="0"/>
          </a:p>
        </p:txBody>
      </p:sp>
      <p:sp>
        <p:nvSpPr>
          <p:cNvPr id="97" name="Shape 85"/>
          <p:cNvSpPr/>
          <p:nvPr/>
        </p:nvSpPr>
        <p:spPr>
          <a:xfrm>
            <a:off x="1810512" y="5618988"/>
            <a:ext cx="1872691" cy="384048"/>
          </a:xfrm>
          <a:prstGeom prst="roundRect">
            <a:avLst>
              <a:gd name="adj" fmla="val 23810"/>
            </a:avLst>
          </a:prstGeom>
          <a:solidFill>
            <a:srgbClr val="A5ED6E"/>
          </a:solidFill>
          <a:ln w="9525">
            <a:solidFill>
              <a:srgbClr val="A5ED6E"/>
            </a:solidFill>
            <a:prstDash val="solid"/>
          </a:ln>
        </p:spPr>
      </p:sp>
      <p:sp>
        <p:nvSpPr>
          <p:cNvPr id="98" name="Text 86"/>
          <p:cNvSpPr txBox="1"/>
          <p:nvPr/>
        </p:nvSpPr>
        <p:spPr>
          <a:xfrm>
            <a:off x="1810512" y="5586984"/>
            <a:ext cx="1872691" cy="384048"/>
          </a:xfrm>
          <a:prstGeom prst="roundRect">
            <a:avLst>
              <a:gd name="adj" fmla="val 23810"/>
            </a:avLst>
          </a:prstGeom>
          <a:solidFill>
            <a:srgbClr val="D7FFB8"/>
          </a:solidFill>
          <a:ln w="12700">
            <a:solidFill>
              <a:srgbClr val="A5ED6E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70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See if it's free without walking over</a:t>
            </a:r>
            <a:endParaRPr lang="en-US" sz="950" dirty="0"/>
          </a:p>
        </p:txBody>
      </p:sp>
      <p:sp>
        <p:nvSpPr>
          <p:cNvPr id="99" name="Shape 87"/>
          <p:cNvSpPr/>
          <p:nvPr/>
        </p:nvSpPr>
        <p:spPr>
          <a:xfrm>
            <a:off x="3747211" y="5618988"/>
            <a:ext cx="1872691" cy="384048"/>
          </a:xfrm>
          <a:prstGeom prst="roundRect">
            <a:avLst>
              <a:gd name="adj" fmla="val 23810"/>
            </a:avLst>
          </a:prstGeom>
          <a:solidFill>
            <a:srgbClr val="A5ED6E"/>
          </a:solidFill>
          <a:ln w="9525">
            <a:solidFill>
              <a:srgbClr val="A5ED6E"/>
            </a:solidFill>
            <a:prstDash val="solid"/>
          </a:ln>
        </p:spPr>
      </p:sp>
      <p:sp>
        <p:nvSpPr>
          <p:cNvPr id="100" name="Text 88"/>
          <p:cNvSpPr txBox="1"/>
          <p:nvPr/>
        </p:nvSpPr>
        <p:spPr>
          <a:xfrm>
            <a:off x="3747211" y="5586984"/>
            <a:ext cx="1872691" cy="384048"/>
          </a:xfrm>
          <a:prstGeom prst="roundRect">
            <a:avLst>
              <a:gd name="adj" fmla="val 23810"/>
            </a:avLst>
          </a:prstGeom>
          <a:solidFill>
            <a:srgbClr val="D7FFB8"/>
          </a:solidFill>
          <a:ln w="12700">
            <a:solidFill>
              <a:srgbClr val="A5ED6E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70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Show who is using the machine</a:t>
            </a:r>
            <a:endParaRPr lang="en-US" sz="950" dirty="0"/>
          </a:p>
        </p:txBody>
      </p:sp>
      <p:sp>
        <p:nvSpPr>
          <p:cNvPr id="101" name="Shape 89"/>
          <p:cNvSpPr/>
          <p:nvPr/>
        </p:nvSpPr>
        <p:spPr>
          <a:xfrm>
            <a:off x="5683910" y="5618988"/>
            <a:ext cx="1872691" cy="384048"/>
          </a:xfrm>
          <a:prstGeom prst="roundRect">
            <a:avLst>
              <a:gd name="adj" fmla="val 23810"/>
            </a:avLst>
          </a:prstGeom>
          <a:solidFill>
            <a:srgbClr val="A5ED6E"/>
          </a:solidFill>
          <a:ln w="9525">
            <a:solidFill>
              <a:srgbClr val="A5ED6E"/>
            </a:solidFill>
            <a:prstDash val="solid"/>
          </a:ln>
        </p:spPr>
      </p:sp>
      <p:sp>
        <p:nvSpPr>
          <p:cNvPr id="102" name="Text 90"/>
          <p:cNvSpPr txBox="1"/>
          <p:nvPr/>
        </p:nvSpPr>
        <p:spPr>
          <a:xfrm>
            <a:off x="5683910" y="5586984"/>
            <a:ext cx="1872691" cy="384048"/>
          </a:xfrm>
          <a:prstGeom prst="roundRect">
            <a:avLst>
              <a:gd name="adj" fmla="val 23810"/>
            </a:avLst>
          </a:prstGeom>
          <a:solidFill>
            <a:srgbClr val="D7FFB8"/>
          </a:solidFill>
          <a:ln w="12700">
            <a:solidFill>
              <a:srgbClr val="A5ED6E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70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Know when it will finish</a:t>
            </a:r>
            <a:endParaRPr lang="en-US" sz="950" dirty="0"/>
          </a:p>
        </p:txBody>
      </p:sp>
      <p:sp>
        <p:nvSpPr>
          <p:cNvPr id="103" name="Shape 91"/>
          <p:cNvSpPr/>
          <p:nvPr/>
        </p:nvSpPr>
        <p:spPr>
          <a:xfrm>
            <a:off x="7620610" y="5618988"/>
            <a:ext cx="1872691" cy="384048"/>
          </a:xfrm>
          <a:prstGeom prst="roundRect">
            <a:avLst>
              <a:gd name="adj" fmla="val 23810"/>
            </a:avLst>
          </a:prstGeom>
          <a:solidFill>
            <a:srgbClr val="A5ED6E"/>
          </a:solidFill>
          <a:ln w="9525">
            <a:solidFill>
              <a:srgbClr val="A5ED6E"/>
            </a:solidFill>
            <a:prstDash val="solid"/>
          </a:ln>
        </p:spPr>
      </p:sp>
      <p:sp>
        <p:nvSpPr>
          <p:cNvPr id="104" name="Text 92"/>
          <p:cNvSpPr txBox="1"/>
          <p:nvPr/>
        </p:nvSpPr>
        <p:spPr>
          <a:xfrm>
            <a:off x="7620610" y="5586984"/>
            <a:ext cx="1872691" cy="384048"/>
          </a:xfrm>
          <a:prstGeom prst="roundRect">
            <a:avLst>
              <a:gd name="adj" fmla="val 23810"/>
            </a:avLst>
          </a:prstGeom>
          <a:solidFill>
            <a:srgbClr val="D7FFB8"/>
          </a:solidFill>
          <a:ln w="12700">
            <a:solidFill>
              <a:srgbClr val="A5ED6E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70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Tell the owner the moment it ends</a:t>
            </a:r>
            <a:endParaRPr lang="en-US" sz="950" dirty="0"/>
          </a:p>
        </p:txBody>
      </p:sp>
      <p:sp>
        <p:nvSpPr>
          <p:cNvPr id="105" name="Shape 93"/>
          <p:cNvSpPr/>
          <p:nvPr/>
        </p:nvSpPr>
        <p:spPr>
          <a:xfrm>
            <a:off x="9557309" y="5618988"/>
            <a:ext cx="1872691" cy="384048"/>
          </a:xfrm>
          <a:prstGeom prst="roundRect">
            <a:avLst>
              <a:gd name="adj" fmla="val 23810"/>
            </a:avLst>
          </a:prstGeom>
          <a:solidFill>
            <a:srgbClr val="A5ED6E"/>
          </a:solidFill>
          <a:ln w="9525">
            <a:solidFill>
              <a:srgbClr val="A5ED6E"/>
            </a:solidFill>
            <a:prstDash val="solid"/>
          </a:ln>
        </p:spPr>
      </p:sp>
      <p:sp>
        <p:nvSpPr>
          <p:cNvPr id="106" name="Text 94"/>
          <p:cNvSpPr txBox="1"/>
          <p:nvPr/>
        </p:nvSpPr>
        <p:spPr>
          <a:xfrm>
            <a:off x="9557309" y="5586984"/>
            <a:ext cx="1872691" cy="384048"/>
          </a:xfrm>
          <a:prstGeom prst="roundRect">
            <a:avLst>
              <a:gd name="adj" fmla="val 23810"/>
            </a:avLst>
          </a:prstGeom>
          <a:solidFill>
            <a:srgbClr val="D7FFB8"/>
          </a:solidFill>
          <a:ln w="12700">
            <a:solidFill>
              <a:srgbClr val="A5ED6E"/>
            </a:solidFill>
          </a:ln>
        </p:spPr>
        <p:txBody>
          <a:bodyPr wrap="square" lIns="38100" tIns="88900" rIns="889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70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Remind the owner, so nobody chases</a:t>
            </a:r>
            <a:endParaRPr lang="en-US" sz="950" dirty="0"/>
          </a:p>
        </p:txBody>
      </p:sp>
      <p:sp>
        <p:nvSpPr>
          <p:cNvPr id="107" name="Text 95"/>
          <p:cNvSpPr txBox="1"/>
          <p:nvPr/>
        </p:nvSpPr>
        <p:spPr>
          <a:xfrm>
            <a:off x="758952" y="640080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7A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Survey, n = 15 · Thinking is paraphrased from survey patterns, not quotes · times approximate · red = moment of truth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Shared laundry user journey map</dc:title>
  <dc:subject>PptxGenJS Presentation</dc:subject>
  <dc:creator>PptxGenJS</dc:creator>
  <cp:lastModifiedBy>PptxGenJS</cp:lastModifiedBy>
  <cp:revision>1</cp:revision>
  <dcterms:created xsi:type="dcterms:W3CDTF">2026-10-05T04:52:09Z</dcterms:created>
  <dcterms:modified xsi:type="dcterms:W3CDTF">2026-10-05T04:52:09Z</dcterms:modified>
</cp:coreProperties>
</file>